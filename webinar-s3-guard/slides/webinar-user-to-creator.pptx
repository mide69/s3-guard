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Title slide. One-sentence promise: by the end of these 90 minutes you will have watched a real open-source cloud tool be built from nothing and run live — and you'll know exactly how to do the same. Today you stop being only a user of the cloud and start becoming a creator. Introduce yourself (Olamide) and hand to Delightsome for housekeeping/logistics.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Delightsome introduces both speakers and frames credibility — this is grounded in real production experience, not theory. Keep it brief, the audience wants to get to the build. Mention the LinkedIn handles will be on the closing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map of the journey. Don't dwell — 30 seconds. The centerpiece is parts 4 (build) and 5 (launch). Tell them: keep your laptop closed for the first half, then if you want, you can follow along during the build because we use a free local sandbox — no AWS account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This is the heart of the talk's premise. Slow down here. Everything technical later only matters if this mindset lands. Ask the room: 'How many of you would call yourself an engineer?' — most hands go up. 'Keep your hand up if you've ever built a tool that someone else uses.' Watch the hands drop. That gap is what we're here to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anchor slide. Both roles are valuable and respected — a technician keeps the world running. But they are different mindsets. The technician consumes and maintains; the engineer questions and builds. The cloud gave everyone technician-level power (spin up anything in minutes). The opportunity — and the scarcity — is in building. Personal story: tell a 60-second story of the first time you stopped following a runbook and instead automated the thing the runbook described. That's the moment you crossed over. Key line: 'A certificate proves you can use the cloud. A tool you built proves you can engineer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it concrete and non-intimidating. 'Creator' does not mean founder of the next Kubernetes. It means you noticed a gap and shipped something — even 100 lines — that someone else can install. The right-hand column is the entire goal of today. By the end you'll have crossed every one of these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four-step loop is the repeatable framework promised in the concept note. Emphasize 'scope it small' — the #1 reason first projects die is scope. The whole second half of this talk is one full lap of this loop. Tell them to keep a note open and jot down the small annoyances they hit this week — those are their project ideas.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statement' from the concept note, made visceral. The gap is NOT skill or drive — it's direction and visibility. Most talented engineers' best work is buried in private repos, earning zero professional equity. We're going to fix that today by building in public.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to the open-source landscape. Lighter, faster section. Goal: demystify OSS and show where cloud engineers 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Drive home: open source isn't a side-hobby, it IS the cloud. The tools you use to do your job are open source. Note LocalStack and moto specifically — we'll use moto in the live demo, so we'll be using an open-source cloud tool WHILE building one. Very on-theme.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map directly to the concept note's benefits list. Keep it punchy. The killer line: 'A portfolio that works while you sleep' — your public repo is being read by recruiters and engineers when you're not even in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rubric we'll hold our own tool to. Call out the README line hard — most engineers under-invest in the README and over-invest in features. A great README with a screenshot beats a clever feature nobody can figure out how to run. Keep these four criteria in their heads for the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into the concrete problem we will solve. Energy should pick up here — we're about to get hands-on.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one real personal example per quadrant if time allows. The goal: every attendee leaves able to generate 3 project ideas from their own week. Then narrow to ours: misconfigured S3 buckets — the classic 'scary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Anchor the problem in stakes people feel. You don't need exact breach statistics — the point is qualitative and well known: leaky S3 buckets are a perennial headline. Then reframe positively: the fixes are simple settings; the real problem is consistency. That's exactly what a tool solves. Introduce the four checks — they map 1:1 to the severities we'll see in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destination before the journey. This is what we're about to build live. Note the stack is deliberately beginner-friendly and standard. Reassure: every piece is something they can learn. Then move to the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centerpiece — ~40 minutes. Switch to the editor + terminal now. Slides from here are a safety net / visual backup in case of demo hiccups. Re-state: no AWS account or Docker needed — we use moto, a local fake S3.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trick that makes a live cloud demo safe and reproducible. The same --endpoint-url flag points at LocalStack (4566) if they have it, or REAL AWS if you omit it. This is also the design lesson: building against an endpoint-url makes your tool testable. Run these three commands live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the design principle: separation of concerns. checks don't know about display; cli doesn't know about S3 internals. This is a senior-engineer habit worth modeling explicitly for the audience. Open the files in order as you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Demystify the 'magic'. Each check is just an API call plus an if-statement. If they can read this, they can write one. This is where you vibecode the remaining checks live with an AI assistant, explaining WHY at each step. Keep narrating the intent, not just the syntax.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we seed a deliberately broken environment: a security tool is only convincing if you can SEE it catch real problems. The 'gold standard' bucket matters too — a tool that only ever screams is useless; it must also say 'this one is fine.' Run seed_buckets.py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 moment — let it land. Pause. This is exactly the output we just generated in testing, so it will match the live run. Point out: critical floats to the top (smart sorting), the clean bucket produced nothing, and the exit code is 1 — which is what lets it gate CI. This is a real, useful tool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high-value teaching moments. Extending live proves the architecture pays off. Breaking it deliberately is the most reassuring thing you can do for beginners — they watch an experienced engineer hit an error and stay calm. Model the debugging loop: read the error, find the line, form a hypothesis, fix, re-run.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leap from 'neat script' to 'thing teams depend on'. The exit code is the integration point — that's a small design decision with big leverage. Mention our repo already ships a GitHub Actions workflow that runs the tests on every push.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content section. Shift from building to launching and sustaining. This is what converts a weekend project into career equity.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repo already has all six. Walk the actual files: LICENSE, README.md, pyproject.toml, .github/workflows/ci.yml. The 'pip install' moment is magic for beginners — point out the [project.scripts] entry that turns the package into a real command. Encourage them to do step 6 today, tagging both speakers.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hard on this — it's the most under-rated skill. Engineers love features and neglect docs; the market rewards the opposite. Show the actual s3-guard README with the output block near the top. The README is doing sales, onboarding, and portfolio work simultaneously.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do-it-this-week advice. The story matters more than the code for reach — people share narratives, not READMEs. 'good first issue' labels are how you attract your first collaborators. And crucially: this is now a concrete, link-able achievement on their CV — exactly the visibility the whole webinar is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'personal roadmap for sustained involvement' from the objectives. Make it feel achievable — these are small steps. The week-4 step (contributing to someone else's project) closes the loop: creators are also better users and community members. Offer to be tagged on their week-3 announcements.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them with the homework challenge from the original plan. Keep Q&amp;A tight (5 min). If quiet, seed it: 'Most common question we get is — how do I pick my first project? Answer: the smallest thing that annoyed you this week.' Then move to resources/thanks.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warm. Reiterate the one-line takeaway: you don't need permission to become a creator — just a small problem and a public repo. Thank the partner communities (Cloud Native Lagos, KCD Nigeria, AWS communities, university groups). Invite them to tag both speakers when they 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F3C"/>
        </a:solidFill>
      </p:bgPr>
    </p:bg>
    <p:spTree>
      <p:nvGrpSpPr>
        <p:cNvPr id="1" name=""/>
        <p:cNvGrpSpPr/>
        <p:nvPr/>
      </p:nvGrpSpPr>
      <p:grpSpPr>
        <a:xfrm>
          <a:off x="0" y="0"/>
          <a:ext cx="0" cy="0"/>
          <a:chOff x="0" y="0"/>
          <a:chExt cx="0" cy="0"/>
        </a:xfrm>
      </p:grpSpPr>
      <p:sp>
        <p:nvSpPr>
          <p:cNvPr id="2" name="Shape 0"/>
          <p:cNvSpPr/>
          <p:nvPr/>
        </p:nvSpPr>
        <p:spPr>
          <a:xfrm>
            <a:off x="8869680" y="-1554480"/>
            <a:ext cx="5029200" cy="5029200"/>
          </a:xfrm>
          <a:prstGeom prst="ellipse">
            <a:avLst/>
          </a:prstGeom>
          <a:solidFill>
            <a:srgbClr val="12284B"/>
          </a:solidFill>
          <a:ln/>
        </p:spPr>
      </p:sp>
      <p:sp>
        <p:nvSpPr>
          <p:cNvPr id="3" name="Shape 1"/>
          <p:cNvSpPr/>
          <p:nvPr/>
        </p:nvSpPr>
        <p:spPr>
          <a:xfrm>
            <a:off x="10058400" y="-640080"/>
            <a:ext cx="2926080" cy="2926080"/>
          </a:xfrm>
          <a:prstGeom prst="ellipse">
            <a:avLst/>
          </a:prstGeom>
          <a:solidFill>
            <a:srgbClr val="13315C"/>
          </a:solidFill>
          <a:ln/>
        </p:spPr>
      </p:sp>
      <p:sp>
        <p:nvSpPr>
          <p:cNvPr id="4" name="Shape 2"/>
          <p:cNvSpPr/>
          <p:nvPr/>
        </p:nvSpPr>
        <p:spPr>
          <a:xfrm>
            <a:off x="777240" y="731520"/>
            <a:ext cx="777240" cy="777240"/>
          </a:xfrm>
          <a:prstGeom prst="ellipse">
            <a:avLst/>
          </a:prstGeom>
          <a:solidFill>
            <a:srgbClr val="14B8A6"/>
          </a:solidFill>
          <a:ln/>
        </p:spPr>
      </p:sp>
      <p:sp>
        <p:nvSpPr>
          <p:cNvPr id="5" name="Text 3"/>
          <p:cNvSpPr/>
          <p:nvPr/>
        </p:nvSpPr>
        <p:spPr>
          <a:xfrm>
            <a:off x="777240" y="731520"/>
            <a:ext cx="777240" cy="777240"/>
          </a:xfrm>
          <a:prstGeom prst="rect">
            <a:avLst/>
          </a:prstGeom>
          <a:noFill/>
          <a:ln/>
        </p:spPr>
        <p:txBody>
          <a:bodyPr wrap="square" lIns="0" tIns="0" rIns="0" bIns="0" rtlCol="0" anchor="ctr"/>
          <a:lstStyle/>
          <a:p>
            <a:pPr algn="ctr" indent="0" marL="0">
              <a:buNone/>
            </a:pPr>
            <a:r>
              <a:rPr lang="en-US" sz="2000" b="1" dirty="0">
                <a:solidFill>
                  <a:srgbClr val="0A1F3C"/>
                </a:solidFill>
                <a:latin typeface="Calibri" pitchFamily="34" charset="0"/>
                <a:ea typeface="Calibri" pitchFamily="34" charset="-122"/>
                <a:cs typeface="Calibri" pitchFamily="34" charset="-120"/>
              </a:rPr>
              <a:t>&lt;/&gt;</a:t>
            </a:r>
            <a:endParaRPr lang="en-US" sz="2000" dirty="0"/>
          </a:p>
        </p:txBody>
      </p:sp>
      <p:sp>
        <p:nvSpPr>
          <p:cNvPr id="6" name="Text 4"/>
          <p:cNvSpPr/>
          <p:nvPr/>
        </p:nvSpPr>
        <p:spPr>
          <a:xfrm>
            <a:off x="1737360" y="868680"/>
            <a:ext cx="8229600" cy="365760"/>
          </a:xfrm>
          <a:prstGeom prst="rect">
            <a:avLst/>
          </a:prstGeom>
          <a:noFill/>
          <a:ln/>
        </p:spPr>
        <p:txBody>
          <a:bodyPr wrap="square" lIns="0" tIns="0" rIns="0" bIns="0" rtlCol="0" anchor="ctr"/>
          <a:lstStyle/>
          <a:p>
            <a:pPr indent="0" marL="0">
              <a:buNone/>
            </a:pPr>
            <a:r>
              <a:rPr lang="en-US" sz="1300" b="1" spc="200" kern="0" dirty="0">
                <a:solidFill>
                  <a:srgbClr val="14B8A6"/>
                </a:solidFill>
                <a:latin typeface="Calibri" pitchFamily="34" charset="0"/>
                <a:ea typeface="Calibri" pitchFamily="34" charset="-122"/>
                <a:cs typeface="Calibri" pitchFamily="34" charset="-120"/>
              </a:rPr>
              <a:t>CLOUD ENGINEERING WEBINAR  •  90 MINUTES</a:t>
            </a:r>
            <a:endParaRPr lang="en-US" sz="1300" dirty="0"/>
          </a:p>
        </p:txBody>
      </p:sp>
      <p:sp>
        <p:nvSpPr>
          <p:cNvPr id="7" name="Text 5"/>
          <p:cNvSpPr/>
          <p:nvPr/>
        </p:nvSpPr>
        <p:spPr>
          <a:xfrm>
            <a:off x="777240" y="2057400"/>
            <a:ext cx="10607040" cy="1097280"/>
          </a:xfrm>
          <a:prstGeom prst="rect">
            <a:avLst/>
          </a:prstGeom>
          <a:noFill/>
          <a:ln/>
        </p:spPr>
        <p:txBody>
          <a:bodyPr wrap="square" lIns="0" tIns="0" rIns="0" bIns="0"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From User to Creator</a:t>
            </a:r>
            <a:endParaRPr lang="en-US" sz="5400" dirty="0"/>
          </a:p>
        </p:txBody>
      </p:sp>
      <p:sp>
        <p:nvSpPr>
          <p:cNvPr id="8" name="Text 6"/>
          <p:cNvSpPr/>
          <p:nvPr/>
        </p:nvSpPr>
        <p:spPr>
          <a:xfrm>
            <a:off x="777240" y="3200400"/>
            <a:ext cx="10058400" cy="822960"/>
          </a:xfrm>
          <a:prstGeom prst="rect">
            <a:avLst/>
          </a:prstGeom>
          <a:noFill/>
          <a:ln/>
        </p:spPr>
        <p:txBody>
          <a:bodyPr wrap="square" lIns="0" tIns="0" rIns="0" bIns="0" rtlCol="0" anchor="ctr"/>
          <a:lstStyle/>
          <a:p>
            <a:pPr indent="0" marL="0">
              <a:buNone/>
            </a:pPr>
            <a:r>
              <a:rPr lang="en-US" sz="2300" dirty="0">
                <a:solidFill>
                  <a:srgbClr val="CADCFC"/>
                </a:solidFill>
                <a:latin typeface="Calibri" pitchFamily="34" charset="0"/>
                <a:ea typeface="Calibri" pitchFamily="34" charset="-122"/>
                <a:cs typeface="Calibri" pitchFamily="34" charset="-120"/>
              </a:rPr>
              <a:t>Launching open-source tools that matter in the cloud ecosystem</a:t>
            </a:r>
            <a:endParaRPr lang="en-US" sz="2300" dirty="0"/>
          </a:p>
        </p:txBody>
      </p:sp>
      <p:sp>
        <p:nvSpPr>
          <p:cNvPr id="9" name="Shape 7"/>
          <p:cNvSpPr/>
          <p:nvPr/>
        </p:nvSpPr>
        <p:spPr>
          <a:xfrm>
            <a:off x="822960" y="4343400"/>
            <a:ext cx="2926080" cy="0"/>
          </a:xfrm>
          <a:prstGeom prst="line">
            <a:avLst/>
          </a:prstGeom>
          <a:noFill/>
          <a:ln w="25400">
            <a:solidFill>
              <a:srgbClr val="14B8A6"/>
            </a:solidFill>
            <a:prstDash val="solid"/>
          </a:ln>
        </p:spPr>
      </p:sp>
      <p:sp>
        <p:nvSpPr>
          <p:cNvPr id="10" name="Text 8"/>
          <p:cNvSpPr/>
          <p:nvPr/>
        </p:nvSpPr>
        <p:spPr>
          <a:xfrm>
            <a:off x="822960" y="4617720"/>
            <a:ext cx="6766560" cy="822960"/>
          </a:xfrm>
          <a:prstGeom prst="rect">
            <a:avLst/>
          </a:prstGeom>
          <a:noFill/>
          <a:ln/>
        </p:spPr>
        <p:txBody>
          <a:bodyPr wrap="square" lIns="0" tIns="0" rIns="0" bIns="0" rtlCol="0" anchor="ctr"/>
          <a:lstStyle/>
          <a:p>
            <a:pPr indent="0" marL="0">
              <a:lnSpc>
                <a:spcPct val="110000"/>
              </a:lnSpc>
              <a:buNone/>
            </a:pPr>
            <a:r>
              <a:rPr lang="en-US" sz="1700" b="1" dirty="0">
                <a:solidFill>
                  <a:srgbClr val="FFFFFF"/>
                </a:solidFill>
                <a:latin typeface="Calibri" pitchFamily="34" charset="0"/>
                <a:ea typeface="Calibri" pitchFamily="34" charset="-122"/>
                <a:cs typeface="Calibri" pitchFamily="34" charset="-120"/>
              </a:rPr>
              <a:t>Olamide Kosile</a:t>
            </a:r>
            <a:endParaRPr lang="en-US" sz="1700" dirty="0"/>
          </a:p>
          <a:p>
            <a:pPr indent="0" marL="0">
              <a:lnSpc>
                <a:spcPct val="110000"/>
              </a:lnSpc>
              <a:buNone/>
            </a:pPr>
            <a:r>
              <a:rPr lang="en-US" sz="1200" dirty="0">
                <a:solidFill>
                  <a:srgbClr val="CADCFC"/>
                </a:solidFill>
                <a:latin typeface="Calibri" pitchFamily="34" charset="0"/>
                <a:ea typeface="Calibri" pitchFamily="34" charset="-122"/>
                <a:cs typeface="Calibri" pitchFamily="34" charset="-120"/>
              </a:rPr>
              <a:t>Senior Multi-Cloud &amp; DevOps Engineer  •  AWS Community Builder  •  5x AWS Certified</a:t>
            </a:r>
            <a:endParaRPr lang="en-US" sz="1700" dirty="0"/>
          </a:p>
        </p:txBody>
      </p:sp>
      <p:sp>
        <p:nvSpPr>
          <p:cNvPr id="11" name="Text 9"/>
          <p:cNvSpPr/>
          <p:nvPr/>
        </p:nvSpPr>
        <p:spPr>
          <a:xfrm>
            <a:off x="822960" y="5532120"/>
            <a:ext cx="6766560" cy="822960"/>
          </a:xfrm>
          <a:prstGeom prst="rect">
            <a:avLst/>
          </a:prstGeom>
          <a:noFill/>
          <a:ln/>
        </p:spPr>
        <p:txBody>
          <a:bodyPr wrap="square" lIns="0" tIns="0" rIns="0" bIns="0" rtlCol="0" anchor="ctr"/>
          <a:lstStyle/>
          <a:p>
            <a:pPr indent="0" marL="0">
              <a:lnSpc>
                <a:spcPct val="110000"/>
              </a:lnSpc>
              <a:buNone/>
            </a:pPr>
            <a:r>
              <a:rPr lang="en-US" sz="1700" b="1" dirty="0">
                <a:solidFill>
                  <a:srgbClr val="FFFFFF"/>
                </a:solidFill>
                <a:latin typeface="Calibri" pitchFamily="34" charset="0"/>
                <a:ea typeface="Calibri" pitchFamily="34" charset="-122"/>
                <a:cs typeface="Calibri" pitchFamily="34" charset="-120"/>
              </a:rPr>
              <a:t>Delightsome Asolo</a:t>
            </a:r>
            <a:endParaRPr lang="en-US" sz="1700" dirty="0"/>
          </a:p>
          <a:p>
            <a:pPr indent="0" marL="0">
              <a:lnSpc>
                <a:spcPct val="110000"/>
              </a:lnSpc>
              <a:buNone/>
            </a:pPr>
            <a:r>
              <a:rPr lang="en-US" sz="1200" dirty="0">
                <a:solidFill>
                  <a:srgbClr val="CADCFC"/>
                </a:solidFill>
                <a:latin typeface="Calibri" pitchFamily="34" charset="0"/>
                <a:ea typeface="Calibri" pitchFamily="34" charset="-122"/>
                <a:cs typeface="Calibri" pitchFamily="34" charset="-120"/>
              </a:rPr>
              <a:t>Cloud Engineer  •  AWS Student Community Leader  •  Host &amp; Moderator</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320040"/>
          </a:xfrm>
          <a:prstGeom prst="rect">
            <a:avLst/>
          </a:prstGeom>
          <a:noFill/>
          <a:ln/>
        </p:spPr>
        <p:txBody>
          <a:bodyPr wrap="square" lIns="0" tIns="0" rIns="0" bIns="0" rtlCol="0" anchor="ctr"/>
          <a:lstStyle/>
          <a:p>
            <a:pPr indent="0" marL="0">
              <a:buNone/>
            </a:pPr>
            <a:r>
              <a:rPr lang="en-US" sz="1300" b="1" spc="200" kern="0" dirty="0">
                <a:solidFill>
                  <a:srgbClr val="0D9488"/>
                </a:solidFill>
                <a:latin typeface="Calibri" pitchFamily="34" charset="0"/>
                <a:ea typeface="Calibri" pitchFamily="34" charset="-122"/>
                <a:cs typeface="Calibri" pitchFamily="34" charset="-120"/>
              </a:rPr>
              <a:t>YOUR HOSTS TODAY</a:t>
            </a:r>
            <a:endParaRPr lang="en-US" sz="1300" dirty="0"/>
          </a:p>
        </p:txBody>
      </p:sp>
      <p:sp>
        <p:nvSpPr>
          <p:cNvPr id="3" name="Text 1"/>
          <p:cNvSpPr/>
          <p:nvPr/>
        </p:nvSpPr>
        <p:spPr>
          <a:xfrm>
            <a:off x="548640" y="713232"/>
            <a:ext cx="11064240" cy="868680"/>
          </a:xfrm>
          <a:prstGeom prst="rect">
            <a:avLst/>
          </a:prstGeom>
          <a:noFill/>
          <a:ln/>
        </p:spPr>
        <p:txBody>
          <a:bodyPr wrap="square" lIns="0" tIns="0" rIns="0" bIns="0" rtlCol="0" anchor="ctr"/>
          <a:lstStyle/>
          <a:p>
            <a:pPr indent="0" marL="0">
              <a:buNone/>
            </a:pPr>
            <a:r>
              <a:rPr lang="en-US" sz="3100" b="1" dirty="0">
                <a:solidFill>
                  <a:srgbClr val="16233A"/>
                </a:solidFill>
                <a:latin typeface="Calibri" pitchFamily="34" charset="0"/>
                <a:ea typeface="Calibri" pitchFamily="34" charset="-122"/>
                <a:cs typeface="Calibri" pitchFamily="34" charset="-120"/>
              </a:rPr>
              <a:t>Who's walking you through this</a:t>
            </a:r>
            <a:endParaRPr lang="en-US" sz="3100" dirty="0"/>
          </a:p>
        </p:txBody>
      </p:sp>
      <p:sp>
        <p:nvSpPr>
          <p:cNvPr id="4" name="Shape 2"/>
          <p:cNvSpPr/>
          <p:nvPr/>
        </p:nvSpPr>
        <p:spPr>
          <a:xfrm>
            <a:off x="548640" y="1828800"/>
            <a:ext cx="5257800" cy="4206240"/>
          </a:xfrm>
          <a:prstGeom prst="roundRect">
            <a:avLst>
              <a:gd name="adj" fmla="val 1957"/>
            </a:avLst>
          </a:prstGeom>
          <a:solidFill>
            <a:srgbClr val="F1F5F9"/>
          </a:solidFill>
          <a:ln/>
          <a:effectLst>
            <a:outerShdw sx="100000" sy="100000" kx="0" ky="0" algn="bl" rotWithShape="0" blurRad="114300" dist="38100" dir="5400000">
              <a:srgbClr val="0A1F3C">
                <a:alpha val="16000"/>
              </a:srgbClr>
            </a:outerShdw>
          </a:effectLst>
        </p:spPr>
      </p:sp>
      <p:sp>
        <p:nvSpPr>
          <p:cNvPr id="5" name="Shape 3"/>
          <p:cNvSpPr/>
          <p:nvPr/>
        </p:nvSpPr>
        <p:spPr>
          <a:xfrm>
            <a:off x="914400" y="2194560"/>
            <a:ext cx="914400" cy="914400"/>
          </a:xfrm>
          <a:prstGeom prst="ellipse">
            <a:avLst/>
          </a:prstGeom>
          <a:solidFill>
            <a:srgbClr val="0D9488"/>
          </a:solidFill>
          <a:ln/>
        </p:spPr>
      </p:sp>
      <p:sp>
        <p:nvSpPr>
          <p:cNvPr id="6" name="Text 4"/>
          <p:cNvSpPr/>
          <p:nvPr/>
        </p:nvSpPr>
        <p:spPr>
          <a:xfrm>
            <a:off x="914400" y="2194560"/>
            <a:ext cx="914400"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OK</a:t>
            </a:r>
            <a:endParaRPr lang="en-US" sz="2400" dirty="0"/>
          </a:p>
        </p:txBody>
      </p:sp>
      <p:sp>
        <p:nvSpPr>
          <p:cNvPr id="7" name="Text 5"/>
          <p:cNvSpPr/>
          <p:nvPr/>
        </p:nvSpPr>
        <p:spPr>
          <a:xfrm>
            <a:off x="2011680" y="2240280"/>
            <a:ext cx="3017520" cy="457200"/>
          </a:xfrm>
          <a:prstGeom prst="rect">
            <a:avLst/>
          </a:prstGeom>
          <a:noFill/>
          <a:ln/>
        </p:spPr>
        <p:txBody>
          <a:bodyPr wrap="square" lIns="0" tIns="0" rIns="0" bIns="0" rtlCol="0" anchor="ctr"/>
          <a:lstStyle/>
          <a:p>
            <a:pPr indent="0" marL="0">
              <a:buNone/>
            </a:pPr>
            <a:r>
              <a:rPr lang="en-US" sz="2200" b="1" dirty="0">
                <a:solidFill>
                  <a:srgbClr val="16233A"/>
                </a:solidFill>
                <a:latin typeface="Calibri" pitchFamily="34" charset="0"/>
                <a:ea typeface="Calibri" pitchFamily="34" charset="-122"/>
                <a:cs typeface="Calibri" pitchFamily="34" charset="-120"/>
              </a:rPr>
              <a:t>Olamide Kosile</a:t>
            </a:r>
            <a:endParaRPr lang="en-US" sz="2200" dirty="0"/>
          </a:p>
        </p:txBody>
      </p:sp>
      <p:sp>
        <p:nvSpPr>
          <p:cNvPr id="8" name="Text 6"/>
          <p:cNvSpPr/>
          <p:nvPr/>
        </p:nvSpPr>
        <p:spPr>
          <a:xfrm>
            <a:off x="2011680" y="2697480"/>
            <a:ext cx="3017520" cy="365760"/>
          </a:xfrm>
          <a:prstGeom prst="rect">
            <a:avLst/>
          </a:prstGeom>
          <a:noFill/>
          <a:ln/>
        </p:spPr>
        <p:txBody>
          <a:bodyPr wrap="square" lIns="0" tIns="0" rIns="0" bIns="0" rtlCol="0" anchor="ctr"/>
          <a:lstStyle/>
          <a:p>
            <a:pPr indent="0" marL="0">
              <a:buNone/>
            </a:pPr>
            <a:r>
              <a:rPr lang="en-US" sz="1200" b="1" dirty="0">
                <a:solidFill>
                  <a:srgbClr val="0D9488"/>
                </a:solidFill>
                <a:latin typeface="Calibri" pitchFamily="34" charset="0"/>
                <a:ea typeface="Calibri" pitchFamily="34" charset="-122"/>
                <a:cs typeface="Calibri" pitchFamily="34" charset="-120"/>
              </a:rPr>
              <a:t>Lead Speaker  •  Technical Session Lead</a:t>
            </a:r>
            <a:endParaRPr lang="en-US" sz="1200" dirty="0"/>
          </a:p>
        </p:txBody>
      </p:sp>
      <p:sp>
        <p:nvSpPr>
          <p:cNvPr id="9" name="Text 7"/>
          <p:cNvSpPr/>
          <p:nvPr/>
        </p:nvSpPr>
        <p:spPr>
          <a:xfrm>
            <a:off x="960120" y="3383280"/>
            <a:ext cx="4526280" cy="2377440"/>
          </a:xfrm>
          <a:prstGeom prst="rect">
            <a:avLst/>
          </a:prstGeom>
          <a:noFill/>
          <a:ln/>
        </p:spPr>
        <p:txBody>
          <a:bodyPr wrap="square" lIns="0" tIns="0" rIns="0" bIns="0" rtlCol="0" anchor="ctr"/>
          <a:lstStyle/>
          <a:p>
            <a:pPr marL="342900" indent="-342900">
              <a:spcAft>
                <a:spcPts val="800"/>
              </a:spcAft>
              <a:buSzPct val="100000"/>
              <a:buChar char="•"/>
            </a:pPr>
            <a:r>
              <a:rPr lang="en-US" sz="1400" dirty="0">
                <a:solidFill>
                  <a:srgbClr val="334155"/>
                </a:solidFill>
                <a:latin typeface="Calibri" pitchFamily="34" charset="0"/>
                <a:ea typeface="Calibri" pitchFamily="34" charset="-122"/>
                <a:cs typeface="Calibri" pitchFamily="34" charset="-120"/>
              </a:rPr>
              <a:t>Senior Multi-Cloud &amp; DevOps Engineer</a:t>
            </a:r>
            <a:endParaRPr lang="en-US" sz="1400" dirty="0"/>
          </a:p>
          <a:p>
            <a:pPr marL="342900" indent="-342900">
              <a:spcAft>
                <a:spcPts val="800"/>
              </a:spcAft>
              <a:buSzPct val="100000"/>
              <a:buChar char="•"/>
            </a:pPr>
            <a:r>
              <a:rPr lang="en-US" sz="1400" dirty="0">
                <a:solidFill>
                  <a:srgbClr val="334155"/>
                </a:solidFill>
                <a:latin typeface="Calibri" pitchFamily="34" charset="0"/>
                <a:ea typeface="Calibri" pitchFamily="34" charset="-122"/>
                <a:cs typeface="Calibri" pitchFamily="34" charset="-120"/>
              </a:rPr>
              <a:t>AWS Community Builder</a:t>
            </a:r>
            <a:endParaRPr lang="en-US" sz="1400" dirty="0"/>
          </a:p>
          <a:p>
            <a:pPr marL="342900" indent="-342900">
              <a:spcAft>
                <a:spcPts val="800"/>
              </a:spcAft>
              <a:buSzPct val="100000"/>
              <a:buChar char="•"/>
            </a:pPr>
            <a:r>
              <a:rPr lang="en-US" sz="1400" dirty="0">
                <a:solidFill>
                  <a:srgbClr val="334155"/>
                </a:solidFill>
                <a:latin typeface="Calibri" pitchFamily="34" charset="0"/>
                <a:ea typeface="Calibri" pitchFamily="34" charset="-122"/>
                <a:cs typeface="Calibri" pitchFamily="34" charset="-120"/>
              </a:rPr>
              <a:t>5x AWS Certified practitioner</a:t>
            </a:r>
            <a:endParaRPr lang="en-US" sz="1400" dirty="0"/>
          </a:p>
          <a:p>
            <a:pPr marL="342900" indent="-342900">
              <a:spcAft>
                <a:spcPts val="800"/>
              </a:spcAft>
              <a:buSzPct val="100000"/>
              <a:buChar char="•"/>
            </a:pPr>
            <a:r>
              <a:rPr lang="en-US" sz="1400" dirty="0">
                <a:solidFill>
                  <a:srgbClr val="334155"/>
                </a:solidFill>
                <a:latin typeface="Calibri" pitchFamily="34" charset="0"/>
                <a:ea typeface="Calibri" pitchFamily="34" charset="-122"/>
                <a:cs typeface="Calibri" pitchFamily="34" charset="-120"/>
              </a:rPr>
              <a:t>Founder focused on developing cloud engineers and scalable cloud systems</a:t>
            </a:r>
            <a:endParaRPr lang="en-US" sz="1400" dirty="0"/>
          </a:p>
        </p:txBody>
      </p:sp>
      <p:sp>
        <p:nvSpPr>
          <p:cNvPr id="10" name="Shape 8"/>
          <p:cNvSpPr/>
          <p:nvPr/>
        </p:nvSpPr>
        <p:spPr>
          <a:xfrm>
            <a:off x="6400800" y="1828800"/>
            <a:ext cx="5257800" cy="4206240"/>
          </a:xfrm>
          <a:prstGeom prst="roundRect">
            <a:avLst>
              <a:gd name="adj" fmla="val 1957"/>
            </a:avLst>
          </a:prstGeom>
          <a:solidFill>
            <a:srgbClr val="ECFDF5"/>
          </a:solidFill>
          <a:ln/>
          <a:effectLst>
            <a:outerShdw sx="100000" sy="100000" kx="0" ky="0" algn="bl" rotWithShape="0" blurRad="114300" dist="38100" dir="5400000">
              <a:srgbClr val="0A1F3C">
                <a:alpha val="16000"/>
              </a:srgbClr>
            </a:outerShdw>
          </a:effectLst>
        </p:spPr>
      </p:sp>
      <p:sp>
        <p:nvSpPr>
          <p:cNvPr id="11" name="Shape 9"/>
          <p:cNvSpPr/>
          <p:nvPr/>
        </p:nvSpPr>
        <p:spPr>
          <a:xfrm>
            <a:off x="6766560" y="2194560"/>
            <a:ext cx="914400" cy="914400"/>
          </a:xfrm>
          <a:prstGeom prst="ellipse">
            <a:avLst/>
          </a:prstGeom>
          <a:solidFill>
            <a:srgbClr val="14B8A6"/>
          </a:solidFill>
          <a:ln/>
        </p:spPr>
      </p:sp>
      <p:sp>
        <p:nvSpPr>
          <p:cNvPr id="12" name="Text 10"/>
          <p:cNvSpPr/>
          <p:nvPr/>
        </p:nvSpPr>
        <p:spPr>
          <a:xfrm>
            <a:off x="6766560" y="2194560"/>
            <a:ext cx="914400" cy="914400"/>
          </a:xfrm>
          <a:prstGeom prst="rect">
            <a:avLst/>
          </a:prstGeom>
          <a:noFill/>
          <a:ln/>
        </p:spPr>
        <p:txBody>
          <a:bodyPr wrap="square" lIns="0" tIns="0" rIns="0" bIns="0" rtlCol="0" anchor="ctr"/>
          <a:lstStyle/>
          <a:p>
            <a:pPr algn="ctr" indent="0" marL="0">
              <a:buNone/>
            </a:pPr>
            <a:r>
              <a:rPr lang="en-US" sz="2400" b="1" dirty="0">
                <a:solidFill>
                  <a:srgbClr val="0A1F3C"/>
                </a:solidFill>
                <a:latin typeface="Calibri" pitchFamily="34" charset="0"/>
                <a:ea typeface="Calibri" pitchFamily="34" charset="-122"/>
                <a:cs typeface="Calibri" pitchFamily="34" charset="-120"/>
              </a:rPr>
              <a:t>DA</a:t>
            </a:r>
            <a:endParaRPr lang="en-US" sz="2400" dirty="0"/>
          </a:p>
        </p:txBody>
      </p:sp>
      <p:sp>
        <p:nvSpPr>
          <p:cNvPr id="13" name="Text 11"/>
          <p:cNvSpPr/>
          <p:nvPr/>
        </p:nvSpPr>
        <p:spPr>
          <a:xfrm>
            <a:off x="7863840" y="2240280"/>
            <a:ext cx="3291840" cy="457200"/>
          </a:xfrm>
          <a:prstGeom prst="rect">
            <a:avLst/>
          </a:prstGeom>
          <a:noFill/>
          <a:ln/>
        </p:spPr>
        <p:txBody>
          <a:bodyPr wrap="square" lIns="0" tIns="0" rIns="0" bIns="0" rtlCol="0" anchor="ctr"/>
          <a:lstStyle/>
          <a:p>
            <a:pPr indent="0" marL="0">
              <a:buNone/>
            </a:pPr>
            <a:r>
              <a:rPr lang="en-US" sz="2200" b="1" dirty="0">
                <a:solidFill>
                  <a:srgbClr val="16233A"/>
                </a:solidFill>
                <a:latin typeface="Calibri" pitchFamily="34" charset="0"/>
                <a:ea typeface="Calibri" pitchFamily="34" charset="-122"/>
                <a:cs typeface="Calibri" pitchFamily="34" charset="-120"/>
              </a:rPr>
              <a:t>Delightsome Asolo</a:t>
            </a:r>
            <a:endParaRPr lang="en-US" sz="2200" dirty="0"/>
          </a:p>
        </p:txBody>
      </p:sp>
      <p:sp>
        <p:nvSpPr>
          <p:cNvPr id="14" name="Text 12"/>
          <p:cNvSpPr/>
          <p:nvPr/>
        </p:nvSpPr>
        <p:spPr>
          <a:xfrm>
            <a:off x="7863840" y="2697480"/>
            <a:ext cx="3566160" cy="365760"/>
          </a:xfrm>
          <a:prstGeom prst="rect">
            <a:avLst/>
          </a:prstGeom>
          <a:noFill/>
          <a:ln/>
        </p:spPr>
        <p:txBody>
          <a:bodyPr wrap="square" lIns="0" tIns="0" rIns="0" bIns="0" rtlCol="0" anchor="ctr"/>
          <a:lstStyle/>
          <a:p>
            <a:pPr indent="0" marL="0">
              <a:buNone/>
            </a:pPr>
            <a:r>
              <a:rPr lang="en-US" sz="1200" b="1" dirty="0">
                <a:solidFill>
                  <a:srgbClr val="0D9488"/>
                </a:solidFill>
                <a:latin typeface="Calibri" pitchFamily="34" charset="0"/>
                <a:ea typeface="Calibri" pitchFamily="34" charset="-122"/>
                <a:cs typeface="Calibri" pitchFamily="34" charset="-120"/>
              </a:rPr>
              <a:t>Host  •  Moderator  •  Community &amp; Partnerships</a:t>
            </a:r>
            <a:endParaRPr lang="en-US" sz="1200" dirty="0"/>
          </a:p>
        </p:txBody>
      </p:sp>
      <p:sp>
        <p:nvSpPr>
          <p:cNvPr id="15" name="Text 13"/>
          <p:cNvSpPr/>
          <p:nvPr/>
        </p:nvSpPr>
        <p:spPr>
          <a:xfrm>
            <a:off x="6812280" y="3383280"/>
            <a:ext cx="4526280" cy="2377440"/>
          </a:xfrm>
          <a:prstGeom prst="rect">
            <a:avLst/>
          </a:prstGeom>
          <a:noFill/>
          <a:ln/>
        </p:spPr>
        <p:txBody>
          <a:bodyPr wrap="square" lIns="0" tIns="0" rIns="0" bIns="0" rtlCol="0" anchor="ctr"/>
          <a:lstStyle/>
          <a:p>
            <a:pPr marL="342900" indent="-342900">
              <a:spcAft>
                <a:spcPts val="800"/>
              </a:spcAft>
              <a:buSzPct val="100000"/>
              <a:buChar char="•"/>
            </a:pPr>
            <a:r>
              <a:rPr lang="en-US" sz="1400" dirty="0">
                <a:solidFill>
                  <a:srgbClr val="334155"/>
                </a:solidFill>
                <a:latin typeface="Calibri" pitchFamily="34" charset="0"/>
                <a:ea typeface="Calibri" pitchFamily="34" charset="-122"/>
                <a:cs typeface="Calibri" pitchFamily="34" charset="-120"/>
              </a:rPr>
              <a:t>Cloud Engineer</a:t>
            </a:r>
            <a:endParaRPr lang="en-US" sz="1400" dirty="0"/>
          </a:p>
          <a:p>
            <a:pPr marL="342900" indent="-342900">
              <a:spcAft>
                <a:spcPts val="800"/>
              </a:spcAft>
              <a:buSzPct val="100000"/>
              <a:buChar char="•"/>
            </a:pPr>
            <a:r>
              <a:rPr lang="en-US" sz="1400" dirty="0">
                <a:solidFill>
                  <a:srgbClr val="334155"/>
                </a:solidFill>
                <a:latin typeface="Calibri" pitchFamily="34" charset="0"/>
                <a:ea typeface="Calibri" pitchFamily="34" charset="-122"/>
                <a:cs typeface="Calibri" pitchFamily="34" charset="-120"/>
              </a:rPr>
              <a:t>AWS Student Community Leader</a:t>
            </a:r>
            <a:endParaRPr lang="en-US" sz="1400" dirty="0"/>
          </a:p>
          <a:p>
            <a:pPr marL="342900" indent="-342900">
              <a:spcAft>
                <a:spcPts val="800"/>
              </a:spcAft>
              <a:buSzPct val="100000"/>
              <a:buChar char="•"/>
            </a:pPr>
            <a:r>
              <a:rPr lang="en-US" sz="1400" dirty="0">
                <a:solidFill>
                  <a:srgbClr val="334155"/>
                </a:solidFill>
                <a:latin typeface="Calibri" pitchFamily="34" charset="0"/>
                <a:ea typeface="Calibri" pitchFamily="34" charset="-122"/>
                <a:cs typeface="Calibri" pitchFamily="34" charset="-120"/>
              </a:rPr>
              <a:t>AWS Solutions Architect – Associate</a:t>
            </a:r>
            <a:endParaRPr lang="en-US" sz="1400" dirty="0"/>
          </a:p>
          <a:p>
            <a:pPr marL="342900" indent="-342900">
              <a:spcAft>
                <a:spcPts val="800"/>
              </a:spcAft>
              <a:buSzPct val="100000"/>
              <a:buChar char="•"/>
            </a:pPr>
            <a:r>
              <a:rPr lang="en-US" sz="1400" dirty="0">
                <a:solidFill>
                  <a:srgbClr val="334155"/>
                </a:solidFill>
                <a:latin typeface="Calibri" pitchFamily="34" charset="0"/>
                <a:ea typeface="Calibri" pitchFamily="34" charset="-122"/>
                <a:cs typeface="Calibri" pitchFamily="34" charset="-120"/>
              </a:rPr>
              <a:t>Driving community engagement &amp; partnerships for this session</a:t>
            </a:r>
            <a:endParaRPr lang="en-US" sz="1400" dirty="0"/>
          </a:p>
        </p:txBody>
      </p:sp>
      <p:sp>
        <p:nvSpPr>
          <p:cNvPr id="17" name="Text 14"/>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From User to Creator  •  Cloud Webinar</a:t>
            </a:r>
            <a:endParaRPr lang="en-US" sz="900" dirty="0"/>
          </a:p>
        </p:txBody>
      </p:sp>
      <p:sp>
        <p:nvSpPr>
          <p:cNvPr id="18" name="Text 15"/>
          <p:cNvSpPr/>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320040"/>
          </a:xfrm>
          <a:prstGeom prst="rect">
            <a:avLst/>
          </a:prstGeom>
          <a:noFill/>
          <a:ln/>
        </p:spPr>
        <p:txBody>
          <a:bodyPr wrap="square" lIns="0" tIns="0" rIns="0" bIns="0" rtlCol="0" anchor="ctr"/>
          <a:lstStyle/>
          <a:p>
            <a:pPr indent="0" marL="0">
              <a:buNone/>
            </a:pPr>
            <a:r>
              <a:rPr lang="en-US" sz="1300" b="1" spc="200" kern="0" dirty="0">
                <a:solidFill>
                  <a:srgbClr val="0D9488"/>
                </a:solidFill>
                <a:latin typeface="Calibri" pitchFamily="34" charset="0"/>
                <a:ea typeface="Calibri" pitchFamily="34" charset="-122"/>
                <a:cs typeface="Calibri" pitchFamily="34" charset="-120"/>
              </a:rPr>
              <a:t>THE NEXT 90 MINUTES</a:t>
            </a:r>
            <a:endParaRPr lang="en-US" sz="1300" dirty="0"/>
          </a:p>
        </p:txBody>
      </p:sp>
      <p:sp>
        <p:nvSpPr>
          <p:cNvPr id="3" name="Text 1"/>
          <p:cNvSpPr/>
          <p:nvPr/>
        </p:nvSpPr>
        <p:spPr>
          <a:xfrm>
            <a:off x="548640" y="713232"/>
            <a:ext cx="11064240" cy="868680"/>
          </a:xfrm>
          <a:prstGeom prst="rect">
            <a:avLst/>
          </a:prstGeom>
          <a:noFill/>
          <a:ln/>
        </p:spPr>
        <p:txBody>
          <a:bodyPr wrap="square" lIns="0" tIns="0" rIns="0" bIns="0" rtlCol="0" anchor="ctr"/>
          <a:lstStyle/>
          <a:p>
            <a:pPr indent="0" marL="0">
              <a:buNone/>
            </a:pPr>
            <a:r>
              <a:rPr lang="en-US" sz="3100" b="1" dirty="0">
                <a:solidFill>
                  <a:srgbClr val="16233A"/>
                </a:solidFill>
                <a:latin typeface="Calibri" pitchFamily="34" charset="0"/>
                <a:ea typeface="Calibri" pitchFamily="34" charset="-122"/>
                <a:cs typeface="Calibri" pitchFamily="34" charset="-120"/>
              </a:rPr>
              <a:t>What you'll leave with</a:t>
            </a:r>
            <a:endParaRPr lang="en-US" sz="3100" dirty="0"/>
          </a:p>
        </p:txBody>
      </p:sp>
      <p:sp>
        <p:nvSpPr>
          <p:cNvPr id="4" name="Shape 2"/>
          <p:cNvSpPr/>
          <p:nvPr/>
        </p:nvSpPr>
        <p:spPr>
          <a:xfrm>
            <a:off x="548640" y="1828800"/>
            <a:ext cx="3566160" cy="1783080"/>
          </a:xfrm>
          <a:prstGeom prst="roundRect">
            <a:avLst>
              <a:gd name="adj" fmla="val 4615"/>
            </a:avLst>
          </a:prstGeom>
          <a:solidFill>
            <a:srgbClr val="F1F5F9"/>
          </a:solidFill>
          <a:ln/>
          <a:effectLst>
            <a:outerShdw sx="100000" sy="100000" kx="0" ky="0" algn="bl" rotWithShape="0" blurRad="114300" dist="38100" dir="5400000">
              <a:srgbClr val="0A1F3C">
                <a:alpha val="16000"/>
              </a:srgbClr>
            </a:outerShdw>
          </a:effectLst>
        </p:spPr>
      </p:sp>
      <p:sp>
        <p:nvSpPr>
          <p:cNvPr id="5" name="Shape 3"/>
          <p:cNvSpPr/>
          <p:nvPr/>
        </p:nvSpPr>
        <p:spPr>
          <a:xfrm>
            <a:off x="822960" y="2121408"/>
            <a:ext cx="640080" cy="640080"/>
          </a:xfrm>
          <a:prstGeom prst="ellipse">
            <a:avLst/>
          </a:prstGeom>
          <a:solidFill>
            <a:srgbClr val="0D9488"/>
          </a:solidFill>
          <a:ln/>
        </p:spPr>
      </p:sp>
      <p:sp>
        <p:nvSpPr>
          <p:cNvPr id="6" name="Text 4"/>
          <p:cNvSpPr/>
          <p:nvPr/>
        </p:nvSpPr>
        <p:spPr>
          <a:xfrm>
            <a:off x="822960" y="2121408"/>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7" name="Text 5"/>
          <p:cNvSpPr/>
          <p:nvPr/>
        </p:nvSpPr>
        <p:spPr>
          <a:xfrm>
            <a:off x="1600200" y="2139696"/>
            <a:ext cx="2377440" cy="457200"/>
          </a:xfrm>
          <a:prstGeom prst="rect">
            <a:avLst/>
          </a:prstGeom>
          <a:noFill/>
          <a:ln/>
        </p:spPr>
        <p:txBody>
          <a:bodyPr wrap="square" lIns="0" tIns="0" rIns="0" bIns="0" rtlCol="0" anchor="ctr"/>
          <a:lstStyle/>
          <a:p>
            <a:pPr indent="0" marL="0">
              <a:buNone/>
            </a:pPr>
            <a:r>
              <a:rPr lang="en-US" sz="1700" b="1" dirty="0">
                <a:solidFill>
                  <a:srgbClr val="16233A"/>
                </a:solidFill>
                <a:latin typeface="Calibri" pitchFamily="34" charset="0"/>
                <a:ea typeface="Calibri" pitchFamily="34" charset="-122"/>
                <a:cs typeface="Calibri" pitchFamily="34" charset="-120"/>
              </a:rPr>
              <a:t>The mindset</a:t>
            </a:r>
            <a:endParaRPr lang="en-US" sz="1700" dirty="0"/>
          </a:p>
        </p:txBody>
      </p:sp>
      <p:sp>
        <p:nvSpPr>
          <p:cNvPr id="8" name="Text 6"/>
          <p:cNvSpPr/>
          <p:nvPr/>
        </p:nvSpPr>
        <p:spPr>
          <a:xfrm>
            <a:off x="822960" y="2788920"/>
            <a:ext cx="3063240" cy="731520"/>
          </a:xfrm>
          <a:prstGeom prst="rect">
            <a:avLst/>
          </a:prstGeom>
          <a:noFill/>
          <a:ln/>
        </p:spPr>
        <p:txBody>
          <a:bodyPr wrap="square" lIns="0" tIns="0" rIns="0" bIns="0" rtlCol="0" anchor="ctr"/>
          <a:lstStyle/>
          <a:p>
            <a:pPr indent="0" marL="0">
              <a:buNone/>
            </a:pPr>
            <a:r>
              <a:rPr lang="en-US" sz="1250" dirty="0">
                <a:solidFill>
                  <a:srgbClr val="334155"/>
                </a:solidFill>
                <a:latin typeface="Calibri" pitchFamily="34" charset="0"/>
                <a:ea typeface="Calibri" pitchFamily="34" charset="-122"/>
                <a:cs typeface="Calibri" pitchFamily="34" charset="-120"/>
              </a:rPr>
              <a:t>Technician vs engineer — and why creators win</a:t>
            </a:r>
            <a:endParaRPr lang="en-US" sz="1250" dirty="0"/>
          </a:p>
        </p:txBody>
      </p:sp>
      <p:sp>
        <p:nvSpPr>
          <p:cNvPr id="9" name="Shape 7"/>
          <p:cNvSpPr/>
          <p:nvPr/>
        </p:nvSpPr>
        <p:spPr>
          <a:xfrm>
            <a:off x="4343400" y="1828800"/>
            <a:ext cx="3566160" cy="1783080"/>
          </a:xfrm>
          <a:prstGeom prst="roundRect">
            <a:avLst>
              <a:gd name="adj" fmla="val 4615"/>
            </a:avLst>
          </a:prstGeom>
          <a:solidFill>
            <a:srgbClr val="F1F5F9"/>
          </a:solidFill>
          <a:ln/>
          <a:effectLst>
            <a:outerShdw sx="100000" sy="100000" kx="0" ky="0" algn="bl" rotWithShape="0" blurRad="114300" dist="38100" dir="5400000">
              <a:srgbClr val="0A1F3C">
                <a:alpha val="16000"/>
              </a:srgbClr>
            </a:outerShdw>
          </a:effectLst>
        </p:spPr>
      </p:sp>
      <p:sp>
        <p:nvSpPr>
          <p:cNvPr id="10" name="Shape 8"/>
          <p:cNvSpPr/>
          <p:nvPr/>
        </p:nvSpPr>
        <p:spPr>
          <a:xfrm>
            <a:off x="4617720" y="2121408"/>
            <a:ext cx="640080" cy="640080"/>
          </a:xfrm>
          <a:prstGeom prst="ellipse">
            <a:avLst/>
          </a:prstGeom>
          <a:solidFill>
            <a:srgbClr val="14B8A6"/>
          </a:solidFill>
          <a:ln/>
        </p:spPr>
      </p:sp>
      <p:sp>
        <p:nvSpPr>
          <p:cNvPr id="11" name="Text 9"/>
          <p:cNvSpPr/>
          <p:nvPr/>
        </p:nvSpPr>
        <p:spPr>
          <a:xfrm>
            <a:off x="4617720" y="2121408"/>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2" name="Text 10"/>
          <p:cNvSpPr/>
          <p:nvPr/>
        </p:nvSpPr>
        <p:spPr>
          <a:xfrm>
            <a:off x="5394960" y="2139696"/>
            <a:ext cx="2377440" cy="457200"/>
          </a:xfrm>
          <a:prstGeom prst="rect">
            <a:avLst/>
          </a:prstGeom>
          <a:noFill/>
          <a:ln/>
        </p:spPr>
        <p:txBody>
          <a:bodyPr wrap="square" lIns="0" tIns="0" rIns="0" bIns="0" rtlCol="0" anchor="ctr"/>
          <a:lstStyle/>
          <a:p>
            <a:pPr indent="0" marL="0">
              <a:buNone/>
            </a:pPr>
            <a:r>
              <a:rPr lang="en-US" sz="1700" b="1" dirty="0">
                <a:solidFill>
                  <a:srgbClr val="16233A"/>
                </a:solidFill>
                <a:latin typeface="Calibri" pitchFamily="34" charset="0"/>
                <a:ea typeface="Calibri" pitchFamily="34" charset="-122"/>
                <a:cs typeface="Calibri" pitchFamily="34" charset="-120"/>
              </a:rPr>
              <a:t>Open source in cloud</a:t>
            </a:r>
            <a:endParaRPr lang="en-US" sz="1700" dirty="0"/>
          </a:p>
        </p:txBody>
      </p:sp>
      <p:sp>
        <p:nvSpPr>
          <p:cNvPr id="13" name="Text 11"/>
          <p:cNvSpPr/>
          <p:nvPr/>
        </p:nvSpPr>
        <p:spPr>
          <a:xfrm>
            <a:off x="4617720" y="2788920"/>
            <a:ext cx="3063240" cy="731520"/>
          </a:xfrm>
          <a:prstGeom prst="rect">
            <a:avLst/>
          </a:prstGeom>
          <a:noFill/>
          <a:ln/>
        </p:spPr>
        <p:txBody>
          <a:bodyPr wrap="square" lIns="0" tIns="0" rIns="0" bIns="0" rtlCol="0" anchor="ctr"/>
          <a:lstStyle/>
          <a:p>
            <a:pPr indent="0" marL="0">
              <a:buNone/>
            </a:pPr>
            <a:r>
              <a:rPr lang="en-US" sz="1250" dirty="0">
                <a:solidFill>
                  <a:srgbClr val="334155"/>
                </a:solidFill>
                <a:latin typeface="Calibri" pitchFamily="34" charset="0"/>
                <a:ea typeface="Calibri" pitchFamily="34" charset="-122"/>
                <a:cs typeface="Calibri" pitchFamily="34" charset="-120"/>
              </a:rPr>
              <a:t>Where you fit as a builder, not just a user</a:t>
            </a:r>
            <a:endParaRPr lang="en-US" sz="1250" dirty="0"/>
          </a:p>
        </p:txBody>
      </p:sp>
      <p:sp>
        <p:nvSpPr>
          <p:cNvPr id="14" name="Shape 12"/>
          <p:cNvSpPr/>
          <p:nvPr/>
        </p:nvSpPr>
        <p:spPr>
          <a:xfrm>
            <a:off x="8138160" y="1828800"/>
            <a:ext cx="3566160" cy="1783080"/>
          </a:xfrm>
          <a:prstGeom prst="roundRect">
            <a:avLst>
              <a:gd name="adj" fmla="val 4615"/>
            </a:avLst>
          </a:prstGeom>
          <a:solidFill>
            <a:srgbClr val="F1F5F9"/>
          </a:solidFill>
          <a:ln/>
          <a:effectLst>
            <a:outerShdw sx="100000" sy="100000" kx="0" ky="0" algn="bl" rotWithShape="0" blurRad="114300" dist="38100" dir="5400000">
              <a:srgbClr val="0A1F3C">
                <a:alpha val="16000"/>
              </a:srgbClr>
            </a:outerShdw>
          </a:effectLst>
        </p:spPr>
      </p:sp>
      <p:sp>
        <p:nvSpPr>
          <p:cNvPr id="15" name="Shape 13"/>
          <p:cNvSpPr/>
          <p:nvPr/>
        </p:nvSpPr>
        <p:spPr>
          <a:xfrm>
            <a:off x="8412480" y="2121408"/>
            <a:ext cx="640080" cy="640080"/>
          </a:xfrm>
          <a:prstGeom prst="ellipse">
            <a:avLst/>
          </a:prstGeom>
          <a:solidFill>
            <a:srgbClr val="F59E0B"/>
          </a:solidFill>
          <a:ln/>
        </p:spPr>
      </p:sp>
      <p:sp>
        <p:nvSpPr>
          <p:cNvPr id="16" name="Text 14"/>
          <p:cNvSpPr/>
          <p:nvPr/>
        </p:nvSpPr>
        <p:spPr>
          <a:xfrm>
            <a:off x="8412480" y="2121408"/>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7" name="Text 15"/>
          <p:cNvSpPr/>
          <p:nvPr/>
        </p:nvSpPr>
        <p:spPr>
          <a:xfrm>
            <a:off x="9189720" y="2139696"/>
            <a:ext cx="2377440" cy="457200"/>
          </a:xfrm>
          <a:prstGeom prst="rect">
            <a:avLst/>
          </a:prstGeom>
          <a:noFill/>
          <a:ln/>
        </p:spPr>
        <p:txBody>
          <a:bodyPr wrap="square" lIns="0" tIns="0" rIns="0" bIns="0" rtlCol="0" anchor="ctr"/>
          <a:lstStyle/>
          <a:p>
            <a:pPr indent="0" marL="0">
              <a:buNone/>
            </a:pPr>
            <a:r>
              <a:rPr lang="en-US" sz="1700" b="1" dirty="0">
                <a:solidFill>
                  <a:srgbClr val="16233A"/>
                </a:solidFill>
                <a:latin typeface="Calibri" pitchFamily="34" charset="0"/>
                <a:ea typeface="Calibri" pitchFamily="34" charset="-122"/>
                <a:cs typeface="Calibri" pitchFamily="34" charset="-120"/>
              </a:rPr>
              <a:t>Find a problem</a:t>
            </a:r>
            <a:endParaRPr lang="en-US" sz="1700" dirty="0"/>
          </a:p>
        </p:txBody>
      </p:sp>
      <p:sp>
        <p:nvSpPr>
          <p:cNvPr id="18" name="Text 16"/>
          <p:cNvSpPr/>
          <p:nvPr/>
        </p:nvSpPr>
        <p:spPr>
          <a:xfrm>
            <a:off x="8412480" y="2788920"/>
            <a:ext cx="3063240" cy="731520"/>
          </a:xfrm>
          <a:prstGeom prst="rect">
            <a:avLst/>
          </a:prstGeom>
          <a:noFill/>
          <a:ln/>
        </p:spPr>
        <p:txBody>
          <a:bodyPr wrap="square" lIns="0" tIns="0" rIns="0" bIns="0" rtlCol="0" anchor="ctr"/>
          <a:lstStyle/>
          <a:p>
            <a:pPr indent="0" marL="0">
              <a:buNone/>
            </a:pPr>
            <a:r>
              <a:rPr lang="en-US" sz="1250" dirty="0">
                <a:solidFill>
                  <a:srgbClr val="334155"/>
                </a:solidFill>
                <a:latin typeface="Calibri" pitchFamily="34" charset="0"/>
                <a:ea typeface="Calibri" pitchFamily="34" charset="-122"/>
                <a:cs typeface="Calibri" pitchFamily="34" charset="-120"/>
              </a:rPr>
              <a:t>Turn everyday cloud frustrations into projects</a:t>
            </a:r>
            <a:endParaRPr lang="en-US" sz="1250" dirty="0"/>
          </a:p>
        </p:txBody>
      </p:sp>
      <p:sp>
        <p:nvSpPr>
          <p:cNvPr id="19" name="Shape 17"/>
          <p:cNvSpPr/>
          <p:nvPr/>
        </p:nvSpPr>
        <p:spPr>
          <a:xfrm>
            <a:off x="548640" y="3886200"/>
            <a:ext cx="3566160" cy="1783080"/>
          </a:xfrm>
          <a:prstGeom prst="roundRect">
            <a:avLst>
              <a:gd name="adj" fmla="val 4615"/>
            </a:avLst>
          </a:prstGeom>
          <a:solidFill>
            <a:srgbClr val="F1F5F9"/>
          </a:solidFill>
          <a:ln/>
          <a:effectLst>
            <a:outerShdw sx="100000" sy="100000" kx="0" ky="0" algn="bl" rotWithShape="0" blurRad="114300" dist="38100" dir="5400000">
              <a:srgbClr val="0A1F3C">
                <a:alpha val="16000"/>
              </a:srgbClr>
            </a:outerShdw>
          </a:effectLst>
        </p:spPr>
      </p:sp>
      <p:sp>
        <p:nvSpPr>
          <p:cNvPr id="20" name="Shape 18"/>
          <p:cNvSpPr/>
          <p:nvPr/>
        </p:nvSpPr>
        <p:spPr>
          <a:xfrm>
            <a:off x="822960" y="4178808"/>
            <a:ext cx="640080" cy="640080"/>
          </a:xfrm>
          <a:prstGeom prst="ellipse">
            <a:avLst/>
          </a:prstGeom>
          <a:solidFill>
            <a:srgbClr val="F97316"/>
          </a:solidFill>
          <a:ln/>
        </p:spPr>
      </p:sp>
      <p:sp>
        <p:nvSpPr>
          <p:cNvPr id="21" name="Text 19"/>
          <p:cNvSpPr/>
          <p:nvPr/>
        </p:nvSpPr>
        <p:spPr>
          <a:xfrm>
            <a:off x="822960" y="4178808"/>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2" name="Text 20"/>
          <p:cNvSpPr/>
          <p:nvPr/>
        </p:nvSpPr>
        <p:spPr>
          <a:xfrm>
            <a:off x="1600200" y="4197096"/>
            <a:ext cx="2377440" cy="457200"/>
          </a:xfrm>
          <a:prstGeom prst="rect">
            <a:avLst/>
          </a:prstGeom>
          <a:noFill/>
          <a:ln/>
        </p:spPr>
        <p:txBody>
          <a:bodyPr wrap="square" lIns="0" tIns="0" rIns="0" bIns="0" rtlCol="0" anchor="ctr"/>
          <a:lstStyle/>
          <a:p>
            <a:pPr indent="0" marL="0">
              <a:buNone/>
            </a:pPr>
            <a:r>
              <a:rPr lang="en-US" sz="1700" b="1" dirty="0">
                <a:solidFill>
                  <a:srgbClr val="16233A"/>
                </a:solidFill>
                <a:latin typeface="Calibri" pitchFamily="34" charset="0"/>
                <a:ea typeface="Calibri" pitchFamily="34" charset="-122"/>
                <a:cs typeface="Calibri" pitchFamily="34" charset="-120"/>
              </a:rPr>
              <a:t>Build it live</a:t>
            </a:r>
            <a:endParaRPr lang="en-US" sz="1700" dirty="0"/>
          </a:p>
        </p:txBody>
      </p:sp>
      <p:sp>
        <p:nvSpPr>
          <p:cNvPr id="23" name="Text 21"/>
          <p:cNvSpPr/>
          <p:nvPr/>
        </p:nvSpPr>
        <p:spPr>
          <a:xfrm>
            <a:off x="822960" y="4846320"/>
            <a:ext cx="3063240" cy="731520"/>
          </a:xfrm>
          <a:prstGeom prst="rect">
            <a:avLst/>
          </a:prstGeom>
          <a:noFill/>
          <a:ln/>
        </p:spPr>
        <p:txBody>
          <a:bodyPr wrap="square" lIns="0" tIns="0" rIns="0" bIns="0" rtlCol="0" anchor="ctr"/>
          <a:lstStyle/>
          <a:p>
            <a:pPr indent="0" marL="0">
              <a:buNone/>
            </a:pPr>
            <a:r>
              <a:rPr lang="en-US" sz="1250" dirty="0">
                <a:solidFill>
                  <a:srgbClr val="334155"/>
                </a:solidFill>
                <a:latin typeface="Calibri" pitchFamily="34" charset="0"/>
                <a:ea typeface="Calibri" pitchFamily="34" charset="-122"/>
                <a:cs typeface="Calibri" pitchFamily="34" charset="-120"/>
              </a:rPr>
              <a:t>We code &amp; run a real AWS tool together</a:t>
            </a:r>
            <a:endParaRPr lang="en-US" sz="1250" dirty="0"/>
          </a:p>
        </p:txBody>
      </p:sp>
      <p:sp>
        <p:nvSpPr>
          <p:cNvPr id="24" name="Shape 22"/>
          <p:cNvSpPr/>
          <p:nvPr/>
        </p:nvSpPr>
        <p:spPr>
          <a:xfrm>
            <a:off x="4343400" y="3886200"/>
            <a:ext cx="3566160" cy="1783080"/>
          </a:xfrm>
          <a:prstGeom prst="roundRect">
            <a:avLst>
              <a:gd name="adj" fmla="val 4615"/>
            </a:avLst>
          </a:prstGeom>
          <a:solidFill>
            <a:srgbClr val="F1F5F9"/>
          </a:solidFill>
          <a:ln/>
          <a:effectLst>
            <a:outerShdw sx="100000" sy="100000" kx="0" ky="0" algn="bl" rotWithShape="0" blurRad="114300" dist="38100" dir="5400000">
              <a:srgbClr val="0A1F3C">
                <a:alpha val="16000"/>
              </a:srgbClr>
            </a:outerShdw>
          </a:effectLst>
        </p:spPr>
      </p:sp>
      <p:sp>
        <p:nvSpPr>
          <p:cNvPr id="25" name="Shape 23"/>
          <p:cNvSpPr/>
          <p:nvPr/>
        </p:nvSpPr>
        <p:spPr>
          <a:xfrm>
            <a:off x="4617720" y="4178808"/>
            <a:ext cx="640080" cy="640080"/>
          </a:xfrm>
          <a:prstGeom prst="ellipse">
            <a:avLst/>
          </a:prstGeom>
          <a:solidFill>
            <a:srgbClr val="0D9488"/>
          </a:solidFill>
          <a:ln/>
        </p:spPr>
      </p:sp>
      <p:sp>
        <p:nvSpPr>
          <p:cNvPr id="26" name="Text 24"/>
          <p:cNvSpPr/>
          <p:nvPr/>
        </p:nvSpPr>
        <p:spPr>
          <a:xfrm>
            <a:off x="4617720" y="4178808"/>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27" name="Text 25"/>
          <p:cNvSpPr/>
          <p:nvPr/>
        </p:nvSpPr>
        <p:spPr>
          <a:xfrm>
            <a:off x="5394960" y="4197096"/>
            <a:ext cx="2377440" cy="457200"/>
          </a:xfrm>
          <a:prstGeom prst="rect">
            <a:avLst/>
          </a:prstGeom>
          <a:noFill/>
          <a:ln/>
        </p:spPr>
        <p:txBody>
          <a:bodyPr wrap="square" lIns="0" tIns="0" rIns="0" bIns="0" rtlCol="0" anchor="ctr"/>
          <a:lstStyle/>
          <a:p>
            <a:pPr indent="0" marL="0">
              <a:buNone/>
            </a:pPr>
            <a:r>
              <a:rPr lang="en-US" sz="1700" b="1" dirty="0">
                <a:solidFill>
                  <a:srgbClr val="16233A"/>
                </a:solidFill>
                <a:latin typeface="Calibri" pitchFamily="34" charset="0"/>
                <a:ea typeface="Calibri" pitchFamily="34" charset="-122"/>
                <a:cs typeface="Calibri" pitchFamily="34" charset="-120"/>
              </a:rPr>
              <a:t>Launch it</a:t>
            </a:r>
            <a:endParaRPr lang="en-US" sz="1700" dirty="0"/>
          </a:p>
        </p:txBody>
      </p:sp>
      <p:sp>
        <p:nvSpPr>
          <p:cNvPr id="28" name="Text 26"/>
          <p:cNvSpPr/>
          <p:nvPr/>
        </p:nvSpPr>
        <p:spPr>
          <a:xfrm>
            <a:off x="4617720" y="4846320"/>
            <a:ext cx="3063240" cy="731520"/>
          </a:xfrm>
          <a:prstGeom prst="rect">
            <a:avLst/>
          </a:prstGeom>
          <a:noFill/>
          <a:ln/>
        </p:spPr>
        <p:txBody>
          <a:bodyPr wrap="square" lIns="0" tIns="0" rIns="0" bIns="0" rtlCol="0" anchor="ctr"/>
          <a:lstStyle/>
          <a:p>
            <a:pPr indent="0" marL="0">
              <a:buNone/>
            </a:pPr>
            <a:r>
              <a:rPr lang="en-US" sz="1250" dirty="0">
                <a:solidFill>
                  <a:srgbClr val="334155"/>
                </a:solidFill>
                <a:latin typeface="Calibri" pitchFamily="34" charset="0"/>
                <a:ea typeface="Calibri" pitchFamily="34" charset="-122"/>
                <a:cs typeface="Calibri" pitchFamily="34" charset="-120"/>
              </a:rPr>
              <a:t>GitHub, README, first users, and your CV</a:t>
            </a:r>
            <a:endParaRPr lang="en-US" sz="1250" dirty="0"/>
          </a:p>
        </p:txBody>
      </p:sp>
      <p:sp>
        <p:nvSpPr>
          <p:cNvPr id="29" name="Shape 27"/>
          <p:cNvSpPr/>
          <p:nvPr/>
        </p:nvSpPr>
        <p:spPr>
          <a:xfrm>
            <a:off x="8138160" y="3886200"/>
            <a:ext cx="3566160" cy="1783080"/>
          </a:xfrm>
          <a:prstGeom prst="roundRect">
            <a:avLst>
              <a:gd name="adj" fmla="val 4615"/>
            </a:avLst>
          </a:prstGeom>
          <a:solidFill>
            <a:srgbClr val="F1F5F9"/>
          </a:solidFill>
          <a:ln/>
          <a:effectLst>
            <a:outerShdw sx="100000" sy="100000" kx="0" ky="0" algn="bl" rotWithShape="0" blurRad="114300" dist="38100" dir="5400000">
              <a:srgbClr val="0A1F3C">
                <a:alpha val="16000"/>
              </a:srgbClr>
            </a:outerShdw>
          </a:effectLst>
        </p:spPr>
      </p:sp>
      <p:sp>
        <p:nvSpPr>
          <p:cNvPr id="30" name="Shape 28"/>
          <p:cNvSpPr/>
          <p:nvPr/>
        </p:nvSpPr>
        <p:spPr>
          <a:xfrm>
            <a:off x="8412480" y="4178808"/>
            <a:ext cx="640080" cy="640080"/>
          </a:xfrm>
          <a:prstGeom prst="ellipse">
            <a:avLst/>
          </a:prstGeom>
          <a:solidFill>
            <a:srgbClr val="14B8A6"/>
          </a:solidFill>
          <a:ln/>
        </p:spPr>
      </p:sp>
      <p:sp>
        <p:nvSpPr>
          <p:cNvPr id="31" name="Text 29"/>
          <p:cNvSpPr/>
          <p:nvPr/>
        </p:nvSpPr>
        <p:spPr>
          <a:xfrm>
            <a:off x="8412480" y="4178808"/>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6</a:t>
            </a:r>
            <a:endParaRPr lang="en-US" sz="2000" dirty="0"/>
          </a:p>
        </p:txBody>
      </p:sp>
      <p:sp>
        <p:nvSpPr>
          <p:cNvPr id="32" name="Text 30"/>
          <p:cNvSpPr/>
          <p:nvPr/>
        </p:nvSpPr>
        <p:spPr>
          <a:xfrm>
            <a:off x="9189720" y="4197096"/>
            <a:ext cx="2377440" cy="457200"/>
          </a:xfrm>
          <a:prstGeom prst="rect">
            <a:avLst/>
          </a:prstGeom>
          <a:noFill/>
          <a:ln/>
        </p:spPr>
        <p:txBody>
          <a:bodyPr wrap="square" lIns="0" tIns="0" rIns="0" bIns="0" rtlCol="0" anchor="ctr"/>
          <a:lstStyle/>
          <a:p>
            <a:pPr indent="0" marL="0">
              <a:buNone/>
            </a:pPr>
            <a:r>
              <a:rPr lang="en-US" sz="1700" b="1" dirty="0">
                <a:solidFill>
                  <a:srgbClr val="16233A"/>
                </a:solidFill>
                <a:latin typeface="Calibri" pitchFamily="34" charset="0"/>
                <a:ea typeface="Calibri" pitchFamily="34" charset="-122"/>
                <a:cs typeface="Calibri" pitchFamily="34" charset="-120"/>
              </a:rPr>
              <a:t>Your roadmap</a:t>
            </a:r>
            <a:endParaRPr lang="en-US" sz="1700" dirty="0"/>
          </a:p>
        </p:txBody>
      </p:sp>
      <p:sp>
        <p:nvSpPr>
          <p:cNvPr id="33" name="Text 31"/>
          <p:cNvSpPr/>
          <p:nvPr/>
        </p:nvSpPr>
        <p:spPr>
          <a:xfrm>
            <a:off x="8412480" y="4846320"/>
            <a:ext cx="3063240" cy="731520"/>
          </a:xfrm>
          <a:prstGeom prst="rect">
            <a:avLst/>
          </a:prstGeom>
          <a:noFill/>
          <a:ln/>
        </p:spPr>
        <p:txBody>
          <a:bodyPr wrap="square" lIns="0" tIns="0" rIns="0" bIns="0" rtlCol="0" anchor="ctr"/>
          <a:lstStyle/>
          <a:p>
            <a:pPr indent="0" marL="0">
              <a:buNone/>
            </a:pPr>
            <a:r>
              <a:rPr lang="en-US" sz="1250" dirty="0">
                <a:solidFill>
                  <a:srgbClr val="334155"/>
                </a:solidFill>
                <a:latin typeface="Calibri" pitchFamily="34" charset="0"/>
                <a:ea typeface="Calibri" pitchFamily="34" charset="-122"/>
                <a:cs typeface="Calibri" pitchFamily="34" charset="-120"/>
              </a:rPr>
              <a:t>A repeatable path to keep shipping</a:t>
            </a:r>
            <a:endParaRPr lang="en-US" sz="1250" dirty="0"/>
          </a:p>
        </p:txBody>
      </p:sp>
      <p:sp>
        <p:nvSpPr>
          <p:cNvPr id="35" name="Text 32"/>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From User to Creator  •  Cloud Webinar</a:t>
            </a:r>
            <a:endParaRPr lang="en-US" sz="900" dirty="0"/>
          </a:p>
        </p:txBody>
      </p:sp>
      <p:sp>
        <p:nvSpPr>
          <p:cNvPr id="36" name="Text 33"/>
          <p:cNvSpPr/>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F3C"/>
        </a:solidFill>
      </p:bgPr>
    </p:bg>
    <p:spTree>
      <p:nvGrpSpPr>
        <p:cNvPr id="1" name=""/>
        <p:cNvGrpSpPr/>
        <p:nvPr/>
      </p:nvGrpSpPr>
      <p:grpSpPr>
        <a:xfrm>
          <a:off x="0" y="0"/>
          <a:ext cx="0" cy="0"/>
          <a:chOff x="0" y="0"/>
          <a:chExt cx="0" cy="0"/>
        </a:xfrm>
      </p:grpSpPr>
      <p:sp>
        <p:nvSpPr>
          <p:cNvPr id="2" name="Shape 0"/>
          <p:cNvSpPr/>
          <p:nvPr/>
        </p:nvSpPr>
        <p:spPr>
          <a:xfrm>
            <a:off x="-1463040" y="3291840"/>
            <a:ext cx="4754880" cy="4754880"/>
          </a:xfrm>
          <a:prstGeom prst="ellipse">
            <a:avLst/>
          </a:prstGeom>
          <a:solidFill>
            <a:srgbClr val="12284B"/>
          </a:solidFill>
          <a:ln/>
        </p:spPr>
      </p:sp>
      <p:sp>
        <p:nvSpPr>
          <p:cNvPr id="3" name="Shape 1"/>
          <p:cNvSpPr/>
          <p:nvPr/>
        </p:nvSpPr>
        <p:spPr>
          <a:xfrm>
            <a:off x="9692640" y="-2011680"/>
            <a:ext cx="4937760" cy="4937760"/>
          </a:xfrm>
          <a:prstGeom prst="ellipse">
            <a:avLst/>
          </a:prstGeom>
          <a:solidFill>
            <a:srgbClr val="12284B"/>
          </a:solidFill>
          <a:ln/>
        </p:spPr>
      </p:sp>
      <p:sp>
        <p:nvSpPr>
          <p:cNvPr id="4" name="Shape 2"/>
          <p:cNvSpPr/>
          <p:nvPr/>
        </p:nvSpPr>
        <p:spPr>
          <a:xfrm>
            <a:off x="822960" y="2286000"/>
            <a:ext cx="1280160" cy="1280160"/>
          </a:xfrm>
          <a:prstGeom prst="ellipse">
            <a:avLst/>
          </a:prstGeom>
          <a:solidFill>
            <a:srgbClr val="14B8A6"/>
          </a:solidFill>
          <a:ln/>
        </p:spPr>
      </p:sp>
      <p:sp>
        <p:nvSpPr>
          <p:cNvPr id="5" name="Text 3"/>
          <p:cNvSpPr/>
          <p:nvPr/>
        </p:nvSpPr>
        <p:spPr>
          <a:xfrm>
            <a:off x="822960" y="2286000"/>
            <a:ext cx="1280160" cy="1280160"/>
          </a:xfrm>
          <a:prstGeom prst="rect">
            <a:avLst/>
          </a:prstGeom>
          <a:noFill/>
          <a:ln/>
        </p:spPr>
        <p:txBody>
          <a:bodyPr wrap="square" lIns="0" tIns="0" rIns="0" bIns="0" rtlCol="0" anchor="ctr"/>
          <a:lstStyle/>
          <a:p>
            <a:pPr algn="ctr" indent="0" marL="0">
              <a:buNone/>
            </a:pPr>
            <a:r>
              <a:rPr lang="en-US" sz="4000" b="1" dirty="0">
                <a:solidFill>
                  <a:srgbClr val="0A1F3C"/>
                </a:solidFill>
                <a:latin typeface="Calibri" pitchFamily="34" charset="0"/>
                <a:ea typeface="Calibri" pitchFamily="34" charset="-122"/>
                <a:cs typeface="Calibri" pitchFamily="34" charset="-120"/>
              </a:rPr>
              <a:t>1</a:t>
            </a:r>
            <a:endParaRPr lang="en-US" sz="4000" dirty="0"/>
          </a:p>
        </p:txBody>
      </p:sp>
      <p:sp>
        <p:nvSpPr>
          <p:cNvPr id="6" name="Text 4"/>
          <p:cNvSpPr/>
          <p:nvPr/>
        </p:nvSpPr>
        <p:spPr>
          <a:xfrm>
            <a:off x="2468880" y="2331720"/>
            <a:ext cx="8229600" cy="365760"/>
          </a:xfrm>
          <a:prstGeom prst="rect">
            <a:avLst/>
          </a:prstGeom>
          <a:noFill/>
          <a:ln/>
        </p:spPr>
        <p:txBody>
          <a:bodyPr wrap="square" lIns="0" tIns="0" rIns="0" bIns="0" rtlCol="0" anchor="ctr"/>
          <a:lstStyle/>
          <a:p>
            <a:pPr indent="0" marL="0">
              <a:buNone/>
            </a:pPr>
            <a:r>
              <a:rPr lang="en-US" sz="1400" b="1" spc="200" kern="0" dirty="0">
                <a:solidFill>
                  <a:srgbClr val="14B8A6"/>
                </a:solidFill>
                <a:latin typeface="Calibri" pitchFamily="34" charset="0"/>
                <a:ea typeface="Calibri" pitchFamily="34" charset="-122"/>
                <a:cs typeface="Calibri" pitchFamily="34" charset="-120"/>
              </a:rPr>
              <a:t>THE FOUNDATION</a:t>
            </a:r>
            <a:endParaRPr lang="en-US" sz="1400" dirty="0"/>
          </a:p>
        </p:txBody>
      </p:sp>
      <p:sp>
        <p:nvSpPr>
          <p:cNvPr id="7" name="Text 5"/>
          <p:cNvSpPr/>
          <p:nvPr/>
        </p:nvSpPr>
        <p:spPr>
          <a:xfrm>
            <a:off x="2468880" y="2697480"/>
            <a:ext cx="8961120" cy="128016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The engineering mindset</a:t>
            </a:r>
            <a:endParaRPr lang="en-US" sz="4000" dirty="0"/>
          </a:p>
        </p:txBody>
      </p:sp>
      <p:sp>
        <p:nvSpPr>
          <p:cNvPr id="8" name="Text 6"/>
          <p:cNvSpPr/>
          <p:nvPr/>
        </p:nvSpPr>
        <p:spPr>
          <a:xfrm>
            <a:off x="2487168" y="3977640"/>
            <a:ext cx="8778240" cy="73152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Before tools, before code — how creators think differently.</a:t>
            </a:r>
            <a:endParaRPr lang="en-US" sz="1600" dirty="0"/>
          </a:p>
        </p:txBody>
      </p:sp>
      <p:sp>
        <p:nvSpPr>
          <p:cNvPr id="10" name="Text 7"/>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CADCFC"/>
                </a:solidFill>
                <a:latin typeface="Calibri" pitchFamily="34" charset="0"/>
                <a:ea typeface="Calibri" pitchFamily="34" charset="-122"/>
                <a:cs typeface="Calibri" pitchFamily="34" charset="-120"/>
              </a:rPr>
              <a:t>From User to Creator  •  Cloud Webinar</a:t>
            </a:r>
            <a:endParaRPr lang="en-US" sz="900" dirty="0"/>
          </a:p>
        </p:txBody>
      </p:sp>
      <p:sp>
        <p:nvSpPr>
          <p:cNvPr id="11" name="Text 8"/>
          <p:cNvSpPr/>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CADCFC"/>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320040"/>
          </a:xfrm>
          <a:prstGeom prst="rect">
            <a:avLst/>
          </a:prstGeom>
          <a:noFill/>
          <a:ln/>
        </p:spPr>
        <p:txBody>
          <a:bodyPr wrap="square" lIns="0" tIns="0" rIns="0" bIns="0" rtlCol="0" anchor="ctr"/>
          <a:lstStyle/>
          <a:p>
            <a:pPr indent="0" marL="0">
              <a:buNone/>
            </a:pPr>
            <a:r>
              <a:rPr lang="en-US" sz="1300" b="1" spc="200" kern="0" dirty="0">
                <a:solidFill>
                  <a:srgbClr val="0D9488"/>
                </a:solidFill>
                <a:latin typeface="Calibri" pitchFamily="34" charset="0"/>
                <a:ea typeface="Calibri" pitchFamily="34" charset="-122"/>
                <a:cs typeface="Calibri" pitchFamily="34" charset="-120"/>
              </a:rPr>
              <a:t>THE CORE DISTINCTION</a:t>
            </a:r>
            <a:endParaRPr lang="en-US" sz="1300" dirty="0"/>
          </a:p>
        </p:txBody>
      </p:sp>
      <p:sp>
        <p:nvSpPr>
          <p:cNvPr id="3" name="Text 1"/>
          <p:cNvSpPr/>
          <p:nvPr/>
        </p:nvSpPr>
        <p:spPr>
          <a:xfrm>
            <a:off x="548640" y="713232"/>
            <a:ext cx="11064240" cy="868680"/>
          </a:xfrm>
          <a:prstGeom prst="rect">
            <a:avLst/>
          </a:prstGeom>
          <a:noFill/>
          <a:ln/>
        </p:spPr>
        <p:txBody>
          <a:bodyPr wrap="square" lIns="0" tIns="0" rIns="0" bIns="0" rtlCol="0" anchor="ctr"/>
          <a:lstStyle/>
          <a:p>
            <a:pPr indent="0" marL="0">
              <a:buNone/>
            </a:pPr>
            <a:r>
              <a:rPr lang="en-US" sz="3100" b="1" dirty="0">
                <a:solidFill>
                  <a:srgbClr val="16233A"/>
                </a:solidFill>
                <a:latin typeface="Calibri" pitchFamily="34" charset="0"/>
                <a:ea typeface="Calibri" pitchFamily="34" charset="-122"/>
                <a:cs typeface="Calibri" pitchFamily="34" charset="-120"/>
              </a:rPr>
              <a:t>Technician vs. Engineer</a:t>
            </a:r>
            <a:endParaRPr lang="en-US" sz="3100" dirty="0"/>
          </a:p>
        </p:txBody>
      </p:sp>
      <p:sp>
        <p:nvSpPr>
          <p:cNvPr id="4" name="Shape 2"/>
          <p:cNvSpPr/>
          <p:nvPr/>
        </p:nvSpPr>
        <p:spPr>
          <a:xfrm>
            <a:off x="548640" y="1828800"/>
            <a:ext cx="5257800" cy="4069080"/>
          </a:xfrm>
          <a:prstGeom prst="roundRect">
            <a:avLst>
              <a:gd name="adj" fmla="val 2022"/>
            </a:avLst>
          </a:prstGeom>
          <a:solidFill>
            <a:srgbClr val="F1F5F9"/>
          </a:solidFill>
          <a:ln/>
          <a:effectLst>
            <a:outerShdw sx="100000" sy="100000" kx="0" ky="0" algn="bl" rotWithShape="0" blurRad="114300" dist="38100" dir="5400000">
              <a:srgbClr val="0A1F3C">
                <a:alpha val="16000"/>
              </a:srgbClr>
            </a:outerShdw>
          </a:effectLst>
        </p:spPr>
      </p:sp>
      <p:sp>
        <p:nvSpPr>
          <p:cNvPr id="5" name="Shape 3"/>
          <p:cNvSpPr/>
          <p:nvPr/>
        </p:nvSpPr>
        <p:spPr>
          <a:xfrm>
            <a:off x="914400" y="2176272"/>
            <a:ext cx="822960" cy="822960"/>
          </a:xfrm>
          <a:prstGeom prst="ellipse">
            <a:avLst/>
          </a:prstGeom>
          <a:solidFill>
            <a:srgbClr val="64748B"/>
          </a:solidFill>
          <a:ln/>
        </p:spPr>
      </p:sp>
      <p:sp>
        <p:nvSpPr>
          <p:cNvPr id="6" name="Text 4"/>
          <p:cNvSpPr/>
          <p:nvPr/>
        </p:nvSpPr>
        <p:spPr>
          <a:xfrm>
            <a:off x="914400" y="2176272"/>
            <a:ext cx="822960" cy="82296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T</a:t>
            </a:r>
            <a:endParaRPr lang="en-US" sz="2800" dirty="0"/>
          </a:p>
        </p:txBody>
      </p:sp>
      <p:sp>
        <p:nvSpPr>
          <p:cNvPr id="7" name="Text 5"/>
          <p:cNvSpPr/>
          <p:nvPr/>
        </p:nvSpPr>
        <p:spPr>
          <a:xfrm>
            <a:off x="1874520" y="2240280"/>
            <a:ext cx="3200400" cy="548640"/>
          </a:xfrm>
          <a:prstGeom prst="rect">
            <a:avLst/>
          </a:prstGeom>
          <a:noFill/>
          <a:ln/>
        </p:spPr>
        <p:txBody>
          <a:bodyPr wrap="square" lIns="0" tIns="0" rIns="0" bIns="0" rtlCol="0" anchor="ctr"/>
          <a:lstStyle/>
          <a:p>
            <a:pPr indent="0" marL="0">
              <a:buNone/>
            </a:pPr>
            <a:r>
              <a:rPr lang="en-US" sz="2300" b="1" dirty="0">
                <a:solidFill>
                  <a:srgbClr val="16233A"/>
                </a:solidFill>
                <a:latin typeface="Calibri" pitchFamily="34" charset="0"/>
                <a:ea typeface="Calibri" pitchFamily="34" charset="-122"/>
                <a:cs typeface="Calibri" pitchFamily="34" charset="-120"/>
              </a:rPr>
              <a:t>The Technician</a:t>
            </a:r>
            <a:endParaRPr lang="en-US" sz="2300" dirty="0"/>
          </a:p>
        </p:txBody>
      </p:sp>
      <p:sp>
        <p:nvSpPr>
          <p:cNvPr id="8" name="Text 6"/>
          <p:cNvSpPr/>
          <p:nvPr/>
        </p:nvSpPr>
        <p:spPr>
          <a:xfrm>
            <a:off x="1874520" y="2743200"/>
            <a:ext cx="3200400" cy="36576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Uses &amp; maintains tools</a:t>
            </a:r>
            <a:endParaRPr lang="en-US" sz="1300" dirty="0"/>
          </a:p>
        </p:txBody>
      </p:sp>
      <p:sp>
        <p:nvSpPr>
          <p:cNvPr id="9" name="Text 7"/>
          <p:cNvSpPr/>
          <p:nvPr/>
        </p:nvSpPr>
        <p:spPr>
          <a:xfrm>
            <a:off x="960120" y="3291840"/>
            <a:ext cx="4526280" cy="2377440"/>
          </a:xfrm>
          <a:prstGeom prst="rect">
            <a:avLst/>
          </a:prstGeom>
          <a:noFill/>
          <a:ln/>
        </p:spPr>
        <p:txBody>
          <a:bodyPr wrap="square" lIns="0" tIns="0" rIns="0" bIns="0" rtlCol="0" anchor="ctr"/>
          <a:lstStyle/>
          <a:p>
            <a:pPr marL="342900" indent="-342900">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Operates the tools others built</a:t>
            </a:r>
            <a:endParaRPr lang="en-US" sz="1450" dirty="0"/>
          </a:p>
          <a:p>
            <a:pPr marL="342900" indent="-342900">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Follows the runbook and the docs</a:t>
            </a:r>
            <a:endParaRPr lang="en-US" sz="1450" dirty="0"/>
          </a:p>
          <a:p>
            <a:pPr marL="342900" indent="-342900">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Fixes today's broken thing</a:t>
            </a:r>
            <a:endParaRPr lang="en-US" sz="1450" dirty="0"/>
          </a:p>
          <a:p>
            <a:pPr marL="342900" indent="-342900">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Value is tied to a specific job/stack</a:t>
            </a:r>
            <a:endParaRPr lang="en-US" sz="1450" dirty="0"/>
          </a:p>
          <a:p>
            <a:pPr marL="342900" indent="-342900">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Asks: "How do I use this?"</a:t>
            </a:r>
            <a:endParaRPr lang="en-US" sz="1450" dirty="0"/>
          </a:p>
        </p:txBody>
      </p:sp>
      <p:sp>
        <p:nvSpPr>
          <p:cNvPr id="10" name="Shape 8"/>
          <p:cNvSpPr/>
          <p:nvPr/>
        </p:nvSpPr>
        <p:spPr>
          <a:xfrm>
            <a:off x="6400800" y="1828800"/>
            <a:ext cx="5257800" cy="4069080"/>
          </a:xfrm>
          <a:prstGeom prst="roundRect">
            <a:avLst>
              <a:gd name="adj" fmla="val 2022"/>
            </a:avLst>
          </a:prstGeom>
          <a:solidFill>
            <a:srgbClr val="ECFDF5"/>
          </a:solidFill>
          <a:ln/>
          <a:effectLst>
            <a:outerShdw sx="100000" sy="100000" kx="0" ky="0" algn="bl" rotWithShape="0" blurRad="114300" dist="38100" dir="5400000">
              <a:srgbClr val="0A1F3C">
                <a:alpha val="16000"/>
              </a:srgbClr>
            </a:outerShdw>
          </a:effectLst>
        </p:spPr>
      </p:sp>
      <p:sp>
        <p:nvSpPr>
          <p:cNvPr id="11" name="Shape 9"/>
          <p:cNvSpPr/>
          <p:nvPr/>
        </p:nvSpPr>
        <p:spPr>
          <a:xfrm>
            <a:off x="6766560" y="2176272"/>
            <a:ext cx="822960" cy="822960"/>
          </a:xfrm>
          <a:prstGeom prst="ellipse">
            <a:avLst/>
          </a:prstGeom>
          <a:solidFill>
            <a:srgbClr val="0D9488"/>
          </a:solidFill>
          <a:ln/>
        </p:spPr>
      </p:sp>
      <p:sp>
        <p:nvSpPr>
          <p:cNvPr id="12" name="Text 10"/>
          <p:cNvSpPr/>
          <p:nvPr/>
        </p:nvSpPr>
        <p:spPr>
          <a:xfrm>
            <a:off x="6766560" y="2176272"/>
            <a:ext cx="822960" cy="82296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E</a:t>
            </a:r>
            <a:endParaRPr lang="en-US" sz="2800" dirty="0"/>
          </a:p>
        </p:txBody>
      </p:sp>
      <p:sp>
        <p:nvSpPr>
          <p:cNvPr id="13" name="Text 11"/>
          <p:cNvSpPr/>
          <p:nvPr/>
        </p:nvSpPr>
        <p:spPr>
          <a:xfrm>
            <a:off x="7726680" y="2240280"/>
            <a:ext cx="3566160" cy="548640"/>
          </a:xfrm>
          <a:prstGeom prst="rect">
            <a:avLst/>
          </a:prstGeom>
          <a:noFill/>
          <a:ln/>
        </p:spPr>
        <p:txBody>
          <a:bodyPr wrap="square" lIns="0" tIns="0" rIns="0" bIns="0" rtlCol="0" anchor="ctr"/>
          <a:lstStyle/>
          <a:p>
            <a:pPr indent="0" marL="0">
              <a:buNone/>
            </a:pPr>
            <a:r>
              <a:rPr lang="en-US" sz="2300" b="1" dirty="0">
                <a:solidFill>
                  <a:srgbClr val="16233A"/>
                </a:solidFill>
                <a:latin typeface="Calibri" pitchFamily="34" charset="0"/>
                <a:ea typeface="Calibri" pitchFamily="34" charset="-122"/>
                <a:cs typeface="Calibri" pitchFamily="34" charset="-120"/>
              </a:rPr>
              <a:t>The Engineer</a:t>
            </a:r>
            <a:endParaRPr lang="en-US" sz="2300" dirty="0"/>
          </a:p>
        </p:txBody>
      </p:sp>
      <p:sp>
        <p:nvSpPr>
          <p:cNvPr id="14" name="Text 12"/>
          <p:cNvSpPr/>
          <p:nvPr/>
        </p:nvSpPr>
        <p:spPr>
          <a:xfrm>
            <a:off x="7726680" y="2743200"/>
            <a:ext cx="3657600" cy="365760"/>
          </a:xfrm>
          <a:prstGeom prst="rect">
            <a:avLst/>
          </a:prstGeom>
          <a:noFill/>
          <a:ln/>
        </p:spPr>
        <p:txBody>
          <a:bodyPr wrap="square" lIns="0" tIns="0" rIns="0" bIns="0" rtlCol="0" anchor="ctr"/>
          <a:lstStyle/>
          <a:p>
            <a:pPr indent="0" marL="0">
              <a:buNone/>
            </a:pPr>
            <a:r>
              <a:rPr lang="en-US" sz="1300" i="1" dirty="0">
                <a:solidFill>
                  <a:srgbClr val="0D9488"/>
                </a:solidFill>
                <a:latin typeface="Calibri" pitchFamily="34" charset="0"/>
                <a:ea typeface="Calibri" pitchFamily="34" charset="-122"/>
                <a:cs typeface="Calibri" pitchFamily="34" charset="-120"/>
              </a:rPr>
              <a:t>Builds tools to solve problems</a:t>
            </a:r>
            <a:endParaRPr lang="en-US" sz="1300" dirty="0"/>
          </a:p>
        </p:txBody>
      </p:sp>
      <p:sp>
        <p:nvSpPr>
          <p:cNvPr id="15" name="Text 13"/>
          <p:cNvSpPr/>
          <p:nvPr/>
        </p:nvSpPr>
        <p:spPr>
          <a:xfrm>
            <a:off x="6812280" y="3291840"/>
            <a:ext cx="4526280" cy="2377440"/>
          </a:xfrm>
          <a:prstGeom prst="rect">
            <a:avLst/>
          </a:prstGeom>
          <a:noFill/>
          <a:ln/>
        </p:spPr>
        <p:txBody>
          <a:bodyPr wrap="square" lIns="0" tIns="0" rIns="0" bIns="0" rtlCol="0" anchor="ctr"/>
          <a:lstStyle/>
          <a:p>
            <a:pPr marL="342900" indent="-342900">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Creates the tools others use</a:t>
            </a:r>
            <a:endParaRPr lang="en-US" sz="1450" dirty="0"/>
          </a:p>
          <a:p>
            <a:pPr marL="342900" indent="-342900">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Writes the runbook — and questions it</a:t>
            </a:r>
            <a:endParaRPr lang="en-US" sz="1450" dirty="0"/>
          </a:p>
          <a:p>
            <a:pPr marL="342900" indent="-342900">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Removes the whole class of problem</a:t>
            </a:r>
            <a:endParaRPr lang="en-US" sz="1450" dirty="0"/>
          </a:p>
          <a:p>
            <a:pPr marL="342900" indent="-342900">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Value travels with them, everywhere</a:t>
            </a:r>
            <a:endParaRPr lang="en-US" sz="1450" dirty="0"/>
          </a:p>
          <a:p>
            <a:pPr marL="342900" indent="-342900">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Asks: "Why does this problem exist?"</a:t>
            </a:r>
            <a:endParaRPr lang="en-US" sz="1450" dirty="0"/>
          </a:p>
        </p:txBody>
      </p:sp>
      <p:sp>
        <p:nvSpPr>
          <p:cNvPr id="17" name="Text 14"/>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From User to Creator  •  Cloud Webinar</a:t>
            </a:r>
            <a:endParaRPr lang="en-US" sz="900" dirty="0"/>
          </a:p>
        </p:txBody>
      </p:sp>
      <p:sp>
        <p:nvSpPr>
          <p:cNvPr id="18" name="Text 15"/>
          <p:cNvSpPr/>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320040"/>
          </a:xfrm>
          <a:prstGeom prst="rect">
            <a:avLst/>
          </a:prstGeom>
          <a:noFill/>
          <a:ln/>
        </p:spPr>
        <p:txBody>
          <a:bodyPr wrap="square" lIns="0" tIns="0" rIns="0" bIns="0" rtlCol="0" anchor="ctr"/>
          <a:lstStyle/>
          <a:p>
            <a:pPr indent="0" marL="0">
              <a:buNone/>
            </a:pPr>
            <a:r>
              <a:rPr lang="en-US" sz="1300" b="1" spc="200" kern="0" dirty="0">
                <a:solidFill>
                  <a:srgbClr val="0D9488"/>
                </a:solidFill>
                <a:latin typeface="Calibri" pitchFamily="34" charset="0"/>
                <a:ea typeface="Calibri" pitchFamily="34" charset="-122"/>
                <a:cs typeface="Calibri" pitchFamily="34" charset="-120"/>
              </a:rPr>
              <a:t>SAME IDEA, IN THE CLOUD</a:t>
            </a:r>
            <a:endParaRPr lang="en-US" sz="1300" dirty="0"/>
          </a:p>
        </p:txBody>
      </p:sp>
      <p:sp>
        <p:nvSpPr>
          <p:cNvPr id="3" name="Text 1"/>
          <p:cNvSpPr/>
          <p:nvPr/>
        </p:nvSpPr>
        <p:spPr>
          <a:xfrm>
            <a:off x="548640" y="713232"/>
            <a:ext cx="11064240" cy="868680"/>
          </a:xfrm>
          <a:prstGeom prst="rect">
            <a:avLst/>
          </a:prstGeom>
          <a:noFill/>
          <a:ln/>
        </p:spPr>
        <p:txBody>
          <a:bodyPr wrap="square" lIns="0" tIns="0" rIns="0" bIns="0" rtlCol="0" anchor="ctr"/>
          <a:lstStyle/>
          <a:p>
            <a:pPr indent="0" marL="0">
              <a:buNone/>
            </a:pPr>
            <a:r>
              <a:rPr lang="en-US" sz="3100" b="1" dirty="0">
                <a:solidFill>
                  <a:srgbClr val="16233A"/>
                </a:solidFill>
                <a:latin typeface="Calibri" pitchFamily="34" charset="0"/>
                <a:ea typeface="Calibri" pitchFamily="34" charset="-122"/>
                <a:cs typeface="Calibri" pitchFamily="34" charset="-120"/>
              </a:rPr>
              <a:t>User vs. Creator</a:t>
            </a:r>
            <a:endParaRPr lang="en-US" sz="3100" dirty="0"/>
          </a:p>
        </p:txBody>
      </p:sp>
      <p:sp>
        <p:nvSpPr>
          <p:cNvPr id="4" name="Text 2"/>
          <p:cNvSpPr/>
          <p:nvPr/>
        </p:nvSpPr>
        <p:spPr>
          <a:xfrm>
            <a:off x="548640" y="1600200"/>
            <a:ext cx="10972800" cy="457200"/>
          </a:xfrm>
          <a:prstGeom prst="rect">
            <a:avLst/>
          </a:prstGeom>
          <a:noFill/>
          <a:ln/>
        </p:spPr>
        <p:txBody>
          <a:bodyPr wrap="square" lIns="0" tIns="0" rIns="0" bIns="0" rtlCol="0" anchor="ctr"/>
          <a:lstStyle/>
          <a:p>
            <a:pPr indent="0" marL="0">
              <a:buNone/>
            </a:pPr>
            <a:r>
              <a:rPr lang="en-US" sz="1500" dirty="0">
                <a:solidFill>
                  <a:srgbClr val="334155"/>
                </a:solidFill>
                <a:latin typeface="Calibri" pitchFamily="34" charset="0"/>
                <a:ea typeface="Calibri" pitchFamily="34" charset="-122"/>
                <a:cs typeface="Calibri" pitchFamily="34" charset="-120"/>
              </a:rPr>
              <a:t>Everyone here is already a power user of the cloud. The leap is small — but it changes everything.</a:t>
            </a:r>
            <a:endParaRPr lang="en-US" sz="1500" dirty="0"/>
          </a:p>
        </p:txBody>
      </p:sp>
      <p:sp>
        <p:nvSpPr>
          <p:cNvPr id="5" name="Text 3"/>
          <p:cNvSpPr/>
          <p:nvPr/>
        </p:nvSpPr>
        <p:spPr>
          <a:xfrm>
            <a:off x="548640" y="1828800"/>
            <a:ext cx="5257800" cy="365760"/>
          </a:xfrm>
          <a:prstGeom prst="rect">
            <a:avLst/>
          </a:prstGeom>
          <a:noFill/>
          <a:ln/>
        </p:spPr>
        <p:txBody>
          <a:bodyPr wrap="square" lIns="0" tIns="0" rIns="0" bIns="0" rtlCol="0" anchor="ctr"/>
          <a:lstStyle/>
          <a:p>
            <a:pPr algn="ctr" indent="0" marL="0">
              <a:buNone/>
            </a:pPr>
            <a:r>
              <a:rPr lang="en-US" sz="1400" b="1" dirty="0">
                <a:solidFill>
                  <a:srgbClr val="64748B"/>
                </a:solidFill>
                <a:latin typeface="Calibri" pitchFamily="34" charset="0"/>
                <a:ea typeface="Calibri" pitchFamily="34" charset="-122"/>
                <a:cs typeface="Calibri" pitchFamily="34" charset="-120"/>
              </a:rPr>
              <a:t>USER</a:t>
            </a:r>
            <a:endParaRPr lang="en-US" sz="1400" dirty="0"/>
          </a:p>
        </p:txBody>
      </p:sp>
      <p:sp>
        <p:nvSpPr>
          <p:cNvPr id="6" name="Text 4"/>
          <p:cNvSpPr/>
          <p:nvPr/>
        </p:nvSpPr>
        <p:spPr>
          <a:xfrm>
            <a:off x="6400800" y="1828800"/>
            <a:ext cx="5257800" cy="365760"/>
          </a:xfrm>
          <a:prstGeom prst="rect">
            <a:avLst/>
          </a:prstGeom>
          <a:noFill/>
          <a:ln/>
        </p:spPr>
        <p:txBody>
          <a:bodyPr wrap="square" lIns="0" tIns="0" rIns="0" bIns="0" rtlCol="0" anchor="ctr"/>
          <a:lstStyle/>
          <a:p>
            <a:pPr algn="ctr" indent="0" marL="0">
              <a:buNone/>
            </a:pPr>
            <a:r>
              <a:rPr lang="en-US" sz="1400" b="1" dirty="0">
                <a:solidFill>
                  <a:srgbClr val="0D9488"/>
                </a:solidFill>
                <a:latin typeface="Calibri" pitchFamily="34" charset="0"/>
                <a:ea typeface="Calibri" pitchFamily="34" charset="-122"/>
                <a:cs typeface="Calibri" pitchFamily="34" charset="-120"/>
              </a:rPr>
              <a:t>CREATOR</a:t>
            </a:r>
            <a:endParaRPr lang="en-US" sz="1400" dirty="0"/>
          </a:p>
        </p:txBody>
      </p:sp>
      <p:sp>
        <p:nvSpPr>
          <p:cNvPr id="7" name="Shape 5"/>
          <p:cNvSpPr/>
          <p:nvPr/>
        </p:nvSpPr>
        <p:spPr>
          <a:xfrm>
            <a:off x="548640" y="2331720"/>
            <a:ext cx="5257800" cy="868680"/>
          </a:xfrm>
          <a:prstGeom prst="roundRect">
            <a:avLst>
              <a:gd name="adj" fmla="val 9474"/>
            </a:avLst>
          </a:prstGeom>
          <a:solidFill>
            <a:srgbClr val="F1F5F9"/>
          </a:solidFill>
          <a:ln/>
          <a:effectLst>
            <a:outerShdw sx="100000" sy="100000" kx="0" ky="0" algn="bl" rotWithShape="0" blurRad="114300" dist="38100" dir="5400000">
              <a:srgbClr val="0A1F3C">
                <a:alpha val="16000"/>
              </a:srgbClr>
            </a:outerShdw>
          </a:effectLst>
        </p:spPr>
      </p:sp>
      <p:sp>
        <p:nvSpPr>
          <p:cNvPr id="8" name="Text 6"/>
          <p:cNvSpPr/>
          <p:nvPr/>
        </p:nvSpPr>
        <p:spPr>
          <a:xfrm>
            <a:off x="777240" y="2331720"/>
            <a:ext cx="4800600" cy="868680"/>
          </a:xfrm>
          <a:prstGeom prst="rect">
            <a:avLst/>
          </a:prstGeom>
          <a:noFill/>
          <a:ln/>
        </p:spPr>
        <p:txBody>
          <a:bodyPr wrap="square" lIns="0" tIns="0" rIns="0" bIns="0" rtlCol="0" anchor="ctr"/>
          <a:lstStyle/>
          <a:p>
            <a:pPr indent="0" marL="0">
              <a:buNone/>
            </a:pPr>
            <a:r>
              <a:rPr lang="en-US" sz="1500" dirty="0">
                <a:solidFill>
                  <a:srgbClr val="334155"/>
                </a:solidFill>
                <a:latin typeface="Calibri" pitchFamily="34" charset="0"/>
                <a:ea typeface="Calibri" pitchFamily="34" charset="-122"/>
                <a:cs typeface="Calibri" pitchFamily="34" charset="-120"/>
              </a:rPr>
              <a:t>Consumes services</a:t>
            </a:r>
            <a:endParaRPr lang="en-US" sz="1500" dirty="0"/>
          </a:p>
        </p:txBody>
      </p:sp>
      <p:sp>
        <p:nvSpPr>
          <p:cNvPr id="9" name="Shape 7"/>
          <p:cNvSpPr/>
          <p:nvPr/>
        </p:nvSpPr>
        <p:spPr>
          <a:xfrm>
            <a:off x="5897880" y="2564892"/>
            <a:ext cx="402336" cy="402336"/>
          </a:xfrm>
          <a:prstGeom prst="ellipse">
            <a:avLst/>
          </a:prstGeom>
          <a:solidFill>
            <a:srgbClr val="14B8A6"/>
          </a:solidFill>
          <a:ln/>
        </p:spPr>
      </p:sp>
      <p:sp>
        <p:nvSpPr>
          <p:cNvPr id="10" name="Text 8"/>
          <p:cNvSpPr/>
          <p:nvPr/>
        </p:nvSpPr>
        <p:spPr>
          <a:xfrm>
            <a:off x="5897880" y="2564892"/>
            <a:ext cx="402336" cy="402336"/>
          </a:xfrm>
          <a:prstGeom prst="rect">
            <a:avLst/>
          </a:prstGeom>
          <a:noFill/>
          <a:ln/>
        </p:spPr>
        <p:txBody>
          <a:bodyPr wrap="square" lIns="0" tIns="0" rIns="0" bIns="0" rtlCol="0" anchor="ctr"/>
          <a:lstStyle/>
          <a:p>
            <a:pPr algn="ctr" indent="0" marL="0">
              <a:buNone/>
            </a:pPr>
            <a:r>
              <a:rPr lang="en-US" sz="1600" b="1" dirty="0">
                <a:solidFill>
                  <a:srgbClr val="0A1F3C"/>
                </a:solidFill>
                <a:latin typeface="Calibri" pitchFamily="34" charset="0"/>
                <a:ea typeface="Calibri" pitchFamily="34" charset="-122"/>
                <a:cs typeface="Calibri" pitchFamily="34" charset="-120"/>
              </a:rPr>
              <a:t>→</a:t>
            </a:r>
            <a:endParaRPr lang="en-US" sz="1600" dirty="0"/>
          </a:p>
        </p:txBody>
      </p:sp>
      <p:sp>
        <p:nvSpPr>
          <p:cNvPr id="11" name="Shape 9"/>
          <p:cNvSpPr/>
          <p:nvPr/>
        </p:nvSpPr>
        <p:spPr>
          <a:xfrm>
            <a:off x="6400800" y="2331720"/>
            <a:ext cx="5257800" cy="868680"/>
          </a:xfrm>
          <a:prstGeom prst="roundRect">
            <a:avLst>
              <a:gd name="adj" fmla="val 9474"/>
            </a:avLst>
          </a:prstGeom>
          <a:solidFill>
            <a:srgbClr val="ECFDF5"/>
          </a:solidFill>
          <a:ln/>
          <a:effectLst>
            <a:outerShdw sx="100000" sy="100000" kx="0" ky="0" algn="bl" rotWithShape="0" blurRad="114300" dist="38100" dir="5400000">
              <a:srgbClr val="0A1F3C">
                <a:alpha val="16000"/>
              </a:srgbClr>
            </a:outerShdw>
          </a:effectLst>
        </p:spPr>
      </p:sp>
      <p:sp>
        <p:nvSpPr>
          <p:cNvPr id="12" name="Text 10"/>
          <p:cNvSpPr/>
          <p:nvPr/>
        </p:nvSpPr>
        <p:spPr>
          <a:xfrm>
            <a:off x="6629400" y="2331720"/>
            <a:ext cx="4800600" cy="868680"/>
          </a:xfrm>
          <a:prstGeom prst="rect">
            <a:avLst/>
          </a:prstGeom>
          <a:noFill/>
          <a:ln/>
        </p:spPr>
        <p:txBody>
          <a:bodyPr wrap="square" lIns="0" tIns="0" rIns="0" bIns="0" rtlCol="0" anchor="ctr"/>
          <a:lstStyle/>
          <a:p>
            <a:pPr indent="0" marL="0">
              <a:buNone/>
            </a:pPr>
            <a:r>
              <a:rPr lang="en-US" sz="1500" b="1" dirty="0">
                <a:solidFill>
                  <a:srgbClr val="16233A"/>
                </a:solidFill>
                <a:latin typeface="Calibri" pitchFamily="34" charset="0"/>
                <a:ea typeface="Calibri" pitchFamily="34" charset="-122"/>
                <a:cs typeface="Calibri" pitchFamily="34" charset="-120"/>
              </a:rPr>
              <a:t>Builds things others depend on</a:t>
            </a:r>
            <a:endParaRPr lang="en-US" sz="1500" dirty="0"/>
          </a:p>
        </p:txBody>
      </p:sp>
      <p:sp>
        <p:nvSpPr>
          <p:cNvPr id="13" name="Shape 11"/>
          <p:cNvSpPr/>
          <p:nvPr/>
        </p:nvSpPr>
        <p:spPr>
          <a:xfrm>
            <a:off x="548640" y="3310128"/>
            <a:ext cx="5257800" cy="868680"/>
          </a:xfrm>
          <a:prstGeom prst="roundRect">
            <a:avLst>
              <a:gd name="adj" fmla="val 9474"/>
            </a:avLst>
          </a:prstGeom>
          <a:solidFill>
            <a:srgbClr val="F1F5F9"/>
          </a:solidFill>
          <a:ln/>
          <a:effectLst>
            <a:outerShdw sx="100000" sy="100000" kx="0" ky="0" algn="bl" rotWithShape="0" blurRad="114300" dist="38100" dir="5400000">
              <a:srgbClr val="0A1F3C">
                <a:alpha val="16000"/>
              </a:srgbClr>
            </a:outerShdw>
          </a:effectLst>
        </p:spPr>
      </p:sp>
      <p:sp>
        <p:nvSpPr>
          <p:cNvPr id="14" name="Text 12"/>
          <p:cNvSpPr/>
          <p:nvPr/>
        </p:nvSpPr>
        <p:spPr>
          <a:xfrm>
            <a:off x="777240" y="3310128"/>
            <a:ext cx="4800600" cy="868680"/>
          </a:xfrm>
          <a:prstGeom prst="rect">
            <a:avLst/>
          </a:prstGeom>
          <a:noFill/>
          <a:ln/>
        </p:spPr>
        <p:txBody>
          <a:bodyPr wrap="square" lIns="0" tIns="0" rIns="0" bIns="0" rtlCol="0" anchor="ctr"/>
          <a:lstStyle/>
          <a:p>
            <a:pPr indent="0" marL="0">
              <a:buNone/>
            </a:pPr>
            <a:r>
              <a:rPr lang="en-US" sz="1500" dirty="0">
                <a:solidFill>
                  <a:srgbClr val="334155"/>
                </a:solidFill>
                <a:latin typeface="Calibri" pitchFamily="34" charset="0"/>
                <a:ea typeface="Calibri" pitchFamily="34" charset="-122"/>
                <a:cs typeface="Calibri" pitchFamily="34" charset="-120"/>
              </a:rPr>
              <a:t>Reads the AWS docs</a:t>
            </a:r>
            <a:endParaRPr lang="en-US" sz="1500" dirty="0"/>
          </a:p>
        </p:txBody>
      </p:sp>
      <p:sp>
        <p:nvSpPr>
          <p:cNvPr id="15" name="Shape 13"/>
          <p:cNvSpPr/>
          <p:nvPr/>
        </p:nvSpPr>
        <p:spPr>
          <a:xfrm>
            <a:off x="5897880" y="3543300"/>
            <a:ext cx="402336" cy="402336"/>
          </a:xfrm>
          <a:prstGeom prst="ellipse">
            <a:avLst/>
          </a:prstGeom>
          <a:solidFill>
            <a:srgbClr val="14B8A6"/>
          </a:solidFill>
          <a:ln/>
        </p:spPr>
      </p:sp>
      <p:sp>
        <p:nvSpPr>
          <p:cNvPr id="16" name="Text 14"/>
          <p:cNvSpPr/>
          <p:nvPr/>
        </p:nvSpPr>
        <p:spPr>
          <a:xfrm>
            <a:off x="5897880" y="3543300"/>
            <a:ext cx="402336" cy="402336"/>
          </a:xfrm>
          <a:prstGeom prst="rect">
            <a:avLst/>
          </a:prstGeom>
          <a:noFill/>
          <a:ln/>
        </p:spPr>
        <p:txBody>
          <a:bodyPr wrap="square" lIns="0" tIns="0" rIns="0" bIns="0" rtlCol="0" anchor="ctr"/>
          <a:lstStyle/>
          <a:p>
            <a:pPr algn="ctr" indent="0" marL="0">
              <a:buNone/>
            </a:pPr>
            <a:r>
              <a:rPr lang="en-US" sz="1600" b="1" dirty="0">
                <a:solidFill>
                  <a:srgbClr val="0A1F3C"/>
                </a:solidFill>
                <a:latin typeface="Calibri" pitchFamily="34" charset="0"/>
                <a:ea typeface="Calibri" pitchFamily="34" charset="-122"/>
                <a:cs typeface="Calibri" pitchFamily="34" charset="-120"/>
              </a:rPr>
              <a:t>→</a:t>
            </a:r>
            <a:endParaRPr lang="en-US" sz="1600" dirty="0"/>
          </a:p>
        </p:txBody>
      </p:sp>
      <p:sp>
        <p:nvSpPr>
          <p:cNvPr id="17" name="Shape 15"/>
          <p:cNvSpPr/>
          <p:nvPr/>
        </p:nvSpPr>
        <p:spPr>
          <a:xfrm>
            <a:off x="6400800" y="3310128"/>
            <a:ext cx="5257800" cy="868680"/>
          </a:xfrm>
          <a:prstGeom prst="roundRect">
            <a:avLst>
              <a:gd name="adj" fmla="val 9474"/>
            </a:avLst>
          </a:prstGeom>
          <a:solidFill>
            <a:srgbClr val="ECFDF5"/>
          </a:solidFill>
          <a:ln/>
          <a:effectLst>
            <a:outerShdw sx="100000" sy="100000" kx="0" ky="0" algn="bl" rotWithShape="0" blurRad="114300" dist="38100" dir="5400000">
              <a:srgbClr val="0A1F3C">
                <a:alpha val="16000"/>
              </a:srgbClr>
            </a:outerShdw>
          </a:effectLst>
        </p:spPr>
      </p:sp>
      <p:sp>
        <p:nvSpPr>
          <p:cNvPr id="18" name="Text 16"/>
          <p:cNvSpPr/>
          <p:nvPr/>
        </p:nvSpPr>
        <p:spPr>
          <a:xfrm>
            <a:off x="6629400" y="3310128"/>
            <a:ext cx="4800600" cy="868680"/>
          </a:xfrm>
          <a:prstGeom prst="rect">
            <a:avLst/>
          </a:prstGeom>
          <a:noFill/>
          <a:ln/>
        </p:spPr>
        <p:txBody>
          <a:bodyPr wrap="square" lIns="0" tIns="0" rIns="0" bIns="0" rtlCol="0" anchor="ctr"/>
          <a:lstStyle/>
          <a:p>
            <a:pPr indent="0" marL="0">
              <a:buNone/>
            </a:pPr>
            <a:r>
              <a:rPr lang="en-US" sz="1500" b="1" dirty="0">
                <a:solidFill>
                  <a:srgbClr val="16233A"/>
                </a:solidFill>
                <a:latin typeface="Calibri" pitchFamily="34" charset="0"/>
                <a:ea typeface="Calibri" pitchFamily="34" charset="-122"/>
                <a:cs typeface="Calibri" pitchFamily="34" charset="-120"/>
              </a:rPr>
              <a:t>Writes the tool the docs are missing</a:t>
            </a:r>
            <a:endParaRPr lang="en-US" sz="1500" dirty="0"/>
          </a:p>
        </p:txBody>
      </p:sp>
      <p:sp>
        <p:nvSpPr>
          <p:cNvPr id="19" name="Shape 17"/>
          <p:cNvSpPr/>
          <p:nvPr/>
        </p:nvSpPr>
        <p:spPr>
          <a:xfrm>
            <a:off x="548640" y="4288536"/>
            <a:ext cx="5257800" cy="868680"/>
          </a:xfrm>
          <a:prstGeom prst="roundRect">
            <a:avLst>
              <a:gd name="adj" fmla="val 9474"/>
            </a:avLst>
          </a:prstGeom>
          <a:solidFill>
            <a:srgbClr val="F1F5F9"/>
          </a:solidFill>
          <a:ln/>
          <a:effectLst>
            <a:outerShdw sx="100000" sy="100000" kx="0" ky="0" algn="bl" rotWithShape="0" blurRad="114300" dist="38100" dir="5400000">
              <a:srgbClr val="0A1F3C">
                <a:alpha val="16000"/>
              </a:srgbClr>
            </a:outerShdw>
          </a:effectLst>
        </p:spPr>
      </p:sp>
      <p:sp>
        <p:nvSpPr>
          <p:cNvPr id="20" name="Text 18"/>
          <p:cNvSpPr/>
          <p:nvPr/>
        </p:nvSpPr>
        <p:spPr>
          <a:xfrm>
            <a:off x="777240" y="4288536"/>
            <a:ext cx="4800600" cy="868680"/>
          </a:xfrm>
          <a:prstGeom prst="rect">
            <a:avLst/>
          </a:prstGeom>
          <a:noFill/>
          <a:ln/>
        </p:spPr>
        <p:txBody>
          <a:bodyPr wrap="square" lIns="0" tIns="0" rIns="0" bIns="0" rtlCol="0" anchor="ctr"/>
          <a:lstStyle/>
          <a:p>
            <a:pPr indent="0" marL="0">
              <a:buNone/>
            </a:pPr>
            <a:r>
              <a:rPr lang="en-US" sz="1500" dirty="0">
                <a:solidFill>
                  <a:srgbClr val="334155"/>
                </a:solidFill>
                <a:latin typeface="Calibri" pitchFamily="34" charset="0"/>
                <a:ea typeface="Calibri" pitchFamily="34" charset="-122"/>
                <a:cs typeface="Calibri" pitchFamily="34" charset="-120"/>
              </a:rPr>
              <a:t>Has skills in a private repo</a:t>
            </a:r>
            <a:endParaRPr lang="en-US" sz="1500" dirty="0"/>
          </a:p>
        </p:txBody>
      </p:sp>
      <p:sp>
        <p:nvSpPr>
          <p:cNvPr id="21" name="Shape 19"/>
          <p:cNvSpPr/>
          <p:nvPr/>
        </p:nvSpPr>
        <p:spPr>
          <a:xfrm>
            <a:off x="5897880" y="4521708"/>
            <a:ext cx="402336" cy="402336"/>
          </a:xfrm>
          <a:prstGeom prst="ellipse">
            <a:avLst/>
          </a:prstGeom>
          <a:solidFill>
            <a:srgbClr val="14B8A6"/>
          </a:solidFill>
          <a:ln/>
        </p:spPr>
      </p:sp>
      <p:sp>
        <p:nvSpPr>
          <p:cNvPr id="22" name="Text 20"/>
          <p:cNvSpPr/>
          <p:nvPr/>
        </p:nvSpPr>
        <p:spPr>
          <a:xfrm>
            <a:off x="5897880" y="4521708"/>
            <a:ext cx="402336" cy="402336"/>
          </a:xfrm>
          <a:prstGeom prst="rect">
            <a:avLst/>
          </a:prstGeom>
          <a:noFill/>
          <a:ln/>
        </p:spPr>
        <p:txBody>
          <a:bodyPr wrap="square" lIns="0" tIns="0" rIns="0" bIns="0" rtlCol="0" anchor="ctr"/>
          <a:lstStyle/>
          <a:p>
            <a:pPr algn="ctr" indent="0" marL="0">
              <a:buNone/>
            </a:pPr>
            <a:r>
              <a:rPr lang="en-US" sz="1600" b="1" dirty="0">
                <a:solidFill>
                  <a:srgbClr val="0A1F3C"/>
                </a:solidFill>
                <a:latin typeface="Calibri" pitchFamily="34" charset="0"/>
                <a:ea typeface="Calibri" pitchFamily="34" charset="-122"/>
                <a:cs typeface="Calibri" pitchFamily="34" charset="-120"/>
              </a:rPr>
              <a:t>→</a:t>
            </a:r>
            <a:endParaRPr lang="en-US" sz="1600" dirty="0"/>
          </a:p>
        </p:txBody>
      </p:sp>
      <p:sp>
        <p:nvSpPr>
          <p:cNvPr id="23" name="Shape 21"/>
          <p:cNvSpPr/>
          <p:nvPr/>
        </p:nvSpPr>
        <p:spPr>
          <a:xfrm>
            <a:off x="6400800" y="4288536"/>
            <a:ext cx="5257800" cy="868680"/>
          </a:xfrm>
          <a:prstGeom prst="roundRect">
            <a:avLst>
              <a:gd name="adj" fmla="val 9474"/>
            </a:avLst>
          </a:prstGeom>
          <a:solidFill>
            <a:srgbClr val="ECFDF5"/>
          </a:solidFill>
          <a:ln/>
          <a:effectLst>
            <a:outerShdw sx="100000" sy="100000" kx="0" ky="0" algn="bl" rotWithShape="0" blurRad="114300" dist="38100" dir="5400000">
              <a:srgbClr val="0A1F3C">
                <a:alpha val="16000"/>
              </a:srgbClr>
            </a:outerShdw>
          </a:effectLst>
        </p:spPr>
      </p:sp>
      <p:sp>
        <p:nvSpPr>
          <p:cNvPr id="24" name="Text 22"/>
          <p:cNvSpPr/>
          <p:nvPr/>
        </p:nvSpPr>
        <p:spPr>
          <a:xfrm>
            <a:off x="6629400" y="4288536"/>
            <a:ext cx="4800600" cy="868680"/>
          </a:xfrm>
          <a:prstGeom prst="rect">
            <a:avLst/>
          </a:prstGeom>
          <a:noFill/>
          <a:ln/>
        </p:spPr>
        <p:txBody>
          <a:bodyPr wrap="square" lIns="0" tIns="0" rIns="0" bIns="0" rtlCol="0" anchor="ctr"/>
          <a:lstStyle/>
          <a:p>
            <a:pPr indent="0" marL="0">
              <a:buNone/>
            </a:pPr>
            <a:r>
              <a:rPr lang="en-US" sz="1500" b="1" dirty="0">
                <a:solidFill>
                  <a:srgbClr val="16233A"/>
                </a:solidFill>
                <a:latin typeface="Calibri" pitchFamily="34" charset="0"/>
                <a:ea typeface="Calibri" pitchFamily="34" charset="-122"/>
                <a:cs typeface="Calibri" pitchFamily="34" charset="-120"/>
              </a:rPr>
              <a:t>Has proof in a public repo</a:t>
            </a:r>
            <a:endParaRPr lang="en-US" sz="1500" dirty="0"/>
          </a:p>
        </p:txBody>
      </p:sp>
      <p:sp>
        <p:nvSpPr>
          <p:cNvPr id="25" name="Shape 23"/>
          <p:cNvSpPr/>
          <p:nvPr/>
        </p:nvSpPr>
        <p:spPr>
          <a:xfrm>
            <a:off x="548640" y="5266944"/>
            <a:ext cx="5257800" cy="868680"/>
          </a:xfrm>
          <a:prstGeom prst="roundRect">
            <a:avLst>
              <a:gd name="adj" fmla="val 9474"/>
            </a:avLst>
          </a:prstGeom>
          <a:solidFill>
            <a:srgbClr val="F1F5F9"/>
          </a:solidFill>
          <a:ln/>
          <a:effectLst>
            <a:outerShdw sx="100000" sy="100000" kx="0" ky="0" algn="bl" rotWithShape="0" blurRad="114300" dist="38100" dir="5400000">
              <a:srgbClr val="0A1F3C">
                <a:alpha val="16000"/>
              </a:srgbClr>
            </a:outerShdw>
          </a:effectLst>
        </p:spPr>
      </p:sp>
      <p:sp>
        <p:nvSpPr>
          <p:cNvPr id="26" name="Text 24"/>
          <p:cNvSpPr/>
          <p:nvPr/>
        </p:nvSpPr>
        <p:spPr>
          <a:xfrm>
            <a:off x="777240" y="5266944"/>
            <a:ext cx="4800600" cy="868680"/>
          </a:xfrm>
          <a:prstGeom prst="rect">
            <a:avLst/>
          </a:prstGeom>
          <a:noFill/>
          <a:ln/>
        </p:spPr>
        <p:txBody>
          <a:bodyPr wrap="square" lIns="0" tIns="0" rIns="0" bIns="0" rtlCol="0" anchor="ctr"/>
          <a:lstStyle/>
          <a:p>
            <a:pPr indent="0" marL="0">
              <a:buNone/>
            </a:pPr>
            <a:r>
              <a:rPr lang="en-US" sz="1500" dirty="0">
                <a:solidFill>
                  <a:srgbClr val="334155"/>
                </a:solidFill>
                <a:latin typeface="Calibri" pitchFamily="34" charset="0"/>
                <a:ea typeface="Calibri" pitchFamily="34" charset="-122"/>
                <a:cs typeface="Calibri" pitchFamily="34" charset="-120"/>
              </a:rPr>
              <a:t>Visible to one employer</a:t>
            </a:r>
            <a:endParaRPr lang="en-US" sz="1500" dirty="0"/>
          </a:p>
        </p:txBody>
      </p:sp>
      <p:sp>
        <p:nvSpPr>
          <p:cNvPr id="27" name="Shape 25"/>
          <p:cNvSpPr/>
          <p:nvPr/>
        </p:nvSpPr>
        <p:spPr>
          <a:xfrm>
            <a:off x="5897880" y="5500116"/>
            <a:ext cx="402336" cy="402336"/>
          </a:xfrm>
          <a:prstGeom prst="ellipse">
            <a:avLst/>
          </a:prstGeom>
          <a:solidFill>
            <a:srgbClr val="14B8A6"/>
          </a:solidFill>
          <a:ln/>
        </p:spPr>
      </p:sp>
      <p:sp>
        <p:nvSpPr>
          <p:cNvPr id="28" name="Text 26"/>
          <p:cNvSpPr/>
          <p:nvPr/>
        </p:nvSpPr>
        <p:spPr>
          <a:xfrm>
            <a:off x="5897880" y="5500116"/>
            <a:ext cx="402336" cy="402336"/>
          </a:xfrm>
          <a:prstGeom prst="rect">
            <a:avLst/>
          </a:prstGeom>
          <a:noFill/>
          <a:ln/>
        </p:spPr>
        <p:txBody>
          <a:bodyPr wrap="square" lIns="0" tIns="0" rIns="0" bIns="0" rtlCol="0" anchor="ctr"/>
          <a:lstStyle/>
          <a:p>
            <a:pPr algn="ctr" indent="0" marL="0">
              <a:buNone/>
            </a:pPr>
            <a:r>
              <a:rPr lang="en-US" sz="1600" b="1" dirty="0">
                <a:solidFill>
                  <a:srgbClr val="0A1F3C"/>
                </a:solidFill>
                <a:latin typeface="Calibri" pitchFamily="34" charset="0"/>
                <a:ea typeface="Calibri" pitchFamily="34" charset="-122"/>
                <a:cs typeface="Calibri" pitchFamily="34" charset="-120"/>
              </a:rPr>
              <a:t>→</a:t>
            </a:r>
            <a:endParaRPr lang="en-US" sz="1600" dirty="0"/>
          </a:p>
        </p:txBody>
      </p:sp>
      <p:sp>
        <p:nvSpPr>
          <p:cNvPr id="29" name="Shape 27"/>
          <p:cNvSpPr/>
          <p:nvPr/>
        </p:nvSpPr>
        <p:spPr>
          <a:xfrm>
            <a:off x="6400800" y="5266944"/>
            <a:ext cx="5257800" cy="868680"/>
          </a:xfrm>
          <a:prstGeom prst="roundRect">
            <a:avLst>
              <a:gd name="adj" fmla="val 9474"/>
            </a:avLst>
          </a:prstGeom>
          <a:solidFill>
            <a:srgbClr val="ECFDF5"/>
          </a:solidFill>
          <a:ln/>
          <a:effectLst>
            <a:outerShdw sx="100000" sy="100000" kx="0" ky="0" algn="bl" rotWithShape="0" blurRad="114300" dist="38100" dir="5400000">
              <a:srgbClr val="0A1F3C">
                <a:alpha val="16000"/>
              </a:srgbClr>
            </a:outerShdw>
          </a:effectLst>
        </p:spPr>
      </p:sp>
      <p:sp>
        <p:nvSpPr>
          <p:cNvPr id="30" name="Text 28"/>
          <p:cNvSpPr/>
          <p:nvPr/>
        </p:nvSpPr>
        <p:spPr>
          <a:xfrm>
            <a:off x="6629400" y="5266944"/>
            <a:ext cx="4800600" cy="868680"/>
          </a:xfrm>
          <a:prstGeom prst="rect">
            <a:avLst/>
          </a:prstGeom>
          <a:noFill/>
          <a:ln/>
        </p:spPr>
        <p:txBody>
          <a:bodyPr wrap="square" lIns="0" tIns="0" rIns="0" bIns="0" rtlCol="0" anchor="ctr"/>
          <a:lstStyle/>
          <a:p>
            <a:pPr indent="0" marL="0">
              <a:buNone/>
            </a:pPr>
            <a:r>
              <a:rPr lang="en-US" sz="1500" b="1" dirty="0">
                <a:solidFill>
                  <a:srgbClr val="16233A"/>
                </a:solidFill>
                <a:latin typeface="Calibri" pitchFamily="34" charset="0"/>
                <a:ea typeface="Calibri" pitchFamily="34" charset="-122"/>
                <a:cs typeface="Calibri" pitchFamily="34" charset="-120"/>
              </a:rPr>
              <a:t>Visible to the whole ecosystem</a:t>
            </a:r>
            <a:endParaRPr lang="en-US" sz="1500" dirty="0"/>
          </a:p>
        </p:txBody>
      </p:sp>
      <p:sp>
        <p:nvSpPr>
          <p:cNvPr id="32" name="Text 29"/>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From User to Creator  •  Cloud Webinar</a:t>
            </a:r>
            <a:endParaRPr lang="en-US" sz="900" dirty="0"/>
          </a:p>
        </p:txBody>
      </p:sp>
      <p:sp>
        <p:nvSpPr>
          <p:cNvPr id="33" name="Text 30"/>
          <p:cNvSpPr/>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320040"/>
          </a:xfrm>
          <a:prstGeom prst="rect">
            <a:avLst/>
          </a:prstGeom>
          <a:noFill/>
          <a:ln/>
        </p:spPr>
        <p:txBody>
          <a:bodyPr wrap="square" lIns="0" tIns="0" rIns="0" bIns="0" rtlCol="0" anchor="ctr"/>
          <a:lstStyle/>
          <a:p>
            <a:pPr indent="0" marL="0">
              <a:buNone/>
            </a:pPr>
            <a:r>
              <a:rPr lang="en-US" sz="1300" b="1" spc="200" kern="0" dirty="0">
                <a:solidFill>
                  <a:srgbClr val="0D9488"/>
                </a:solidFill>
                <a:latin typeface="Calibri" pitchFamily="34" charset="0"/>
                <a:ea typeface="Calibri" pitchFamily="34" charset="-122"/>
                <a:cs typeface="Calibri" pitchFamily="34" charset="-120"/>
              </a:rPr>
              <a:t>HOW CREATORS ARE MADE</a:t>
            </a:r>
            <a:endParaRPr lang="en-US" sz="1300" dirty="0"/>
          </a:p>
        </p:txBody>
      </p:sp>
      <p:sp>
        <p:nvSpPr>
          <p:cNvPr id="3" name="Text 1"/>
          <p:cNvSpPr/>
          <p:nvPr/>
        </p:nvSpPr>
        <p:spPr>
          <a:xfrm>
            <a:off x="548640" y="713232"/>
            <a:ext cx="11064240" cy="868680"/>
          </a:xfrm>
          <a:prstGeom prst="rect">
            <a:avLst/>
          </a:prstGeom>
          <a:noFill/>
          <a:ln/>
        </p:spPr>
        <p:txBody>
          <a:bodyPr wrap="square" lIns="0" tIns="0" rIns="0" bIns="0" rtlCol="0" anchor="ctr"/>
          <a:lstStyle/>
          <a:p>
            <a:pPr indent="0" marL="0">
              <a:buNone/>
            </a:pPr>
            <a:r>
              <a:rPr lang="en-US" sz="3100" b="1" dirty="0">
                <a:solidFill>
                  <a:srgbClr val="16233A"/>
                </a:solidFill>
                <a:latin typeface="Calibri" pitchFamily="34" charset="0"/>
                <a:ea typeface="Calibri" pitchFamily="34" charset="-122"/>
                <a:cs typeface="Calibri" pitchFamily="34" charset="-120"/>
              </a:rPr>
              <a:t>The shift: notice → own → ship</a:t>
            </a:r>
            <a:endParaRPr lang="en-US" sz="3100" dirty="0"/>
          </a:p>
        </p:txBody>
      </p:sp>
      <p:sp>
        <p:nvSpPr>
          <p:cNvPr id="4" name="Shape 2"/>
          <p:cNvSpPr/>
          <p:nvPr/>
        </p:nvSpPr>
        <p:spPr>
          <a:xfrm>
            <a:off x="548640" y="2103120"/>
            <a:ext cx="2697480" cy="2834640"/>
          </a:xfrm>
          <a:prstGeom prst="roundRect">
            <a:avLst>
              <a:gd name="adj" fmla="val 3051"/>
            </a:avLst>
          </a:prstGeom>
          <a:solidFill>
            <a:srgbClr val="F1F5F9"/>
          </a:solidFill>
          <a:ln/>
          <a:effectLst>
            <a:outerShdw sx="100000" sy="100000" kx="0" ky="0" algn="bl" rotWithShape="0" blurRad="114300" dist="38100" dir="5400000">
              <a:srgbClr val="0A1F3C">
                <a:alpha val="16000"/>
              </a:srgbClr>
            </a:outerShdw>
          </a:effectLst>
        </p:spPr>
      </p:sp>
      <p:sp>
        <p:nvSpPr>
          <p:cNvPr id="5" name="Shape 3"/>
          <p:cNvSpPr/>
          <p:nvPr/>
        </p:nvSpPr>
        <p:spPr>
          <a:xfrm>
            <a:off x="1440180" y="2423160"/>
            <a:ext cx="914400" cy="914400"/>
          </a:xfrm>
          <a:prstGeom prst="ellipse">
            <a:avLst/>
          </a:prstGeom>
          <a:solidFill>
            <a:srgbClr val="0D9488"/>
          </a:solidFill>
          <a:ln/>
        </p:spPr>
      </p:sp>
      <p:sp>
        <p:nvSpPr>
          <p:cNvPr id="6" name="Text 4"/>
          <p:cNvSpPr/>
          <p:nvPr/>
        </p:nvSpPr>
        <p:spPr>
          <a:xfrm>
            <a:off x="1440180" y="2423160"/>
            <a:ext cx="914400" cy="91440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1</a:t>
            </a:r>
            <a:endParaRPr lang="en-US" sz="2600" dirty="0"/>
          </a:p>
        </p:txBody>
      </p:sp>
      <p:sp>
        <p:nvSpPr>
          <p:cNvPr id="7" name="Text 5"/>
          <p:cNvSpPr/>
          <p:nvPr/>
        </p:nvSpPr>
        <p:spPr>
          <a:xfrm>
            <a:off x="548640" y="3474720"/>
            <a:ext cx="2697480" cy="457200"/>
          </a:xfrm>
          <a:prstGeom prst="rect">
            <a:avLst/>
          </a:prstGeom>
          <a:noFill/>
          <a:ln/>
        </p:spPr>
        <p:txBody>
          <a:bodyPr wrap="square" lIns="0" tIns="0" rIns="0" bIns="0" rtlCol="0" anchor="ctr"/>
          <a:lstStyle/>
          <a:p>
            <a:pPr algn="ctr" indent="0" marL="0">
              <a:buNone/>
            </a:pPr>
            <a:r>
              <a:rPr lang="en-US" sz="1900" b="1" dirty="0">
                <a:solidFill>
                  <a:srgbClr val="16233A"/>
                </a:solidFill>
                <a:latin typeface="Calibri" pitchFamily="34" charset="0"/>
                <a:ea typeface="Calibri" pitchFamily="34" charset="-122"/>
                <a:cs typeface="Calibri" pitchFamily="34" charset="-120"/>
              </a:rPr>
              <a:t>Notice</a:t>
            </a:r>
            <a:endParaRPr lang="en-US" sz="1900" dirty="0"/>
          </a:p>
        </p:txBody>
      </p:sp>
      <p:sp>
        <p:nvSpPr>
          <p:cNvPr id="8" name="Text 6"/>
          <p:cNvSpPr/>
          <p:nvPr/>
        </p:nvSpPr>
        <p:spPr>
          <a:xfrm>
            <a:off x="777240" y="3977640"/>
            <a:ext cx="2240280" cy="868680"/>
          </a:xfrm>
          <a:prstGeom prst="rect">
            <a:avLst/>
          </a:prstGeom>
          <a:noFill/>
          <a:ln/>
        </p:spPr>
        <p:txBody>
          <a:bodyPr wrap="square" lIns="0" tIns="0" rIns="0" bIns="0" rtlCol="0" anchor="ctr"/>
          <a:lstStyle/>
          <a:p>
            <a:pPr algn="ctr" indent="0" marL="0">
              <a:buNone/>
            </a:pPr>
            <a:r>
              <a:rPr lang="en-US" sz="1250" dirty="0">
                <a:solidFill>
                  <a:srgbClr val="334155"/>
                </a:solidFill>
                <a:latin typeface="Calibri" pitchFamily="34" charset="0"/>
                <a:ea typeface="Calibri" pitchFamily="34" charset="-122"/>
                <a:cs typeface="Calibri" pitchFamily="34" charset="-120"/>
              </a:rPr>
              <a:t>A small, repeated, annoying problem in your daily cloud work.</a:t>
            </a:r>
            <a:endParaRPr lang="en-US" sz="1250" dirty="0"/>
          </a:p>
        </p:txBody>
      </p:sp>
      <p:sp>
        <p:nvSpPr>
          <p:cNvPr id="9" name="Shape 7"/>
          <p:cNvSpPr/>
          <p:nvPr/>
        </p:nvSpPr>
        <p:spPr>
          <a:xfrm>
            <a:off x="3227832" y="3355848"/>
            <a:ext cx="329184" cy="329184"/>
          </a:xfrm>
          <a:prstGeom prst="ellipse">
            <a:avLst/>
          </a:prstGeom>
          <a:solidFill>
            <a:srgbClr val="0A1F3C"/>
          </a:solidFill>
          <a:ln/>
        </p:spPr>
      </p:sp>
      <p:sp>
        <p:nvSpPr>
          <p:cNvPr id="10" name="Text 8"/>
          <p:cNvSpPr/>
          <p:nvPr/>
        </p:nvSpPr>
        <p:spPr>
          <a:xfrm>
            <a:off x="3227832" y="3355848"/>
            <a:ext cx="329184" cy="32918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1" name="Shape 9"/>
          <p:cNvSpPr/>
          <p:nvPr/>
        </p:nvSpPr>
        <p:spPr>
          <a:xfrm>
            <a:off x="3474720" y="2103120"/>
            <a:ext cx="2697480" cy="2834640"/>
          </a:xfrm>
          <a:prstGeom prst="roundRect">
            <a:avLst>
              <a:gd name="adj" fmla="val 3051"/>
            </a:avLst>
          </a:prstGeom>
          <a:solidFill>
            <a:srgbClr val="ECFDF5"/>
          </a:solidFill>
          <a:ln/>
          <a:effectLst>
            <a:outerShdw sx="100000" sy="100000" kx="0" ky="0" algn="bl" rotWithShape="0" blurRad="114300" dist="38100" dir="5400000">
              <a:srgbClr val="0A1F3C">
                <a:alpha val="16000"/>
              </a:srgbClr>
            </a:outerShdw>
          </a:effectLst>
        </p:spPr>
      </p:sp>
      <p:sp>
        <p:nvSpPr>
          <p:cNvPr id="12" name="Shape 10"/>
          <p:cNvSpPr/>
          <p:nvPr/>
        </p:nvSpPr>
        <p:spPr>
          <a:xfrm>
            <a:off x="4366260" y="2423160"/>
            <a:ext cx="914400" cy="914400"/>
          </a:xfrm>
          <a:prstGeom prst="ellipse">
            <a:avLst/>
          </a:prstGeom>
          <a:solidFill>
            <a:srgbClr val="14B8A6"/>
          </a:solidFill>
          <a:ln/>
        </p:spPr>
      </p:sp>
      <p:sp>
        <p:nvSpPr>
          <p:cNvPr id="13" name="Text 11"/>
          <p:cNvSpPr/>
          <p:nvPr/>
        </p:nvSpPr>
        <p:spPr>
          <a:xfrm>
            <a:off x="4366260" y="2423160"/>
            <a:ext cx="914400" cy="91440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2</a:t>
            </a:r>
            <a:endParaRPr lang="en-US" sz="2600" dirty="0"/>
          </a:p>
        </p:txBody>
      </p:sp>
      <p:sp>
        <p:nvSpPr>
          <p:cNvPr id="14" name="Text 12"/>
          <p:cNvSpPr/>
          <p:nvPr/>
        </p:nvSpPr>
        <p:spPr>
          <a:xfrm>
            <a:off x="3474720" y="3474720"/>
            <a:ext cx="2697480" cy="457200"/>
          </a:xfrm>
          <a:prstGeom prst="rect">
            <a:avLst/>
          </a:prstGeom>
          <a:noFill/>
          <a:ln/>
        </p:spPr>
        <p:txBody>
          <a:bodyPr wrap="square" lIns="0" tIns="0" rIns="0" bIns="0" rtlCol="0" anchor="ctr"/>
          <a:lstStyle/>
          <a:p>
            <a:pPr algn="ctr" indent="0" marL="0">
              <a:buNone/>
            </a:pPr>
            <a:r>
              <a:rPr lang="en-US" sz="1900" b="1" dirty="0">
                <a:solidFill>
                  <a:srgbClr val="16233A"/>
                </a:solidFill>
                <a:latin typeface="Calibri" pitchFamily="34" charset="0"/>
                <a:ea typeface="Calibri" pitchFamily="34" charset="-122"/>
                <a:cs typeface="Calibri" pitchFamily="34" charset="-120"/>
              </a:rPr>
              <a:t>Own it</a:t>
            </a:r>
            <a:endParaRPr lang="en-US" sz="1900" dirty="0"/>
          </a:p>
        </p:txBody>
      </p:sp>
      <p:sp>
        <p:nvSpPr>
          <p:cNvPr id="15" name="Text 13"/>
          <p:cNvSpPr/>
          <p:nvPr/>
        </p:nvSpPr>
        <p:spPr>
          <a:xfrm>
            <a:off x="3703320" y="3977640"/>
            <a:ext cx="2240280" cy="868680"/>
          </a:xfrm>
          <a:prstGeom prst="rect">
            <a:avLst/>
          </a:prstGeom>
          <a:noFill/>
          <a:ln/>
        </p:spPr>
        <p:txBody>
          <a:bodyPr wrap="square" lIns="0" tIns="0" rIns="0" bIns="0" rtlCol="0" anchor="ctr"/>
          <a:lstStyle/>
          <a:p>
            <a:pPr algn="ctr" indent="0" marL="0">
              <a:buNone/>
            </a:pPr>
            <a:r>
              <a:rPr lang="en-US" sz="1250" dirty="0">
                <a:solidFill>
                  <a:srgbClr val="334155"/>
                </a:solidFill>
                <a:latin typeface="Calibri" pitchFamily="34" charset="0"/>
                <a:ea typeface="Calibri" pitchFamily="34" charset="-122"/>
                <a:cs typeface="Calibri" pitchFamily="34" charset="-120"/>
              </a:rPr>
              <a:t>Realize YOU can fix it — not wait for AWS or a vendor to.</a:t>
            </a:r>
            <a:endParaRPr lang="en-US" sz="1250" dirty="0"/>
          </a:p>
        </p:txBody>
      </p:sp>
      <p:sp>
        <p:nvSpPr>
          <p:cNvPr id="16" name="Shape 14"/>
          <p:cNvSpPr/>
          <p:nvPr/>
        </p:nvSpPr>
        <p:spPr>
          <a:xfrm>
            <a:off x="6153912" y="3355848"/>
            <a:ext cx="329184" cy="329184"/>
          </a:xfrm>
          <a:prstGeom prst="ellipse">
            <a:avLst/>
          </a:prstGeom>
          <a:solidFill>
            <a:srgbClr val="0A1F3C"/>
          </a:solidFill>
          <a:ln/>
        </p:spPr>
      </p:sp>
      <p:sp>
        <p:nvSpPr>
          <p:cNvPr id="17" name="Text 15"/>
          <p:cNvSpPr/>
          <p:nvPr/>
        </p:nvSpPr>
        <p:spPr>
          <a:xfrm>
            <a:off x="6153912" y="3355848"/>
            <a:ext cx="329184" cy="32918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8" name="Shape 16"/>
          <p:cNvSpPr/>
          <p:nvPr/>
        </p:nvSpPr>
        <p:spPr>
          <a:xfrm>
            <a:off x="6400800" y="2103120"/>
            <a:ext cx="2697480" cy="2834640"/>
          </a:xfrm>
          <a:prstGeom prst="roundRect">
            <a:avLst>
              <a:gd name="adj" fmla="val 3051"/>
            </a:avLst>
          </a:prstGeom>
          <a:solidFill>
            <a:srgbClr val="F1F5F9"/>
          </a:solidFill>
          <a:ln/>
          <a:effectLst>
            <a:outerShdw sx="100000" sy="100000" kx="0" ky="0" algn="bl" rotWithShape="0" blurRad="114300" dist="38100" dir="5400000">
              <a:srgbClr val="0A1F3C">
                <a:alpha val="16000"/>
              </a:srgbClr>
            </a:outerShdw>
          </a:effectLst>
        </p:spPr>
      </p:sp>
      <p:sp>
        <p:nvSpPr>
          <p:cNvPr id="19" name="Shape 17"/>
          <p:cNvSpPr/>
          <p:nvPr/>
        </p:nvSpPr>
        <p:spPr>
          <a:xfrm>
            <a:off x="7292340" y="2423160"/>
            <a:ext cx="914400" cy="914400"/>
          </a:xfrm>
          <a:prstGeom prst="ellipse">
            <a:avLst/>
          </a:prstGeom>
          <a:solidFill>
            <a:srgbClr val="F59E0B"/>
          </a:solidFill>
          <a:ln/>
        </p:spPr>
      </p:sp>
      <p:sp>
        <p:nvSpPr>
          <p:cNvPr id="20" name="Text 18"/>
          <p:cNvSpPr/>
          <p:nvPr/>
        </p:nvSpPr>
        <p:spPr>
          <a:xfrm>
            <a:off x="7292340" y="2423160"/>
            <a:ext cx="914400" cy="91440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3</a:t>
            </a:r>
            <a:endParaRPr lang="en-US" sz="2600" dirty="0"/>
          </a:p>
        </p:txBody>
      </p:sp>
      <p:sp>
        <p:nvSpPr>
          <p:cNvPr id="21" name="Text 19"/>
          <p:cNvSpPr/>
          <p:nvPr/>
        </p:nvSpPr>
        <p:spPr>
          <a:xfrm>
            <a:off x="6400800" y="3474720"/>
            <a:ext cx="2697480" cy="457200"/>
          </a:xfrm>
          <a:prstGeom prst="rect">
            <a:avLst/>
          </a:prstGeom>
          <a:noFill/>
          <a:ln/>
        </p:spPr>
        <p:txBody>
          <a:bodyPr wrap="square" lIns="0" tIns="0" rIns="0" bIns="0" rtlCol="0" anchor="ctr"/>
          <a:lstStyle/>
          <a:p>
            <a:pPr algn="ctr" indent="0" marL="0">
              <a:buNone/>
            </a:pPr>
            <a:r>
              <a:rPr lang="en-US" sz="1900" b="1" dirty="0">
                <a:solidFill>
                  <a:srgbClr val="16233A"/>
                </a:solidFill>
                <a:latin typeface="Calibri" pitchFamily="34" charset="0"/>
                <a:ea typeface="Calibri" pitchFamily="34" charset="-122"/>
                <a:cs typeface="Calibri" pitchFamily="34" charset="-120"/>
              </a:rPr>
              <a:t>Build</a:t>
            </a:r>
            <a:endParaRPr lang="en-US" sz="1900" dirty="0"/>
          </a:p>
        </p:txBody>
      </p:sp>
      <p:sp>
        <p:nvSpPr>
          <p:cNvPr id="22" name="Text 20"/>
          <p:cNvSpPr/>
          <p:nvPr/>
        </p:nvSpPr>
        <p:spPr>
          <a:xfrm>
            <a:off x="6629400" y="3977640"/>
            <a:ext cx="2240280" cy="868680"/>
          </a:xfrm>
          <a:prstGeom prst="rect">
            <a:avLst/>
          </a:prstGeom>
          <a:noFill/>
          <a:ln/>
        </p:spPr>
        <p:txBody>
          <a:bodyPr wrap="square" lIns="0" tIns="0" rIns="0" bIns="0" rtlCol="0" anchor="ctr"/>
          <a:lstStyle/>
          <a:p>
            <a:pPr algn="ctr" indent="0" marL="0">
              <a:buNone/>
            </a:pPr>
            <a:r>
              <a:rPr lang="en-US" sz="1250" dirty="0">
                <a:solidFill>
                  <a:srgbClr val="334155"/>
                </a:solidFill>
                <a:latin typeface="Calibri" pitchFamily="34" charset="0"/>
                <a:ea typeface="Calibri" pitchFamily="34" charset="-122"/>
                <a:cs typeface="Calibri" pitchFamily="34" charset="-120"/>
              </a:rPr>
              <a:t>Scope it small. One tool, one job, done well.</a:t>
            </a:r>
            <a:endParaRPr lang="en-US" sz="1250" dirty="0"/>
          </a:p>
        </p:txBody>
      </p:sp>
      <p:sp>
        <p:nvSpPr>
          <p:cNvPr id="23" name="Shape 21"/>
          <p:cNvSpPr/>
          <p:nvPr/>
        </p:nvSpPr>
        <p:spPr>
          <a:xfrm>
            <a:off x="9079992" y="3355848"/>
            <a:ext cx="329184" cy="329184"/>
          </a:xfrm>
          <a:prstGeom prst="ellipse">
            <a:avLst/>
          </a:prstGeom>
          <a:solidFill>
            <a:srgbClr val="0A1F3C"/>
          </a:solidFill>
          <a:ln/>
        </p:spPr>
      </p:sp>
      <p:sp>
        <p:nvSpPr>
          <p:cNvPr id="24" name="Text 22"/>
          <p:cNvSpPr/>
          <p:nvPr/>
        </p:nvSpPr>
        <p:spPr>
          <a:xfrm>
            <a:off x="9079992" y="3355848"/>
            <a:ext cx="329184" cy="32918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5" name="Shape 23"/>
          <p:cNvSpPr/>
          <p:nvPr/>
        </p:nvSpPr>
        <p:spPr>
          <a:xfrm>
            <a:off x="9326880" y="2103120"/>
            <a:ext cx="2697480" cy="2834640"/>
          </a:xfrm>
          <a:prstGeom prst="roundRect">
            <a:avLst>
              <a:gd name="adj" fmla="val 3051"/>
            </a:avLst>
          </a:prstGeom>
          <a:solidFill>
            <a:srgbClr val="ECFDF5"/>
          </a:solidFill>
          <a:ln/>
          <a:effectLst>
            <a:outerShdw sx="100000" sy="100000" kx="0" ky="0" algn="bl" rotWithShape="0" blurRad="114300" dist="38100" dir="5400000">
              <a:srgbClr val="0A1F3C">
                <a:alpha val="16000"/>
              </a:srgbClr>
            </a:outerShdw>
          </a:effectLst>
        </p:spPr>
      </p:sp>
      <p:sp>
        <p:nvSpPr>
          <p:cNvPr id="26" name="Shape 24"/>
          <p:cNvSpPr/>
          <p:nvPr/>
        </p:nvSpPr>
        <p:spPr>
          <a:xfrm>
            <a:off x="10218420" y="2423160"/>
            <a:ext cx="914400" cy="914400"/>
          </a:xfrm>
          <a:prstGeom prst="ellipse">
            <a:avLst/>
          </a:prstGeom>
          <a:solidFill>
            <a:srgbClr val="F97316"/>
          </a:solidFill>
          <a:ln/>
        </p:spPr>
      </p:sp>
      <p:sp>
        <p:nvSpPr>
          <p:cNvPr id="27" name="Text 25"/>
          <p:cNvSpPr/>
          <p:nvPr/>
        </p:nvSpPr>
        <p:spPr>
          <a:xfrm>
            <a:off x="10218420" y="2423160"/>
            <a:ext cx="914400" cy="91440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4</a:t>
            </a:r>
            <a:endParaRPr lang="en-US" sz="2600" dirty="0"/>
          </a:p>
        </p:txBody>
      </p:sp>
      <p:sp>
        <p:nvSpPr>
          <p:cNvPr id="28" name="Text 26"/>
          <p:cNvSpPr/>
          <p:nvPr/>
        </p:nvSpPr>
        <p:spPr>
          <a:xfrm>
            <a:off x="9326880" y="3474720"/>
            <a:ext cx="2697480" cy="457200"/>
          </a:xfrm>
          <a:prstGeom prst="rect">
            <a:avLst/>
          </a:prstGeom>
          <a:noFill/>
          <a:ln/>
        </p:spPr>
        <p:txBody>
          <a:bodyPr wrap="square" lIns="0" tIns="0" rIns="0" bIns="0" rtlCol="0" anchor="ctr"/>
          <a:lstStyle/>
          <a:p>
            <a:pPr algn="ctr" indent="0" marL="0">
              <a:buNone/>
            </a:pPr>
            <a:r>
              <a:rPr lang="en-US" sz="1900" b="1" dirty="0">
                <a:solidFill>
                  <a:srgbClr val="16233A"/>
                </a:solidFill>
                <a:latin typeface="Calibri" pitchFamily="34" charset="0"/>
                <a:ea typeface="Calibri" pitchFamily="34" charset="-122"/>
                <a:cs typeface="Calibri" pitchFamily="34" charset="-120"/>
              </a:rPr>
              <a:t>Ship</a:t>
            </a:r>
            <a:endParaRPr lang="en-US" sz="1900" dirty="0"/>
          </a:p>
        </p:txBody>
      </p:sp>
      <p:sp>
        <p:nvSpPr>
          <p:cNvPr id="29" name="Text 27"/>
          <p:cNvSpPr/>
          <p:nvPr/>
        </p:nvSpPr>
        <p:spPr>
          <a:xfrm>
            <a:off x="9555480" y="3977640"/>
            <a:ext cx="2240280" cy="868680"/>
          </a:xfrm>
          <a:prstGeom prst="rect">
            <a:avLst/>
          </a:prstGeom>
          <a:noFill/>
          <a:ln/>
        </p:spPr>
        <p:txBody>
          <a:bodyPr wrap="square" lIns="0" tIns="0" rIns="0" bIns="0" rtlCol="0" anchor="ctr"/>
          <a:lstStyle/>
          <a:p>
            <a:pPr algn="ctr" indent="0" marL="0">
              <a:buNone/>
            </a:pPr>
            <a:r>
              <a:rPr lang="en-US" sz="1250" dirty="0">
                <a:solidFill>
                  <a:srgbClr val="334155"/>
                </a:solidFill>
                <a:latin typeface="Calibri" pitchFamily="34" charset="0"/>
                <a:ea typeface="Calibri" pitchFamily="34" charset="-122"/>
                <a:cs typeface="Calibri" pitchFamily="34" charset="-120"/>
              </a:rPr>
              <a:t>Make it public. Now it's proof, not just effort.</a:t>
            </a:r>
            <a:endParaRPr lang="en-US" sz="1250" dirty="0"/>
          </a:p>
        </p:txBody>
      </p:sp>
      <p:sp>
        <p:nvSpPr>
          <p:cNvPr id="30" name="Text 28"/>
          <p:cNvSpPr/>
          <p:nvPr/>
        </p:nvSpPr>
        <p:spPr>
          <a:xfrm>
            <a:off x="548640" y="5394960"/>
            <a:ext cx="10972800" cy="457200"/>
          </a:xfrm>
          <a:prstGeom prst="rect">
            <a:avLst/>
          </a:prstGeom>
          <a:noFill/>
          <a:ln/>
        </p:spPr>
        <p:txBody>
          <a:bodyPr wrap="square" lIns="0" tIns="0" rIns="0" bIns="0" rtlCol="0" anchor="ctr"/>
          <a:lstStyle/>
          <a:p>
            <a:pPr algn="ctr" indent="0" marL="0">
              <a:buNone/>
            </a:pPr>
            <a:r>
              <a:rPr lang="en-US" sz="1500" b="1" i="1" dirty="0">
                <a:solidFill>
                  <a:srgbClr val="0D9488"/>
                </a:solidFill>
                <a:latin typeface="Calibri" pitchFamily="34" charset="0"/>
                <a:ea typeface="Calibri" pitchFamily="34" charset="-122"/>
                <a:cs typeface="Calibri" pitchFamily="34" charset="-120"/>
              </a:rPr>
              <a:t>Today we'll run this exact loop, live, in 40 minutes.</a:t>
            </a:r>
            <a:endParaRPr lang="en-US" sz="1500" dirty="0"/>
          </a:p>
        </p:txBody>
      </p:sp>
      <p:sp>
        <p:nvSpPr>
          <p:cNvPr id="32" name="Text 29"/>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From User to Creator  •  Cloud Webinar</a:t>
            </a:r>
            <a:endParaRPr lang="en-US" sz="900" dirty="0"/>
          </a:p>
        </p:txBody>
      </p:sp>
      <p:sp>
        <p:nvSpPr>
          <p:cNvPr id="33" name="Text 30"/>
          <p:cNvSpPr/>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320040"/>
          </a:xfrm>
          <a:prstGeom prst="rect">
            <a:avLst/>
          </a:prstGeom>
          <a:noFill/>
          <a:ln/>
        </p:spPr>
        <p:txBody>
          <a:bodyPr wrap="square" lIns="0" tIns="0" rIns="0" bIns="0" rtlCol="0" anchor="ctr"/>
          <a:lstStyle/>
          <a:p>
            <a:pPr indent="0" marL="0">
              <a:buNone/>
            </a:pPr>
            <a:r>
              <a:rPr lang="en-US" sz="1300" b="1" spc="200" kern="0" dirty="0">
                <a:solidFill>
                  <a:srgbClr val="0D9488"/>
                </a:solidFill>
                <a:latin typeface="Calibri" pitchFamily="34" charset="0"/>
                <a:ea typeface="Calibri" pitchFamily="34" charset="-122"/>
                <a:cs typeface="Calibri" pitchFamily="34" charset="-120"/>
              </a:rPr>
              <a:t>WHY THIS MATTERS NOW</a:t>
            </a:r>
            <a:endParaRPr lang="en-US" sz="1300" dirty="0"/>
          </a:p>
        </p:txBody>
      </p:sp>
      <p:sp>
        <p:nvSpPr>
          <p:cNvPr id="3" name="Text 1"/>
          <p:cNvSpPr/>
          <p:nvPr/>
        </p:nvSpPr>
        <p:spPr>
          <a:xfrm>
            <a:off x="548640" y="713232"/>
            <a:ext cx="11064240" cy="868680"/>
          </a:xfrm>
          <a:prstGeom prst="rect">
            <a:avLst/>
          </a:prstGeom>
          <a:noFill/>
          <a:ln/>
        </p:spPr>
        <p:txBody>
          <a:bodyPr wrap="square" lIns="0" tIns="0" rIns="0" bIns="0" rtlCol="0" anchor="ctr"/>
          <a:lstStyle/>
          <a:p>
            <a:pPr indent="0" marL="0">
              <a:buNone/>
            </a:pPr>
            <a:r>
              <a:rPr lang="en-US" sz="3100" b="1" dirty="0">
                <a:solidFill>
                  <a:srgbClr val="16233A"/>
                </a:solidFill>
                <a:latin typeface="Calibri" pitchFamily="34" charset="0"/>
                <a:ea typeface="Calibri" pitchFamily="34" charset="-122"/>
                <a:cs typeface="Calibri" pitchFamily="34" charset="-120"/>
              </a:rPr>
              <a:t>Certificates teach. Building proves.</a:t>
            </a:r>
            <a:endParaRPr lang="en-US" sz="3100" dirty="0"/>
          </a:p>
        </p:txBody>
      </p:sp>
      <p:sp>
        <p:nvSpPr>
          <p:cNvPr id="4" name="Text 2"/>
          <p:cNvSpPr/>
          <p:nvPr/>
        </p:nvSpPr>
        <p:spPr>
          <a:xfrm>
            <a:off x="548640" y="1600200"/>
            <a:ext cx="11064240" cy="640080"/>
          </a:xfrm>
          <a:prstGeom prst="rect">
            <a:avLst/>
          </a:prstGeom>
          <a:noFill/>
          <a:ln/>
        </p:spPr>
        <p:txBody>
          <a:bodyPr wrap="square" lIns="0" tIns="0" rIns="0" bIns="0" rtlCol="0" anchor="ctr"/>
          <a:lstStyle/>
          <a:p>
            <a:pPr indent="0" marL="0">
              <a:buNone/>
            </a:pPr>
            <a:r>
              <a:rPr lang="en-US" sz="1500" dirty="0">
                <a:solidFill>
                  <a:srgbClr val="334155"/>
                </a:solidFill>
                <a:latin typeface="Calibri" pitchFamily="34" charset="0"/>
                <a:ea typeface="Calibri" pitchFamily="34" charset="-122"/>
                <a:cs typeface="Calibri" pitchFamily="34" charset="-120"/>
              </a:rPr>
              <a:t>Training and certs have never been more accessible — so they no longer set you apart. What sets you apart is a public, verifiable body of work.</a:t>
            </a:r>
            <a:endParaRPr lang="en-US" sz="1500" dirty="0"/>
          </a:p>
        </p:txBody>
      </p:sp>
      <p:sp>
        <p:nvSpPr>
          <p:cNvPr id="5" name="Shape 3"/>
          <p:cNvSpPr/>
          <p:nvPr/>
        </p:nvSpPr>
        <p:spPr>
          <a:xfrm>
            <a:off x="548640" y="2514600"/>
            <a:ext cx="3566160" cy="2286000"/>
          </a:xfrm>
          <a:prstGeom prst="roundRect">
            <a:avLst>
              <a:gd name="adj" fmla="val 3600"/>
            </a:avLst>
          </a:prstGeom>
          <a:solidFill>
            <a:srgbClr val="F1F5F9"/>
          </a:solidFill>
          <a:ln/>
          <a:effectLst>
            <a:outerShdw sx="100000" sy="100000" kx="0" ky="0" algn="bl" rotWithShape="0" blurRad="114300" dist="38100" dir="5400000">
              <a:srgbClr val="0A1F3C">
                <a:alpha val="16000"/>
              </a:srgbClr>
            </a:outerShdw>
          </a:effectLst>
        </p:spPr>
      </p:sp>
      <p:sp>
        <p:nvSpPr>
          <p:cNvPr id="6" name="Text 4"/>
          <p:cNvSpPr/>
          <p:nvPr/>
        </p:nvSpPr>
        <p:spPr>
          <a:xfrm>
            <a:off x="822960" y="2834640"/>
            <a:ext cx="3017520" cy="822960"/>
          </a:xfrm>
          <a:prstGeom prst="rect">
            <a:avLst/>
          </a:prstGeom>
          <a:noFill/>
          <a:ln/>
        </p:spPr>
        <p:txBody>
          <a:bodyPr wrap="square" lIns="0" tIns="0" rIns="0" bIns="0" rtlCol="0" anchor="ctr"/>
          <a:lstStyle/>
          <a:p>
            <a:pPr indent="0" marL="0">
              <a:buNone/>
            </a:pPr>
            <a:r>
              <a:rPr lang="en-US" sz="3000" b="1" dirty="0">
                <a:solidFill>
                  <a:srgbClr val="0D9488"/>
                </a:solidFill>
                <a:latin typeface="Calibri" pitchFamily="34" charset="0"/>
                <a:ea typeface="Calibri" pitchFamily="34" charset="-122"/>
                <a:cs typeface="Calibri" pitchFamily="34" charset="-120"/>
              </a:rPr>
              <a:t>Knowing</a:t>
            </a:r>
            <a:endParaRPr lang="en-US" sz="3000" dirty="0"/>
          </a:p>
        </p:txBody>
      </p:sp>
      <p:sp>
        <p:nvSpPr>
          <p:cNvPr id="7" name="Text 5"/>
          <p:cNvSpPr/>
          <p:nvPr/>
        </p:nvSpPr>
        <p:spPr>
          <a:xfrm>
            <a:off x="822960" y="3703320"/>
            <a:ext cx="3017520" cy="914400"/>
          </a:xfrm>
          <a:prstGeom prst="rect">
            <a:avLst/>
          </a:prstGeom>
          <a:noFill/>
          <a:ln/>
        </p:spPr>
        <p:txBody>
          <a:bodyPr wrap="square" lIns="0" tIns="0" rIns="0" bIns="0" rtlCol="0" anchor="ctr"/>
          <a:lstStyle/>
          <a:p>
            <a:pPr indent="0" marL="0">
              <a:buNone/>
            </a:pPr>
            <a:r>
              <a:rPr lang="en-US" sz="1450" dirty="0">
                <a:solidFill>
                  <a:srgbClr val="334155"/>
                </a:solidFill>
                <a:latin typeface="Calibri" pitchFamily="34" charset="0"/>
                <a:ea typeface="Calibri" pitchFamily="34" charset="-122"/>
                <a:cs typeface="Calibri" pitchFamily="34" charset="-120"/>
              </a:rPr>
              <a:t>concepts is now table-stakes</a:t>
            </a:r>
            <a:endParaRPr lang="en-US" sz="1450" dirty="0"/>
          </a:p>
        </p:txBody>
      </p:sp>
      <p:sp>
        <p:nvSpPr>
          <p:cNvPr id="8" name="Shape 6"/>
          <p:cNvSpPr/>
          <p:nvPr/>
        </p:nvSpPr>
        <p:spPr>
          <a:xfrm>
            <a:off x="4343400" y="2514600"/>
            <a:ext cx="3566160" cy="2286000"/>
          </a:xfrm>
          <a:prstGeom prst="roundRect">
            <a:avLst>
              <a:gd name="adj" fmla="val 3600"/>
            </a:avLst>
          </a:prstGeom>
          <a:solidFill>
            <a:srgbClr val="F1F5F9"/>
          </a:solidFill>
          <a:ln/>
          <a:effectLst>
            <a:outerShdw sx="100000" sy="100000" kx="0" ky="0" algn="bl" rotWithShape="0" blurRad="114300" dist="38100" dir="5400000">
              <a:srgbClr val="0A1F3C">
                <a:alpha val="16000"/>
              </a:srgbClr>
            </a:outerShdw>
          </a:effectLst>
        </p:spPr>
      </p:sp>
      <p:sp>
        <p:nvSpPr>
          <p:cNvPr id="9" name="Text 7"/>
          <p:cNvSpPr/>
          <p:nvPr/>
        </p:nvSpPr>
        <p:spPr>
          <a:xfrm>
            <a:off x="4617720" y="2834640"/>
            <a:ext cx="3017520" cy="822960"/>
          </a:xfrm>
          <a:prstGeom prst="rect">
            <a:avLst/>
          </a:prstGeom>
          <a:noFill/>
          <a:ln/>
        </p:spPr>
        <p:txBody>
          <a:bodyPr wrap="square" lIns="0" tIns="0" rIns="0" bIns="0" rtlCol="0" anchor="ctr"/>
          <a:lstStyle/>
          <a:p>
            <a:pPr indent="0" marL="0">
              <a:buNone/>
            </a:pPr>
            <a:r>
              <a:rPr lang="en-US" sz="3000" b="1" dirty="0">
                <a:solidFill>
                  <a:srgbClr val="14B8A6"/>
                </a:solidFill>
                <a:latin typeface="Calibri" pitchFamily="34" charset="0"/>
                <a:ea typeface="Calibri" pitchFamily="34" charset="-122"/>
                <a:cs typeface="Calibri" pitchFamily="34" charset="-120"/>
              </a:rPr>
              <a:t>Showing</a:t>
            </a:r>
            <a:endParaRPr lang="en-US" sz="3000" dirty="0"/>
          </a:p>
        </p:txBody>
      </p:sp>
      <p:sp>
        <p:nvSpPr>
          <p:cNvPr id="10" name="Text 8"/>
          <p:cNvSpPr/>
          <p:nvPr/>
        </p:nvSpPr>
        <p:spPr>
          <a:xfrm>
            <a:off x="4617720" y="3703320"/>
            <a:ext cx="3017520" cy="914400"/>
          </a:xfrm>
          <a:prstGeom prst="rect">
            <a:avLst/>
          </a:prstGeom>
          <a:noFill/>
          <a:ln/>
        </p:spPr>
        <p:txBody>
          <a:bodyPr wrap="square" lIns="0" tIns="0" rIns="0" bIns="0" rtlCol="0" anchor="ctr"/>
          <a:lstStyle/>
          <a:p>
            <a:pPr indent="0" marL="0">
              <a:buNone/>
            </a:pPr>
            <a:r>
              <a:rPr lang="en-US" sz="1450" dirty="0">
                <a:solidFill>
                  <a:srgbClr val="334155"/>
                </a:solidFill>
                <a:latin typeface="Calibri" pitchFamily="34" charset="0"/>
                <a:ea typeface="Calibri" pitchFamily="34" charset="-122"/>
                <a:cs typeface="Calibri" pitchFamily="34" charset="-120"/>
              </a:rPr>
              <a:t>what you've built is the differentiator</a:t>
            </a:r>
            <a:endParaRPr lang="en-US" sz="1450" dirty="0"/>
          </a:p>
        </p:txBody>
      </p:sp>
      <p:sp>
        <p:nvSpPr>
          <p:cNvPr id="11" name="Shape 9"/>
          <p:cNvSpPr/>
          <p:nvPr/>
        </p:nvSpPr>
        <p:spPr>
          <a:xfrm>
            <a:off x="8138160" y="2514600"/>
            <a:ext cx="3566160" cy="2286000"/>
          </a:xfrm>
          <a:prstGeom prst="roundRect">
            <a:avLst>
              <a:gd name="adj" fmla="val 3600"/>
            </a:avLst>
          </a:prstGeom>
          <a:solidFill>
            <a:srgbClr val="F1F5F9"/>
          </a:solidFill>
          <a:ln/>
          <a:effectLst>
            <a:outerShdw sx="100000" sy="100000" kx="0" ky="0" algn="bl" rotWithShape="0" blurRad="114300" dist="38100" dir="5400000">
              <a:srgbClr val="0A1F3C">
                <a:alpha val="16000"/>
              </a:srgbClr>
            </a:outerShdw>
          </a:effectLst>
        </p:spPr>
      </p:sp>
      <p:sp>
        <p:nvSpPr>
          <p:cNvPr id="12" name="Text 10"/>
          <p:cNvSpPr/>
          <p:nvPr/>
        </p:nvSpPr>
        <p:spPr>
          <a:xfrm>
            <a:off x="8412480" y="2834640"/>
            <a:ext cx="3017520" cy="822960"/>
          </a:xfrm>
          <a:prstGeom prst="rect">
            <a:avLst/>
          </a:prstGeom>
          <a:noFill/>
          <a:ln/>
        </p:spPr>
        <p:txBody>
          <a:bodyPr wrap="square" lIns="0" tIns="0" rIns="0" bIns="0" rtlCol="0" anchor="ctr"/>
          <a:lstStyle/>
          <a:p>
            <a:pPr indent="0" marL="0">
              <a:buNone/>
            </a:pPr>
            <a:r>
              <a:rPr lang="en-US" sz="3000" b="1" dirty="0">
                <a:solidFill>
                  <a:srgbClr val="F59E0B"/>
                </a:solidFill>
                <a:latin typeface="Calibri" pitchFamily="34" charset="0"/>
                <a:ea typeface="Calibri" pitchFamily="34" charset="-122"/>
                <a:cs typeface="Calibri" pitchFamily="34" charset="-120"/>
              </a:rPr>
              <a:t>Public</a:t>
            </a:r>
            <a:endParaRPr lang="en-US" sz="3000" dirty="0"/>
          </a:p>
        </p:txBody>
      </p:sp>
      <p:sp>
        <p:nvSpPr>
          <p:cNvPr id="13" name="Text 11"/>
          <p:cNvSpPr/>
          <p:nvPr/>
        </p:nvSpPr>
        <p:spPr>
          <a:xfrm>
            <a:off x="8412480" y="3703320"/>
            <a:ext cx="3017520" cy="914400"/>
          </a:xfrm>
          <a:prstGeom prst="rect">
            <a:avLst/>
          </a:prstGeom>
          <a:noFill/>
          <a:ln/>
        </p:spPr>
        <p:txBody>
          <a:bodyPr wrap="square" lIns="0" tIns="0" rIns="0" bIns="0" rtlCol="0" anchor="ctr"/>
          <a:lstStyle/>
          <a:p>
            <a:pPr indent="0" marL="0">
              <a:buNone/>
            </a:pPr>
            <a:r>
              <a:rPr lang="en-US" sz="1450" dirty="0">
                <a:solidFill>
                  <a:srgbClr val="334155"/>
                </a:solidFill>
                <a:latin typeface="Calibri" pitchFamily="34" charset="0"/>
                <a:ea typeface="Calibri" pitchFamily="34" charset="-122"/>
                <a:cs typeface="Calibri" pitchFamily="34" charset="-120"/>
              </a:rPr>
              <a:t>work is forkable, permanent, global</a:t>
            </a:r>
            <a:endParaRPr lang="en-US" sz="1450" dirty="0"/>
          </a:p>
        </p:txBody>
      </p:sp>
      <p:sp>
        <p:nvSpPr>
          <p:cNvPr id="14" name="Text 12"/>
          <p:cNvSpPr/>
          <p:nvPr/>
        </p:nvSpPr>
        <p:spPr>
          <a:xfrm>
            <a:off x="548640" y="5074920"/>
            <a:ext cx="11064240" cy="548640"/>
          </a:xfrm>
          <a:prstGeom prst="rect">
            <a:avLst/>
          </a:prstGeom>
          <a:noFill/>
          <a:ln/>
        </p:spPr>
        <p:txBody>
          <a:bodyPr wrap="square" lIns="0" tIns="0" rIns="0" bIns="0" rtlCol="0" anchor="ctr"/>
          <a:lstStyle/>
          <a:p>
            <a:pPr indent="0" marL="0">
              <a:buNone/>
            </a:pPr>
            <a:r>
              <a:rPr lang="en-US" sz="1500" b="1" i="1" dirty="0">
                <a:solidFill>
                  <a:srgbClr val="16233A"/>
                </a:solidFill>
                <a:latin typeface="Calibri" pitchFamily="34" charset="0"/>
                <a:ea typeface="Calibri" pitchFamily="34" charset="-122"/>
                <a:cs typeface="Calibri" pitchFamily="34" charset="-120"/>
              </a:rPr>
              <a:t>Open source is the fastest way to turn skills you already have into equity employers and communities can see.</a:t>
            </a:r>
            <a:endParaRPr lang="en-US" sz="1500" dirty="0"/>
          </a:p>
        </p:txBody>
      </p:sp>
      <p:sp>
        <p:nvSpPr>
          <p:cNvPr id="16" name="Text 13"/>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From User to Creator  •  Cloud Webinar</a:t>
            </a:r>
            <a:endParaRPr lang="en-US" sz="900" dirty="0"/>
          </a:p>
        </p:txBody>
      </p:sp>
      <p:sp>
        <p:nvSpPr>
          <p:cNvPr id="17" name="Text 14"/>
          <p:cNvSpPr/>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F3C"/>
        </a:solidFill>
      </p:bgPr>
    </p:bg>
    <p:spTree>
      <p:nvGrpSpPr>
        <p:cNvPr id="1" name=""/>
        <p:cNvGrpSpPr/>
        <p:nvPr/>
      </p:nvGrpSpPr>
      <p:grpSpPr>
        <a:xfrm>
          <a:off x="0" y="0"/>
          <a:ext cx="0" cy="0"/>
          <a:chOff x="0" y="0"/>
          <a:chExt cx="0" cy="0"/>
        </a:xfrm>
      </p:grpSpPr>
      <p:sp>
        <p:nvSpPr>
          <p:cNvPr id="2" name="Shape 0"/>
          <p:cNvSpPr/>
          <p:nvPr/>
        </p:nvSpPr>
        <p:spPr>
          <a:xfrm>
            <a:off x="-1463040" y="3291840"/>
            <a:ext cx="4754880" cy="4754880"/>
          </a:xfrm>
          <a:prstGeom prst="ellipse">
            <a:avLst/>
          </a:prstGeom>
          <a:solidFill>
            <a:srgbClr val="12284B"/>
          </a:solidFill>
          <a:ln/>
        </p:spPr>
      </p:sp>
      <p:sp>
        <p:nvSpPr>
          <p:cNvPr id="3" name="Shape 1"/>
          <p:cNvSpPr/>
          <p:nvPr/>
        </p:nvSpPr>
        <p:spPr>
          <a:xfrm>
            <a:off x="9692640" y="-2011680"/>
            <a:ext cx="4937760" cy="4937760"/>
          </a:xfrm>
          <a:prstGeom prst="ellipse">
            <a:avLst/>
          </a:prstGeom>
          <a:solidFill>
            <a:srgbClr val="12284B"/>
          </a:solidFill>
          <a:ln/>
        </p:spPr>
      </p:sp>
      <p:sp>
        <p:nvSpPr>
          <p:cNvPr id="4" name="Shape 2"/>
          <p:cNvSpPr/>
          <p:nvPr/>
        </p:nvSpPr>
        <p:spPr>
          <a:xfrm>
            <a:off x="822960" y="2286000"/>
            <a:ext cx="1280160" cy="1280160"/>
          </a:xfrm>
          <a:prstGeom prst="ellipse">
            <a:avLst/>
          </a:prstGeom>
          <a:solidFill>
            <a:srgbClr val="14B8A6"/>
          </a:solidFill>
          <a:ln/>
        </p:spPr>
      </p:sp>
      <p:sp>
        <p:nvSpPr>
          <p:cNvPr id="5" name="Text 3"/>
          <p:cNvSpPr/>
          <p:nvPr/>
        </p:nvSpPr>
        <p:spPr>
          <a:xfrm>
            <a:off x="822960" y="2286000"/>
            <a:ext cx="1280160" cy="1280160"/>
          </a:xfrm>
          <a:prstGeom prst="rect">
            <a:avLst/>
          </a:prstGeom>
          <a:noFill/>
          <a:ln/>
        </p:spPr>
        <p:txBody>
          <a:bodyPr wrap="square" lIns="0" tIns="0" rIns="0" bIns="0" rtlCol="0" anchor="ctr"/>
          <a:lstStyle/>
          <a:p>
            <a:pPr algn="ctr" indent="0" marL="0">
              <a:buNone/>
            </a:pPr>
            <a:r>
              <a:rPr lang="en-US" sz="4000" b="1" dirty="0">
                <a:solidFill>
                  <a:srgbClr val="0A1F3C"/>
                </a:solidFill>
                <a:latin typeface="Calibri" pitchFamily="34" charset="0"/>
                <a:ea typeface="Calibri" pitchFamily="34" charset="-122"/>
                <a:cs typeface="Calibri" pitchFamily="34" charset="-120"/>
              </a:rPr>
              <a:t>2</a:t>
            </a:r>
            <a:endParaRPr lang="en-US" sz="4000" dirty="0"/>
          </a:p>
        </p:txBody>
      </p:sp>
      <p:sp>
        <p:nvSpPr>
          <p:cNvPr id="6" name="Text 4"/>
          <p:cNvSpPr/>
          <p:nvPr/>
        </p:nvSpPr>
        <p:spPr>
          <a:xfrm>
            <a:off x="2468880" y="2331720"/>
            <a:ext cx="8229600" cy="365760"/>
          </a:xfrm>
          <a:prstGeom prst="rect">
            <a:avLst/>
          </a:prstGeom>
          <a:noFill/>
          <a:ln/>
        </p:spPr>
        <p:txBody>
          <a:bodyPr wrap="square" lIns="0" tIns="0" rIns="0" bIns="0" rtlCol="0" anchor="ctr"/>
          <a:lstStyle/>
          <a:p>
            <a:pPr indent="0" marL="0">
              <a:buNone/>
            </a:pPr>
            <a:r>
              <a:rPr lang="en-US" sz="1400" b="1" spc="200" kern="0" dirty="0">
                <a:solidFill>
                  <a:srgbClr val="14B8A6"/>
                </a:solidFill>
                <a:latin typeface="Calibri" pitchFamily="34" charset="0"/>
                <a:ea typeface="Calibri" pitchFamily="34" charset="-122"/>
                <a:cs typeface="Calibri" pitchFamily="34" charset="-120"/>
              </a:rPr>
              <a:t>THE LANDSCAPE</a:t>
            </a:r>
            <a:endParaRPr lang="en-US" sz="1400" dirty="0"/>
          </a:p>
        </p:txBody>
      </p:sp>
      <p:sp>
        <p:nvSpPr>
          <p:cNvPr id="7" name="Text 5"/>
          <p:cNvSpPr/>
          <p:nvPr/>
        </p:nvSpPr>
        <p:spPr>
          <a:xfrm>
            <a:off x="2468880" y="2697480"/>
            <a:ext cx="8961120" cy="128016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Open source in the cloud</a:t>
            </a:r>
            <a:endParaRPr lang="en-US" sz="4000" dirty="0"/>
          </a:p>
        </p:txBody>
      </p:sp>
      <p:sp>
        <p:nvSpPr>
          <p:cNvPr id="8" name="Text 6"/>
          <p:cNvSpPr/>
          <p:nvPr/>
        </p:nvSpPr>
        <p:spPr>
          <a:xfrm>
            <a:off x="2487168" y="3977640"/>
            <a:ext cx="8778240" cy="73152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The cloud you use every day is built on it. You can build on it too.</a:t>
            </a:r>
            <a:endParaRPr lang="en-US" sz="1600" dirty="0"/>
          </a:p>
        </p:txBody>
      </p:sp>
      <p:sp>
        <p:nvSpPr>
          <p:cNvPr id="10" name="Text 7"/>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CADCFC"/>
                </a:solidFill>
                <a:latin typeface="Calibri" pitchFamily="34" charset="0"/>
                <a:ea typeface="Calibri" pitchFamily="34" charset="-122"/>
                <a:cs typeface="Calibri" pitchFamily="34" charset="-120"/>
              </a:rPr>
              <a:t>From User to Creator  •  Cloud Webinar</a:t>
            </a:r>
            <a:endParaRPr lang="en-US" sz="900" dirty="0"/>
          </a:p>
        </p:txBody>
      </p:sp>
      <p:sp>
        <p:nvSpPr>
          <p:cNvPr id="11" name="Text 8"/>
          <p:cNvSpPr/>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CADCFC"/>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320040"/>
          </a:xfrm>
          <a:prstGeom prst="rect">
            <a:avLst/>
          </a:prstGeom>
          <a:noFill/>
          <a:ln/>
        </p:spPr>
        <p:txBody>
          <a:bodyPr wrap="square" lIns="0" tIns="0" rIns="0" bIns="0" rtlCol="0" anchor="ctr"/>
          <a:lstStyle/>
          <a:p>
            <a:pPr indent="0" marL="0">
              <a:buNone/>
            </a:pPr>
            <a:r>
              <a:rPr lang="en-US" sz="1300" b="1" spc="200" kern="0" dirty="0">
                <a:solidFill>
                  <a:srgbClr val="0D9488"/>
                </a:solidFill>
                <a:latin typeface="Calibri" pitchFamily="34" charset="0"/>
                <a:ea typeface="Calibri" pitchFamily="34" charset="-122"/>
                <a:cs typeface="Calibri" pitchFamily="34" charset="-120"/>
              </a:rPr>
              <a:t>YOU ALREADY DEPEND ON IT</a:t>
            </a:r>
            <a:endParaRPr lang="en-US" sz="1300" dirty="0"/>
          </a:p>
        </p:txBody>
      </p:sp>
      <p:sp>
        <p:nvSpPr>
          <p:cNvPr id="3" name="Text 1"/>
          <p:cNvSpPr/>
          <p:nvPr/>
        </p:nvSpPr>
        <p:spPr>
          <a:xfrm>
            <a:off x="548640" y="713232"/>
            <a:ext cx="11064240" cy="868680"/>
          </a:xfrm>
          <a:prstGeom prst="rect">
            <a:avLst/>
          </a:prstGeom>
          <a:noFill/>
          <a:ln/>
        </p:spPr>
        <p:txBody>
          <a:bodyPr wrap="square" lIns="0" tIns="0" rIns="0" bIns="0" rtlCol="0" anchor="ctr"/>
          <a:lstStyle/>
          <a:p>
            <a:pPr indent="0" marL="0">
              <a:buNone/>
            </a:pPr>
            <a:r>
              <a:rPr lang="en-US" sz="3100" b="1" dirty="0">
                <a:solidFill>
                  <a:srgbClr val="16233A"/>
                </a:solidFill>
                <a:latin typeface="Calibri" pitchFamily="34" charset="0"/>
                <a:ea typeface="Calibri" pitchFamily="34" charset="-122"/>
                <a:cs typeface="Calibri" pitchFamily="34" charset="-120"/>
              </a:rPr>
              <a:t>The cloud runs on open source</a:t>
            </a:r>
            <a:endParaRPr lang="en-US" sz="3100" dirty="0"/>
          </a:p>
        </p:txBody>
      </p:sp>
      <p:sp>
        <p:nvSpPr>
          <p:cNvPr id="4" name="Shape 2"/>
          <p:cNvSpPr/>
          <p:nvPr/>
        </p:nvSpPr>
        <p:spPr>
          <a:xfrm>
            <a:off x="548640" y="1874520"/>
            <a:ext cx="3566160" cy="1417320"/>
          </a:xfrm>
          <a:prstGeom prst="roundRect">
            <a:avLst>
              <a:gd name="adj" fmla="val 5806"/>
            </a:avLst>
          </a:prstGeom>
          <a:solidFill>
            <a:srgbClr val="F1F5F9"/>
          </a:solidFill>
          <a:ln/>
          <a:effectLst>
            <a:outerShdw sx="100000" sy="100000" kx="0" ky="0" algn="bl" rotWithShape="0" blurRad="114300" dist="38100" dir="5400000">
              <a:srgbClr val="0A1F3C">
                <a:alpha val="16000"/>
              </a:srgbClr>
            </a:outerShdw>
          </a:effectLst>
        </p:spPr>
      </p:sp>
      <p:sp>
        <p:nvSpPr>
          <p:cNvPr id="5" name="Shape 3"/>
          <p:cNvSpPr/>
          <p:nvPr/>
        </p:nvSpPr>
        <p:spPr>
          <a:xfrm>
            <a:off x="804672" y="2148840"/>
            <a:ext cx="502920" cy="502920"/>
          </a:xfrm>
          <a:prstGeom prst="ellipse">
            <a:avLst/>
          </a:prstGeom>
          <a:solidFill>
            <a:srgbClr val="0D9488"/>
          </a:solidFill>
          <a:ln/>
        </p:spPr>
      </p:sp>
      <p:sp>
        <p:nvSpPr>
          <p:cNvPr id="6" name="Text 4"/>
          <p:cNvSpPr/>
          <p:nvPr/>
        </p:nvSpPr>
        <p:spPr>
          <a:xfrm>
            <a:off x="804672" y="21488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7" name="Text 5"/>
          <p:cNvSpPr/>
          <p:nvPr/>
        </p:nvSpPr>
        <p:spPr>
          <a:xfrm>
            <a:off x="1463040" y="2130552"/>
            <a:ext cx="2468880" cy="457200"/>
          </a:xfrm>
          <a:prstGeom prst="rect">
            <a:avLst/>
          </a:prstGeom>
          <a:noFill/>
          <a:ln/>
        </p:spPr>
        <p:txBody>
          <a:bodyPr wrap="square" lIns="0" tIns="0" rIns="0" bIns="0" rtlCol="0" anchor="ctr"/>
          <a:lstStyle/>
          <a:p>
            <a:pPr indent="0" marL="0">
              <a:buNone/>
            </a:pPr>
            <a:r>
              <a:rPr lang="en-US" sz="1600" b="1" dirty="0">
                <a:solidFill>
                  <a:srgbClr val="16233A"/>
                </a:solidFill>
                <a:latin typeface="Calibri" pitchFamily="34" charset="0"/>
                <a:ea typeface="Calibri" pitchFamily="34" charset="-122"/>
                <a:cs typeface="Calibri" pitchFamily="34" charset="-120"/>
              </a:rPr>
              <a:t>Kubernetes</a:t>
            </a:r>
            <a:endParaRPr lang="en-US" sz="1600" dirty="0"/>
          </a:p>
        </p:txBody>
      </p:sp>
      <p:sp>
        <p:nvSpPr>
          <p:cNvPr id="8" name="Text 6"/>
          <p:cNvSpPr/>
          <p:nvPr/>
        </p:nvSpPr>
        <p:spPr>
          <a:xfrm>
            <a:off x="822960" y="2651760"/>
            <a:ext cx="3063240" cy="548640"/>
          </a:xfrm>
          <a:prstGeom prst="rect">
            <a:avLst/>
          </a:prstGeom>
          <a:noFill/>
          <a:ln/>
        </p:spPr>
        <p:txBody>
          <a:bodyPr wrap="square" lIns="0" tIns="0" rIns="0" bIns="0" rtlCol="0" anchor="ctr"/>
          <a:lstStyle/>
          <a:p>
            <a:pPr indent="0" marL="0">
              <a:buNone/>
            </a:pPr>
            <a:r>
              <a:rPr lang="en-US" sz="1250" dirty="0">
                <a:solidFill>
                  <a:srgbClr val="334155"/>
                </a:solidFill>
                <a:latin typeface="Calibri" pitchFamily="34" charset="0"/>
                <a:ea typeface="Calibri" pitchFamily="34" charset="-122"/>
                <a:cs typeface="Calibri" pitchFamily="34" charset="-120"/>
              </a:rPr>
              <a:t>Orchestrates containers everywhere</a:t>
            </a:r>
            <a:endParaRPr lang="en-US" sz="1250" dirty="0"/>
          </a:p>
        </p:txBody>
      </p:sp>
      <p:sp>
        <p:nvSpPr>
          <p:cNvPr id="9" name="Shape 7"/>
          <p:cNvSpPr/>
          <p:nvPr/>
        </p:nvSpPr>
        <p:spPr>
          <a:xfrm>
            <a:off x="4343400" y="1874520"/>
            <a:ext cx="3566160" cy="1417320"/>
          </a:xfrm>
          <a:prstGeom prst="roundRect">
            <a:avLst>
              <a:gd name="adj" fmla="val 5806"/>
            </a:avLst>
          </a:prstGeom>
          <a:solidFill>
            <a:srgbClr val="ECFDF5"/>
          </a:solidFill>
          <a:ln/>
          <a:effectLst>
            <a:outerShdw sx="100000" sy="100000" kx="0" ky="0" algn="bl" rotWithShape="0" blurRad="114300" dist="38100" dir="5400000">
              <a:srgbClr val="0A1F3C">
                <a:alpha val="16000"/>
              </a:srgbClr>
            </a:outerShdw>
          </a:effectLst>
        </p:spPr>
      </p:sp>
      <p:sp>
        <p:nvSpPr>
          <p:cNvPr id="10" name="Shape 8"/>
          <p:cNvSpPr/>
          <p:nvPr/>
        </p:nvSpPr>
        <p:spPr>
          <a:xfrm>
            <a:off x="4599432" y="2148840"/>
            <a:ext cx="502920" cy="502920"/>
          </a:xfrm>
          <a:prstGeom prst="ellipse">
            <a:avLst/>
          </a:prstGeom>
          <a:solidFill>
            <a:srgbClr val="0D9488"/>
          </a:solidFill>
          <a:ln/>
        </p:spPr>
      </p:sp>
      <p:sp>
        <p:nvSpPr>
          <p:cNvPr id="11" name="Text 9"/>
          <p:cNvSpPr/>
          <p:nvPr/>
        </p:nvSpPr>
        <p:spPr>
          <a:xfrm>
            <a:off x="4599432" y="21488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2" name="Text 10"/>
          <p:cNvSpPr/>
          <p:nvPr/>
        </p:nvSpPr>
        <p:spPr>
          <a:xfrm>
            <a:off x="5257800" y="2130552"/>
            <a:ext cx="2468880" cy="457200"/>
          </a:xfrm>
          <a:prstGeom prst="rect">
            <a:avLst/>
          </a:prstGeom>
          <a:noFill/>
          <a:ln/>
        </p:spPr>
        <p:txBody>
          <a:bodyPr wrap="square" lIns="0" tIns="0" rIns="0" bIns="0" rtlCol="0" anchor="ctr"/>
          <a:lstStyle/>
          <a:p>
            <a:pPr indent="0" marL="0">
              <a:buNone/>
            </a:pPr>
            <a:r>
              <a:rPr lang="en-US" sz="1600" b="1" dirty="0">
                <a:solidFill>
                  <a:srgbClr val="16233A"/>
                </a:solidFill>
                <a:latin typeface="Calibri" pitchFamily="34" charset="0"/>
                <a:ea typeface="Calibri" pitchFamily="34" charset="-122"/>
                <a:cs typeface="Calibri" pitchFamily="34" charset="-120"/>
              </a:rPr>
              <a:t>Terraform / OpenTofu</a:t>
            </a:r>
            <a:endParaRPr lang="en-US" sz="1600" dirty="0"/>
          </a:p>
        </p:txBody>
      </p:sp>
      <p:sp>
        <p:nvSpPr>
          <p:cNvPr id="13" name="Text 11"/>
          <p:cNvSpPr/>
          <p:nvPr/>
        </p:nvSpPr>
        <p:spPr>
          <a:xfrm>
            <a:off x="4617720" y="2651760"/>
            <a:ext cx="3063240" cy="548640"/>
          </a:xfrm>
          <a:prstGeom prst="rect">
            <a:avLst/>
          </a:prstGeom>
          <a:noFill/>
          <a:ln/>
        </p:spPr>
        <p:txBody>
          <a:bodyPr wrap="square" lIns="0" tIns="0" rIns="0" bIns="0" rtlCol="0" anchor="ctr"/>
          <a:lstStyle/>
          <a:p>
            <a:pPr indent="0" marL="0">
              <a:buNone/>
            </a:pPr>
            <a:r>
              <a:rPr lang="en-US" sz="1250" dirty="0">
                <a:solidFill>
                  <a:srgbClr val="334155"/>
                </a:solidFill>
                <a:latin typeface="Calibri" pitchFamily="34" charset="0"/>
                <a:ea typeface="Calibri" pitchFamily="34" charset="-122"/>
                <a:cs typeface="Calibri" pitchFamily="34" charset="-120"/>
              </a:rPr>
              <a:t>Infrastructure as code</a:t>
            </a:r>
            <a:endParaRPr lang="en-US" sz="1250" dirty="0"/>
          </a:p>
        </p:txBody>
      </p:sp>
      <p:sp>
        <p:nvSpPr>
          <p:cNvPr id="14" name="Shape 12"/>
          <p:cNvSpPr/>
          <p:nvPr/>
        </p:nvSpPr>
        <p:spPr>
          <a:xfrm>
            <a:off x="8138160" y="1874520"/>
            <a:ext cx="3566160" cy="1417320"/>
          </a:xfrm>
          <a:prstGeom prst="roundRect">
            <a:avLst>
              <a:gd name="adj" fmla="val 5806"/>
            </a:avLst>
          </a:prstGeom>
          <a:solidFill>
            <a:srgbClr val="F1F5F9"/>
          </a:solidFill>
          <a:ln/>
          <a:effectLst>
            <a:outerShdw sx="100000" sy="100000" kx="0" ky="0" algn="bl" rotWithShape="0" blurRad="114300" dist="38100" dir="5400000">
              <a:srgbClr val="0A1F3C">
                <a:alpha val="16000"/>
              </a:srgbClr>
            </a:outerShdw>
          </a:effectLst>
        </p:spPr>
      </p:sp>
      <p:sp>
        <p:nvSpPr>
          <p:cNvPr id="15" name="Shape 13"/>
          <p:cNvSpPr/>
          <p:nvPr/>
        </p:nvSpPr>
        <p:spPr>
          <a:xfrm>
            <a:off x="8394192" y="2148840"/>
            <a:ext cx="502920" cy="502920"/>
          </a:xfrm>
          <a:prstGeom prst="ellipse">
            <a:avLst/>
          </a:prstGeom>
          <a:solidFill>
            <a:srgbClr val="0D9488"/>
          </a:solidFill>
          <a:ln/>
        </p:spPr>
      </p:sp>
      <p:sp>
        <p:nvSpPr>
          <p:cNvPr id="16" name="Text 14"/>
          <p:cNvSpPr/>
          <p:nvPr/>
        </p:nvSpPr>
        <p:spPr>
          <a:xfrm>
            <a:off x="8394192" y="21488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7" name="Text 15"/>
          <p:cNvSpPr/>
          <p:nvPr/>
        </p:nvSpPr>
        <p:spPr>
          <a:xfrm>
            <a:off x="9052560" y="2130552"/>
            <a:ext cx="2468880" cy="457200"/>
          </a:xfrm>
          <a:prstGeom prst="rect">
            <a:avLst/>
          </a:prstGeom>
          <a:noFill/>
          <a:ln/>
        </p:spPr>
        <p:txBody>
          <a:bodyPr wrap="square" lIns="0" tIns="0" rIns="0" bIns="0" rtlCol="0" anchor="ctr"/>
          <a:lstStyle/>
          <a:p>
            <a:pPr indent="0" marL="0">
              <a:buNone/>
            </a:pPr>
            <a:r>
              <a:rPr lang="en-US" sz="1600" b="1" dirty="0">
                <a:solidFill>
                  <a:srgbClr val="16233A"/>
                </a:solidFill>
                <a:latin typeface="Calibri" pitchFamily="34" charset="0"/>
                <a:ea typeface="Calibri" pitchFamily="34" charset="-122"/>
                <a:cs typeface="Calibri" pitchFamily="34" charset="-120"/>
              </a:rPr>
              <a:t>LocalStack &amp; moto</a:t>
            </a:r>
            <a:endParaRPr lang="en-US" sz="1600" dirty="0"/>
          </a:p>
        </p:txBody>
      </p:sp>
      <p:sp>
        <p:nvSpPr>
          <p:cNvPr id="18" name="Text 16"/>
          <p:cNvSpPr/>
          <p:nvPr/>
        </p:nvSpPr>
        <p:spPr>
          <a:xfrm>
            <a:off x="8412480" y="2651760"/>
            <a:ext cx="3063240" cy="548640"/>
          </a:xfrm>
          <a:prstGeom prst="rect">
            <a:avLst/>
          </a:prstGeom>
          <a:noFill/>
          <a:ln/>
        </p:spPr>
        <p:txBody>
          <a:bodyPr wrap="square" lIns="0" tIns="0" rIns="0" bIns="0" rtlCol="0" anchor="ctr"/>
          <a:lstStyle/>
          <a:p>
            <a:pPr indent="0" marL="0">
              <a:buNone/>
            </a:pPr>
            <a:r>
              <a:rPr lang="en-US" sz="1250" dirty="0">
                <a:solidFill>
                  <a:srgbClr val="334155"/>
                </a:solidFill>
                <a:latin typeface="Calibri" pitchFamily="34" charset="0"/>
                <a:ea typeface="Calibri" pitchFamily="34" charset="-122"/>
                <a:cs typeface="Calibri" pitchFamily="34" charset="-120"/>
              </a:rPr>
              <a:t>Run/emulate AWS locally</a:t>
            </a:r>
            <a:endParaRPr lang="en-US" sz="1250" dirty="0"/>
          </a:p>
        </p:txBody>
      </p:sp>
      <p:sp>
        <p:nvSpPr>
          <p:cNvPr id="19" name="Shape 17"/>
          <p:cNvSpPr/>
          <p:nvPr/>
        </p:nvSpPr>
        <p:spPr>
          <a:xfrm>
            <a:off x="548640" y="3566160"/>
            <a:ext cx="3566160" cy="1417320"/>
          </a:xfrm>
          <a:prstGeom prst="roundRect">
            <a:avLst>
              <a:gd name="adj" fmla="val 5806"/>
            </a:avLst>
          </a:prstGeom>
          <a:solidFill>
            <a:srgbClr val="ECFDF5"/>
          </a:solidFill>
          <a:ln/>
          <a:effectLst>
            <a:outerShdw sx="100000" sy="100000" kx="0" ky="0" algn="bl" rotWithShape="0" blurRad="114300" dist="38100" dir="5400000">
              <a:srgbClr val="0A1F3C">
                <a:alpha val="16000"/>
              </a:srgbClr>
            </a:outerShdw>
          </a:effectLst>
        </p:spPr>
      </p:sp>
      <p:sp>
        <p:nvSpPr>
          <p:cNvPr id="20" name="Shape 18"/>
          <p:cNvSpPr/>
          <p:nvPr/>
        </p:nvSpPr>
        <p:spPr>
          <a:xfrm>
            <a:off x="804672" y="3840480"/>
            <a:ext cx="502920" cy="502920"/>
          </a:xfrm>
          <a:prstGeom prst="ellipse">
            <a:avLst/>
          </a:prstGeom>
          <a:solidFill>
            <a:srgbClr val="0D9488"/>
          </a:solidFill>
          <a:ln/>
        </p:spPr>
      </p:sp>
      <p:sp>
        <p:nvSpPr>
          <p:cNvPr id="21" name="Text 19"/>
          <p:cNvSpPr/>
          <p:nvPr/>
        </p:nvSpPr>
        <p:spPr>
          <a:xfrm>
            <a:off x="804672" y="38404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2" name="Text 20"/>
          <p:cNvSpPr/>
          <p:nvPr/>
        </p:nvSpPr>
        <p:spPr>
          <a:xfrm>
            <a:off x="1463040" y="3822192"/>
            <a:ext cx="2468880" cy="457200"/>
          </a:xfrm>
          <a:prstGeom prst="rect">
            <a:avLst/>
          </a:prstGeom>
          <a:noFill/>
          <a:ln/>
        </p:spPr>
        <p:txBody>
          <a:bodyPr wrap="square" lIns="0" tIns="0" rIns="0" bIns="0" rtlCol="0" anchor="ctr"/>
          <a:lstStyle/>
          <a:p>
            <a:pPr indent="0" marL="0">
              <a:buNone/>
            </a:pPr>
            <a:r>
              <a:rPr lang="en-US" sz="1600" b="1" dirty="0">
                <a:solidFill>
                  <a:srgbClr val="16233A"/>
                </a:solidFill>
                <a:latin typeface="Calibri" pitchFamily="34" charset="0"/>
                <a:ea typeface="Calibri" pitchFamily="34" charset="-122"/>
                <a:cs typeface="Calibri" pitchFamily="34" charset="-120"/>
              </a:rPr>
              <a:t>boto3 &amp; the AWS SDKs</a:t>
            </a:r>
            <a:endParaRPr lang="en-US" sz="1600" dirty="0"/>
          </a:p>
        </p:txBody>
      </p:sp>
      <p:sp>
        <p:nvSpPr>
          <p:cNvPr id="23" name="Text 21"/>
          <p:cNvSpPr/>
          <p:nvPr/>
        </p:nvSpPr>
        <p:spPr>
          <a:xfrm>
            <a:off x="822960" y="4343400"/>
            <a:ext cx="3063240" cy="548640"/>
          </a:xfrm>
          <a:prstGeom prst="rect">
            <a:avLst/>
          </a:prstGeom>
          <a:noFill/>
          <a:ln/>
        </p:spPr>
        <p:txBody>
          <a:bodyPr wrap="square" lIns="0" tIns="0" rIns="0" bIns="0" rtlCol="0" anchor="ctr"/>
          <a:lstStyle/>
          <a:p>
            <a:pPr indent="0" marL="0">
              <a:buNone/>
            </a:pPr>
            <a:r>
              <a:rPr lang="en-US" sz="1250" dirty="0">
                <a:solidFill>
                  <a:srgbClr val="334155"/>
                </a:solidFill>
                <a:latin typeface="Calibri" pitchFamily="34" charset="0"/>
                <a:ea typeface="Calibri" pitchFamily="34" charset="-122"/>
                <a:cs typeface="Calibri" pitchFamily="34" charset="-120"/>
              </a:rPr>
              <a:t>How your code talks to AWS</a:t>
            </a:r>
            <a:endParaRPr lang="en-US" sz="1250" dirty="0"/>
          </a:p>
        </p:txBody>
      </p:sp>
      <p:sp>
        <p:nvSpPr>
          <p:cNvPr id="24" name="Shape 22"/>
          <p:cNvSpPr/>
          <p:nvPr/>
        </p:nvSpPr>
        <p:spPr>
          <a:xfrm>
            <a:off x="4343400" y="3566160"/>
            <a:ext cx="3566160" cy="1417320"/>
          </a:xfrm>
          <a:prstGeom prst="roundRect">
            <a:avLst>
              <a:gd name="adj" fmla="val 5806"/>
            </a:avLst>
          </a:prstGeom>
          <a:solidFill>
            <a:srgbClr val="F1F5F9"/>
          </a:solidFill>
          <a:ln/>
          <a:effectLst>
            <a:outerShdw sx="100000" sy="100000" kx="0" ky="0" algn="bl" rotWithShape="0" blurRad="114300" dist="38100" dir="5400000">
              <a:srgbClr val="0A1F3C">
                <a:alpha val="16000"/>
              </a:srgbClr>
            </a:outerShdw>
          </a:effectLst>
        </p:spPr>
      </p:sp>
      <p:sp>
        <p:nvSpPr>
          <p:cNvPr id="25" name="Shape 23"/>
          <p:cNvSpPr/>
          <p:nvPr/>
        </p:nvSpPr>
        <p:spPr>
          <a:xfrm>
            <a:off x="4599432" y="3840480"/>
            <a:ext cx="502920" cy="502920"/>
          </a:xfrm>
          <a:prstGeom prst="ellipse">
            <a:avLst/>
          </a:prstGeom>
          <a:solidFill>
            <a:srgbClr val="0D9488"/>
          </a:solidFill>
          <a:ln/>
        </p:spPr>
      </p:sp>
      <p:sp>
        <p:nvSpPr>
          <p:cNvPr id="26" name="Text 24"/>
          <p:cNvSpPr/>
          <p:nvPr/>
        </p:nvSpPr>
        <p:spPr>
          <a:xfrm>
            <a:off x="4599432" y="38404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7" name="Text 25"/>
          <p:cNvSpPr/>
          <p:nvPr/>
        </p:nvSpPr>
        <p:spPr>
          <a:xfrm>
            <a:off x="5257800" y="3822192"/>
            <a:ext cx="2468880" cy="457200"/>
          </a:xfrm>
          <a:prstGeom prst="rect">
            <a:avLst/>
          </a:prstGeom>
          <a:noFill/>
          <a:ln/>
        </p:spPr>
        <p:txBody>
          <a:bodyPr wrap="square" lIns="0" tIns="0" rIns="0" bIns="0" rtlCol="0" anchor="ctr"/>
          <a:lstStyle/>
          <a:p>
            <a:pPr indent="0" marL="0">
              <a:buNone/>
            </a:pPr>
            <a:r>
              <a:rPr lang="en-US" sz="1600" b="1" dirty="0">
                <a:solidFill>
                  <a:srgbClr val="16233A"/>
                </a:solidFill>
                <a:latin typeface="Calibri" pitchFamily="34" charset="0"/>
                <a:ea typeface="Calibri" pitchFamily="34" charset="-122"/>
                <a:cs typeface="Calibri" pitchFamily="34" charset="-120"/>
              </a:rPr>
              <a:t>Prometheus &amp; Grafana</a:t>
            </a:r>
            <a:endParaRPr lang="en-US" sz="1600" dirty="0"/>
          </a:p>
        </p:txBody>
      </p:sp>
      <p:sp>
        <p:nvSpPr>
          <p:cNvPr id="28" name="Text 26"/>
          <p:cNvSpPr/>
          <p:nvPr/>
        </p:nvSpPr>
        <p:spPr>
          <a:xfrm>
            <a:off x="4617720" y="4343400"/>
            <a:ext cx="3063240" cy="548640"/>
          </a:xfrm>
          <a:prstGeom prst="rect">
            <a:avLst/>
          </a:prstGeom>
          <a:noFill/>
          <a:ln/>
        </p:spPr>
        <p:txBody>
          <a:bodyPr wrap="square" lIns="0" tIns="0" rIns="0" bIns="0" rtlCol="0" anchor="ctr"/>
          <a:lstStyle/>
          <a:p>
            <a:pPr indent="0" marL="0">
              <a:buNone/>
            </a:pPr>
            <a:r>
              <a:rPr lang="en-US" sz="1250" dirty="0">
                <a:solidFill>
                  <a:srgbClr val="334155"/>
                </a:solidFill>
                <a:latin typeface="Calibri" pitchFamily="34" charset="0"/>
                <a:ea typeface="Calibri" pitchFamily="34" charset="-122"/>
                <a:cs typeface="Calibri" pitchFamily="34" charset="-120"/>
              </a:rPr>
              <a:t>Metrics and dashboards</a:t>
            </a:r>
            <a:endParaRPr lang="en-US" sz="1250" dirty="0"/>
          </a:p>
        </p:txBody>
      </p:sp>
      <p:sp>
        <p:nvSpPr>
          <p:cNvPr id="29" name="Shape 27"/>
          <p:cNvSpPr/>
          <p:nvPr/>
        </p:nvSpPr>
        <p:spPr>
          <a:xfrm>
            <a:off x="8138160" y="3566160"/>
            <a:ext cx="3566160" cy="1417320"/>
          </a:xfrm>
          <a:prstGeom prst="roundRect">
            <a:avLst>
              <a:gd name="adj" fmla="val 5806"/>
            </a:avLst>
          </a:prstGeom>
          <a:solidFill>
            <a:srgbClr val="ECFDF5"/>
          </a:solidFill>
          <a:ln/>
          <a:effectLst>
            <a:outerShdw sx="100000" sy="100000" kx="0" ky="0" algn="bl" rotWithShape="0" blurRad="114300" dist="38100" dir="5400000">
              <a:srgbClr val="0A1F3C">
                <a:alpha val="16000"/>
              </a:srgbClr>
            </a:outerShdw>
          </a:effectLst>
        </p:spPr>
      </p:sp>
      <p:sp>
        <p:nvSpPr>
          <p:cNvPr id="30" name="Shape 28"/>
          <p:cNvSpPr/>
          <p:nvPr/>
        </p:nvSpPr>
        <p:spPr>
          <a:xfrm>
            <a:off x="8394192" y="3840480"/>
            <a:ext cx="502920" cy="502920"/>
          </a:xfrm>
          <a:prstGeom prst="ellipse">
            <a:avLst/>
          </a:prstGeom>
          <a:solidFill>
            <a:srgbClr val="0D9488"/>
          </a:solidFill>
          <a:ln/>
        </p:spPr>
      </p:sp>
      <p:sp>
        <p:nvSpPr>
          <p:cNvPr id="31" name="Text 29"/>
          <p:cNvSpPr/>
          <p:nvPr/>
        </p:nvSpPr>
        <p:spPr>
          <a:xfrm>
            <a:off x="8394192" y="38404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32" name="Text 30"/>
          <p:cNvSpPr/>
          <p:nvPr/>
        </p:nvSpPr>
        <p:spPr>
          <a:xfrm>
            <a:off x="9052560" y="3822192"/>
            <a:ext cx="2468880" cy="457200"/>
          </a:xfrm>
          <a:prstGeom prst="rect">
            <a:avLst/>
          </a:prstGeom>
          <a:noFill/>
          <a:ln/>
        </p:spPr>
        <p:txBody>
          <a:bodyPr wrap="square" lIns="0" tIns="0" rIns="0" bIns="0" rtlCol="0" anchor="ctr"/>
          <a:lstStyle/>
          <a:p>
            <a:pPr indent="0" marL="0">
              <a:buNone/>
            </a:pPr>
            <a:r>
              <a:rPr lang="en-US" sz="1600" b="1" dirty="0">
                <a:solidFill>
                  <a:srgbClr val="16233A"/>
                </a:solidFill>
                <a:latin typeface="Calibri" pitchFamily="34" charset="0"/>
                <a:ea typeface="Calibri" pitchFamily="34" charset="-122"/>
                <a:cs typeface="Calibri" pitchFamily="34" charset="-120"/>
              </a:rPr>
              <a:t>Docker</a:t>
            </a:r>
            <a:endParaRPr lang="en-US" sz="1600" dirty="0"/>
          </a:p>
        </p:txBody>
      </p:sp>
      <p:sp>
        <p:nvSpPr>
          <p:cNvPr id="33" name="Text 31"/>
          <p:cNvSpPr/>
          <p:nvPr/>
        </p:nvSpPr>
        <p:spPr>
          <a:xfrm>
            <a:off x="8412480" y="4343400"/>
            <a:ext cx="3063240" cy="548640"/>
          </a:xfrm>
          <a:prstGeom prst="rect">
            <a:avLst/>
          </a:prstGeom>
          <a:noFill/>
          <a:ln/>
        </p:spPr>
        <p:txBody>
          <a:bodyPr wrap="square" lIns="0" tIns="0" rIns="0" bIns="0" rtlCol="0" anchor="ctr"/>
          <a:lstStyle/>
          <a:p>
            <a:pPr indent="0" marL="0">
              <a:buNone/>
            </a:pPr>
            <a:r>
              <a:rPr lang="en-US" sz="1250" dirty="0">
                <a:solidFill>
                  <a:srgbClr val="334155"/>
                </a:solidFill>
                <a:latin typeface="Calibri" pitchFamily="34" charset="0"/>
                <a:ea typeface="Calibri" pitchFamily="34" charset="-122"/>
                <a:cs typeface="Calibri" pitchFamily="34" charset="-120"/>
              </a:rPr>
              <a:t>Package and ship anything</a:t>
            </a:r>
            <a:endParaRPr lang="en-US" sz="1250" dirty="0"/>
          </a:p>
        </p:txBody>
      </p:sp>
      <p:sp>
        <p:nvSpPr>
          <p:cNvPr id="34" name="Text 32"/>
          <p:cNvSpPr/>
          <p:nvPr/>
        </p:nvSpPr>
        <p:spPr>
          <a:xfrm>
            <a:off x="548640" y="5532120"/>
            <a:ext cx="10972800" cy="457200"/>
          </a:xfrm>
          <a:prstGeom prst="rect">
            <a:avLst/>
          </a:prstGeom>
          <a:noFill/>
          <a:ln/>
        </p:spPr>
        <p:txBody>
          <a:bodyPr wrap="square" lIns="0" tIns="0" rIns="0" bIns="0" rtlCol="0" anchor="ctr"/>
          <a:lstStyle/>
          <a:p>
            <a:pPr algn="ctr" indent="0" marL="0">
              <a:buNone/>
            </a:pPr>
            <a:r>
              <a:rPr lang="en-US" sz="1500" i="1" dirty="0">
                <a:solidFill>
                  <a:srgbClr val="0D9488"/>
                </a:solidFill>
                <a:latin typeface="Calibri" pitchFamily="34" charset="0"/>
                <a:ea typeface="Calibri" pitchFamily="34" charset="-122"/>
                <a:cs typeface="Calibri" pitchFamily="34" charset="-120"/>
              </a:rPr>
              <a:t>Every one of these started as someone deciding to solve a problem in the open.</a:t>
            </a:r>
            <a:endParaRPr lang="en-US" sz="1500" dirty="0"/>
          </a:p>
        </p:txBody>
      </p:sp>
      <p:sp>
        <p:nvSpPr>
          <p:cNvPr id="36" name="Text 33"/>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From User to Creator  •  Cloud Webinar</a:t>
            </a:r>
            <a:endParaRPr lang="en-US" sz="900" dirty="0"/>
          </a:p>
        </p:txBody>
      </p:sp>
      <p:sp>
        <p:nvSpPr>
          <p:cNvPr id="37" name="Text 34"/>
          <p:cNvSpPr/>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320040"/>
          </a:xfrm>
          <a:prstGeom prst="rect">
            <a:avLst/>
          </a:prstGeom>
          <a:noFill/>
          <a:ln/>
        </p:spPr>
        <p:txBody>
          <a:bodyPr wrap="square" lIns="0" tIns="0" rIns="0" bIns="0" rtlCol="0" anchor="ctr"/>
          <a:lstStyle/>
          <a:p>
            <a:pPr indent="0" marL="0">
              <a:buNone/>
            </a:pPr>
            <a:r>
              <a:rPr lang="en-US" sz="1300" b="1" spc="200" kern="0" dirty="0">
                <a:solidFill>
                  <a:srgbClr val="0D9488"/>
                </a:solidFill>
                <a:latin typeface="Calibri" pitchFamily="34" charset="0"/>
                <a:ea typeface="Calibri" pitchFamily="34" charset="-122"/>
                <a:cs typeface="Calibri" pitchFamily="34" charset="-120"/>
              </a:rPr>
              <a:t>THE PAYOFF</a:t>
            </a:r>
            <a:endParaRPr lang="en-US" sz="1300" dirty="0"/>
          </a:p>
        </p:txBody>
      </p:sp>
      <p:sp>
        <p:nvSpPr>
          <p:cNvPr id="3" name="Text 1"/>
          <p:cNvSpPr/>
          <p:nvPr/>
        </p:nvSpPr>
        <p:spPr>
          <a:xfrm>
            <a:off x="548640" y="713232"/>
            <a:ext cx="11064240" cy="868680"/>
          </a:xfrm>
          <a:prstGeom prst="rect">
            <a:avLst/>
          </a:prstGeom>
          <a:noFill/>
          <a:ln/>
        </p:spPr>
        <p:txBody>
          <a:bodyPr wrap="square" lIns="0" tIns="0" rIns="0" bIns="0" rtlCol="0" anchor="ctr"/>
          <a:lstStyle/>
          <a:p>
            <a:pPr indent="0" marL="0">
              <a:buNone/>
            </a:pPr>
            <a:r>
              <a:rPr lang="en-US" sz="3100" b="1" dirty="0">
                <a:solidFill>
                  <a:srgbClr val="16233A"/>
                </a:solidFill>
                <a:latin typeface="Calibri" pitchFamily="34" charset="0"/>
                <a:ea typeface="Calibri" pitchFamily="34" charset="-122"/>
                <a:cs typeface="Calibri" pitchFamily="34" charset="-120"/>
              </a:rPr>
              <a:t>What you gain by creating</a:t>
            </a:r>
            <a:endParaRPr lang="en-US" sz="3100" dirty="0"/>
          </a:p>
        </p:txBody>
      </p:sp>
      <p:sp>
        <p:nvSpPr>
          <p:cNvPr id="4" name="Shape 2"/>
          <p:cNvSpPr/>
          <p:nvPr/>
        </p:nvSpPr>
        <p:spPr>
          <a:xfrm>
            <a:off x="548640" y="1828800"/>
            <a:ext cx="5394960" cy="1737360"/>
          </a:xfrm>
          <a:prstGeom prst="roundRect">
            <a:avLst>
              <a:gd name="adj" fmla="val 4737"/>
            </a:avLst>
          </a:prstGeom>
          <a:solidFill>
            <a:srgbClr val="F1F5F9"/>
          </a:solidFill>
          <a:ln/>
          <a:effectLst>
            <a:outerShdw sx="100000" sy="100000" kx="0" ky="0" algn="bl" rotWithShape="0" blurRad="114300" dist="38100" dir="5400000">
              <a:srgbClr val="0A1F3C">
                <a:alpha val="16000"/>
              </a:srgbClr>
            </a:outerShdw>
          </a:effectLst>
        </p:spPr>
      </p:sp>
      <p:sp>
        <p:nvSpPr>
          <p:cNvPr id="5" name="Shape 3"/>
          <p:cNvSpPr/>
          <p:nvPr/>
        </p:nvSpPr>
        <p:spPr>
          <a:xfrm>
            <a:off x="868680" y="2286000"/>
            <a:ext cx="822960" cy="822960"/>
          </a:xfrm>
          <a:prstGeom prst="ellipse">
            <a:avLst/>
          </a:prstGeom>
          <a:solidFill>
            <a:srgbClr val="0D9488"/>
          </a:solidFill>
          <a:ln/>
        </p:spPr>
      </p:sp>
      <p:sp>
        <p:nvSpPr>
          <p:cNvPr id="6" name="Text 4"/>
          <p:cNvSpPr/>
          <p:nvPr/>
        </p:nvSpPr>
        <p:spPr>
          <a:xfrm>
            <a:off x="868680" y="2286000"/>
            <a:ext cx="822960" cy="82296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a:t>
            </a:r>
            <a:endParaRPr lang="en-US" sz="2400" dirty="0"/>
          </a:p>
        </p:txBody>
      </p:sp>
      <p:sp>
        <p:nvSpPr>
          <p:cNvPr id="7" name="Text 5"/>
          <p:cNvSpPr/>
          <p:nvPr/>
        </p:nvSpPr>
        <p:spPr>
          <a:xfrm>
            <a:off x="1920240" y="2148840"/>
            <a:ext cx="3749040" cy="502920"/>
          </a:xfrm>
          <a:prstGeom prst="rect">
            <a:avLst/>
          </a:prstGeom>
          <a:noFill/>
          <a:ln/>
        </p:spPr>
        <p:txBody>
          <a:bodyPr wrap="square" lIns="0" tIns="0" rIns="0" bIns="0" rtlCol="0" anchor="ctr"/>
          <a:lstStyle/>
          <a:p>
            <a:pPr indent="0" marL="0">
              <a:buNone/>
            </a:pPr>
            <a:r>
              <a:rPr lang="en-US" sz="1800" b="1" dirty="0">
                <a:solidFill>
                  <a:srgbClr val="16233A"/>
                </a:solidFill>
                <a:latin typeface="Calibri" pitchFamily="34" charset="0"/>
                <a:ea typeface="Calibri" pitchFamily="34" charset="-122"/>
                <a:cs typeface="Calibri" pitchFamily="34" charset="-120"/>
              </a:rPr>
              <a:t>A living portfolio</a:t>
            </a:r>
            <a:endParaRPr lang="en-US" sz="1800" dirty="0"/>
          </a:p>
        </p:txBody>
      </p:sp>
      <p:sp>
        <p:nvSpPr>
          <p:cNvPr id="8" name="Text 6"/>
          <p:cNvSpPr/>
          <p:nvPr/>
        </p:nvSpPr>
        <p:spPr>
          <a:xfrm>
            <a:off x="1920240" y="2697480"/>
            <a:ext cx="3749040" cy="73152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Verifiable, forkable, alive — it works while you sleep.</a:t>
            </a:r>
            <a:endParaRPr lang="en-US" sz="1300" dirty="0"/>
          </a:p>
        </p:txBody>
      </p:sp>
      <p:sp>
        <p:nvSpPr>
          <p:cNvPr id="9" name="Shape 7"/>
          <p:cNvSpPr/>
          <p:nvPr/>
        </p:nvSpPr>
        <p:spPr>
          <a:xfrm>
            <a:off x="6172200" y="1828800"/>
            <a:ext cx="5394960" cy="1737360"/>
          </a:xfrm>
          <a:prstGeom prst="roundRect">
            <a:avLst>
              <a:gd name="adj" fmla="val 4737"/>
            </a:avLst>
          </a:prstGeom>
          <a:solidFill>
            <a:srgbClr val="F1F5F9"/>
          </a:solidFill>
          <a:ln/>
          <a:effectLst>
            <a:outerShdw sx="100000" sy="100000" kx="0" ky="0" algn="bl" rotWithShape="0" blurRad="114300" dist="38100" dir="5400000">
              <a:srgbClr val="0A1F3C">
                <a:alpha val="16000"/>
              </a:srgbClr>
            </a:outerShdw>
          </a:effectLst>
        </p:spPr>
      </p:sp>
      <p:sp>
        <p:nvSpPr>
          <p:cNvPr id="10" name="Shape 8"/>
          <p:cNvSpPr/>
          <p:nvPr/>
        </p:nvSpPr>
        <p:spPr>
          <a:xfrm>
            <a:off x="6492240" y="2286000"/>
            <a:ext cx="822960" cy="822960"/>
          </a:xfrm>
          <a:prstGeom prst="ellipse">
            <a:avLst/>
          </a:prstGeom>
          <a:solidFill>
            <a:srgbClr val="14B8A6"/>
          </a:solidFill>
          <a:ln/>
        </p:spPr>
      </p:sp>
      <p:sp>
        <p:nvSpPr>
          <p:cNvPr id="11" name="Text 9"/>
          <p:cNvSpPr/>
          <p:nvPr/>
        </p:nvSpPr>
        <p:spPr>
          <a:xfrm>
            <a:off x="6492240" y="2286000"/>
            <a:ext cx="822960" cy="82296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a:t>
            </a:r>
            <a:endParaRPr lang="en-US" sz="2400" dirty="0"/>
          </a:p>
        </p:txBody>
      </p:sp>
      <p:sp>
        <p:nvSpPr>
          <p:cNvPr id="12" name="Text 10"/>
          <p:cNvSpPr/>
          <p:nvPr/>
        </p:nvSpPr>
        <p:spPr>
          <a:xfrm>
            <a:off x="7543800" y="2148840"/>
            <a:ext cx="3749040" cy="502920"/>
          </a:xfrm>
          <a:prstGeom prst="rect">
            <a:avLst/>
          </a:prstGeom>
          <a:noFill/>
          <a:ln/>
        </p:spPr>
        <p:txBody>
          <a:bodyPr wrap="square" lIns="0" tIns="0" rIns="0" bIns="0" rtlCol="0" anchor="ctr"/>
          <a:lstStyle/>
          <a:p>
            <a:pPr indent="0" marL="0">
              <a:buNone/>
            </a:pPr>
            <a:r>
              <a:rPr lang="en-US" sz="1800" b="1" dirty="0">
                <a:solidFill>
                  <a:srgbClr val="16233A"/>
                </a:solidFill>
                <a:latin typeface="Calibri" pitchFamily="34" charset="0"/>
                <a:ea typeface="Calibri" pitchFamily="34" charset="-122"/>
                <a:cs typeface="Calibri" pitchFamily="34" charset="-120"/>
              </a:rPr>
              <a:t>Global visibility</a:t>
            </a:r>
            <a:endParaRPr lang="en-US" sz="1800" dirty="0"/>
          </a:p>
        </p:txBody>
      </p:sp>
      <p:sp>
        <p:nvSpPr>
          <p:cNvPr id="13" name="Text 11"/>
          <p:cNvSpPr/>
          <p:nvPr/>
        </p:nvSpPr>
        <p:spPr>
          <a:xfrm>
            <a:off x="7543800" y="2697480"/>
            <a:ext cx="3749040" cy="73152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Credibility across orgs and time zones; accelerates hiring.</a:t>
            </a:r>
            <a:endParaRPr lang="en-US" sz="1300" dirty="0"/>
          </a:p>
        </p:txBody>
      </p:sp>
      <p:sp>
        <p:nvSpPr>
          <p:cNvPr id="14" name="Shape 12"/>
          <p:cNvSpPr/>
          <p:nvPr/>
        </p:nvSpPr>
        <p:spPr>
          <a:xfrm>
            <a:off x="548640" y="3840480"/>
            <a:ext cx="5394960" cy="1737360"/>
          </a:xfrm>
          <a:prstGeom prst="roundRect">
            <a:avLst>
              <a:gd name="adj" fmla="val 4737"/>
            </a:avLst>
          </a:prstGeom>
          <a:solidFill>
            <a:srgbClr val="F1F5F9"/>
          </a:solidFill>
          <a:ln/>
          <a:effectLst>
            <a:outerShdw sx="100000" sy="100000" kx="0" ky="0" algn="bl" rotWithShape="0" blurRad="114300" dist="38100" dir="5400000">
              <a:srgbClr val="0A1F3C">
                <a:alpha val="16000"/>
              </a:srgbClr>
            </a:outerShdw>
          </a:effectLst>
        </p:spPr>
      </p:sp>
      <p:sp>
        <p:nvSpPr>
          <p:cNvPr id="15" name="Shape 13"/>
          <p:cNvSpPr/>
          <p:nvPr/>
        </p:nvSpPr>
        <p:spPr>
          <a:xfrm>
            <a:off x="868680" y="4297680"/>
            <a:ext cx="822960" cy="822960"/>
          </a:xfrm>
          <a:prstGeom prst="ellipse">
            <a:avLst/>
          </a:prstGeom>
          <a:solidFill>
            <a:srgbClr val="F59E0B"/>
          </a:solidFill>
          <a:ln/>
        </p:spPr>
      </p:sp>
      <p:sp>
        <p:nvSpPr>
          <p:cNvPr id="16" name="Text 14"/>
          <p:cNvSpPr/>
          <p:nvPr/>
        </p:nvSpPr>
        <p:spPr>
          <a:xfrm>
            <a:off x="868680" y="4297680"/>
            <a:ext cx="822960" cy="82296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a:t>
            </a:r>
            <a:endParaRPr lang="en-US" sz="2400" dirty="0"/>
          </a:p>
        </p:txBody>
      </p:sp>
      <p:sp>
        <p:nvSpPr>
          <p:cNvPr id="17" name="Text 15"/>
          <p:cNvSpPr/>
          <p:nvPr/>
        </p:nvSpPr>
        <p:spPr>
          <a:xfrm>
            <a:off x="1920240" y="4160520"/>
            <a:ext cx="3749040" cy="502920"/>
          </a:xfrm>
          <a:prstGeom prst="rect">
            <a:avLst/>
          </a:prstGeom>
          <a:noFill/>
          <a:ln/>
        </p:spPr>
        <p:txBody>
          <a:bodyPr wrap="square" lIns="0" tIns="0" rIns="0" bIns="0" rtlCol="0" anchor="ctr"/>
          <a:lstStyle/>
          <a:p>
            <a:pPr indent="0" marL="0">
              <a:buNone/>
            </a:pPr>
            <a:r>
              <a:rPr lang="en-US" sz="1800" b="1" dirty="0">
                <a:solidFill>
                  <a:srgbClr val="16233A"/>
                </a:solidFill>
                <a:latin typeface="Calibri" pitchFamily="34" charset="0"/>
                <a:ea typeface="Calibri" pitchFamily="34" charset="-122"/>
                <a:cs typeface="Calibri" pitchFamily="34" charset="-120"/>
              </a:rPr>
              <a:t>Real collaboration</a:t>
            </a:r>
            <a:endParaRPr lang="en-US" sz="1800" dirty="0"/>
          </a:p>
        </p:txBody>
      </p:sp>
      <p:sp>
        <p:nvSpPr>
          <p:cNvPr id="18" name="Text 16"/>
          <p:cNvSpPr/>
          <p:nvPr/>
        </p:nvSpPr>
        <p:spPr>
          <a:xfrm>
            <a:off x="1920240" y="4709160"/>
            <a:ext cx="3749040" cy="73152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Work with experienced engineers on real constraints.</a:t>
            </a:r>
            <a:endParaRPr lang="en-US" sz="1300" dirty="0"/>
          </a:p>
        </p:txBody>
      </p:sp>
      <p:sp>
        <p:nvSpPr>
          <p:cNvPr id="19" name="Shape 17"/>
          <p:cNvSpPr/>
          <p:nvPr/>
        </p:nvSpPr>
        <p:spPr>
          <a:xfrm>
            <a:off x="6172200" y="3840480"/>
            <a:ext cx="5394960" cy="1737360"/>
          </a:xfrm>
          <a:prstGeom prst="roundRect">
            <a:avLst>
              <a:gd name="adj" fmla="val 4737"/>
            </a:avLst>
          </a:prstGeom>
          <a:solidFill>
            <a:srgbClr val="F1F5F9"/>
          </a:solidFill>
          <a:ln/>
          <a:effectLst>
            <a:outerShdw sx="100000" sy="100000" kx="0" ky="0" algn="bl" rotWithShape="0" blurRad="114300" dist="38100" dir="5400000">
              <a:srgbClr val="0A1F3C">
                <a:alpha val="16000"/>
              </a:srgbClr>
            </a:outerShdw>
          </a:effectLst>
        </p:spPr>
      </p:sp>
      <p:sp>
        <p:nvSpPr>
          <p:cNvPr id="20" name="Shape 18"/>
          <p:cNvSpPr/>
          <p:nvPr/>
        </p:nvSpPr>
        <p:spPr>
          <a:xfrm>
            <a:off x="6492240" y="4297680"/>
            <a:ext cx="822960" cy="822960"/>
          </a:xfrm>
          <a:prstGeom prst="ellipse">
            <a:avLst/>
          </a:prstGeom>
          <a:solidFill>
            <a:srgbClr val="F97316"/>
          </a:solidFill>
          <a:ln/>
        </p:spPr>
      </p:sp>
      <p:sp>
        <p:nvSpPr>
          <p:cNvPr id="21" name="Text 19"/>
          <p:cNvSpPr/>
          <p:nvPr/>
        </p:nvSpPr>
        <p:spPr>
          <a:xfrm>
            <a:off x="6492240" y="4297680"/>
            <a:ext cx="822960" cy="82296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a:t>
            </a:r>
            <a:endParaRPr lang="en-US" sz="2400" dirty="0"/>
          </a:p>
        </p:txBody>
      </p:sp>
      <p:sp>
        <p:nvSpPr>
          <p:cNvPr id="22" name="Text 20"/>
          <p:cNvSpPr/>
          <p:nvPr/>
        </p:nvSpPr>
        <p:spPr>
          <a:xfrm>
            <a:off x="7543800" y="4160520"/>
            <a:ext cx="3749040" cy="502920"/>
          </a:xfrm>
          <a:prstGeom prst="rect">
            <a:avLst/>
          </a:prstGeom>
          <a:noFill/>
          <a:ln/>
        </p:spPr>
        <p:txBody>
          <a:bodyPr wrap="square" lIns="0" tIns="0" rIns="0" bIns="0" rtlCol="0" anchor="ctr"/>
          <a:lstStyle/>
          <a:p>
            <a:pPr indent="0" marL="0">
              <a:buNone/>
            </a:pPr>
            <a:r>
              <a:rPr lang="en-US" sz="1800" b="1" dirty="0">
                <a:solidFill>
                  <a:srgbClr val="16233A"/>
                </a:solidFill>
                <a:latin typeface="Calibri" pitchFamily="34" charset="0"/>
                <a:ea typeface="Calibri" pitchFamily="34" charset="-122"/>
                <a:cs typeface="Calibri" pitchFamily="34" charset="-120"/>
              </a:rPr>
              <a:t>Production-grade skills</a:t>
            </a:r>
            <a:endParaRPr lang="en-US" sz="1800" dirty="0"/>
          </a:p>
        </p:txBody>
      </p:sp>
      <p:sp>
        <p:nvSpPr>
          <p:cNvPr id="23" name="Text 21"/>
          <p:cNvSpPr/>
          <p:nvPr/>
        </p:nvSpPr>
        <p:spPr>
          <a:xfrm>
            <a:off x="7543800" y="4709160"/>
            <a:ext cx="3749040" cy="73152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Modern cloud-native tech in contexts that mirror industry.</a:t>
            </a:r>
            <a:endParaRPr lang="en-US" sz="1300" dirty="0"/>
          </a:p>
        </p:txBody>
      </p:sp>
      <p:sp>
        <p:nvSpPr>
          <p:cNvPr id="25" name="Text 22"/>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From User to Creator  •  Cloud Webinar</a:t>
            </a:r>
            <a:endParaRPr lang="en-US" sz="900" dirty="0"/>
          </a:p>
        </p:txBody>
      </p:sp>
      <p:sp>
        <p:nvSpPr>
          <p:cNvPr id="26" name="Text 23"/>
          <p:cNvSpPr/>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320040"/>
          </a:xfrm>
          <a:prstGeom prst="rect">
            <a:avLst/>
          </a:prstGeom>
          <a:noFill/>
          <a:ln/>
        </p:spPr>
        <p:txBody>
          <a:bodyPr wrap="square" lIns="0" tIns="0" rIns="0" bIns="0" rtlCol="0" anchor="ctr"/>
          <a:lstStyle/>
          <a:p>
            <a:pPr indent="0" marL="0">
              <a:buNone/>
            </a:pPr>
            <a:r>
              <a:rPr lang="en-US" sz="1300" b="1" spc="200" kern="0" dirty="0">
                <a:solidFill>
                  <a:srgbClr val="0D9488"/>
                </a:solidFill>
                <a:latin typeface="Calibri" pitchFamily="34" charset="0"/>
                <a:ea typeface="Calibri" pitchFamily="34" charset="-122"/>
                <a:cs typeface="Calibri" pitchFamily="34" charset="-120"/>
              </a:rPr>
              <a:t>BEFORE YOU BUILD</a:t>
            </a:r>
            <a:endParaRPr lang="en-US" sz="1300" dirty="0"/>
          </a:p>
        </p:txBody>
      </p:sp>
      <p:sp>
        <p:nvSpPr>
          <p:cNvPr id="3" name="Text 1"/>
          <p:cNvSpPr/>
          <p:nvPr/>
        </p:nvSpPr>
        <p:spPr>
          <a:xfrm>
            <a:off x="548640" y="713232"/>
            <a:ext cx="11064240" cy="868680"/>
          </a:xfrm>
          <a:prstGeom prst="rect">
            <a:avLst/>
          </a:prstGeom>
          <a:noFill/>
          <a:ln/>
        </p:spPr>
        <p:txBody>
          <a:bodyPr wrap="square" lIns="0" tIns="0" rIns="0" bIns="0" rtlCol="0" anchor="ctr"/>
          <a:lstStyle/>
          <a:p>
            <a:pPr indent="0" marL="0">
              <a:buNone/>
            </a:pPr>
            <a:r>
              <a:rPr lang="en-US" sz="3100" b="1" dirty="0">
                <a:solidFill>
                  <a:srgbClr val="16233A"/>
                </a:solidFill>
                <a:latin typeface="Calibri" pitchFamily="34" charset="0"/>
                <a:ea typeface="Calibri" pitchFamily="34" charset="-122"/>
                <a:cs typeface="Calibri" pitchFamily="34" charset="-120"/>
              </a:rPr>
              <a:t>What makes a tool actually matter</a:t>
            </a:r>
            <a:endParaRPr lang="en-US" sz="3100" dirty="0"/>
          </a:p>
        </p:txBody>
      </p:sp>
      <p:sp>
        <p:nvSpPr>
          <p:cNvPr id="4" name="Shape 2"/>
          <p:cNvSpPr/>
          <p:nvPr/>
        </p:nvSpPr>
        <p:spPr>
          <a:xfrm>
            <a:off x="548640" y="1828800"/>
            <a:ext cx="11064240" cy="914400"/>
          </a:xfrm>
          <a:prstGeom prst="roundRect">
            <a:avLst>
              <a:gd name="adj" fmla="val 9000"/>
            </a:avLst>
          </a:prstGeom>
          <a:solidFill>
            <a:srgbClr val="F1F5F9"/>
          </a:solidFill>
          <a:ln/>
          <a:effectLst>
            <a:outerShdw sx="100000" sy="100000" kx="0" ky="0" algn="bl" rotWithShape="0" blurRad="114300" dist="38100" dir="5400000">
              <a:srgbClr val="0A1F3C">
                <a:alpha val="16000"/>
              </a:srgbClr>
            </a:outerShdw>
          </a:effectLst>
        </p:spPr>
      </p:sp>
      <p:sp>
        <p:nvSpPr>
          <p:cNvPr id="5" name="Shape 3"/>
          <p:cNvSpPr/>
          <p:nvPr/>
        </p:nvSpPr>
        <p:spPr>
          <a:xfrm>
            <a:off x="822960" y="1993392"/>
            <a:ext cx="585216" cy="585216"/>
          </a:xfrm>
          <a:prstGeom prst="ellipse">
            <a:avLst/>
          </a:prstGeom>
          <a:solidFill>
            <a:srgbClr val="0D9488"/>
          </a:solidFill>
          <a:ln/>
        </p:spPr>
      </p:sp>
      <p:sp>
        <p:nvSpPr>
          <p:cNvPr id="6" name="Text 4"/>
          <p:cNvSpPr/>
          <p:nvPr/>
        </p:nvSpPr>
        <p:spPr>
          <a:xfrm>
            <a:off x="822960" y="1993392"/>
            <a:ext cx="585216" cy="585216"/>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7" name="Text 5"/>
          <p:cNvSpPr/>
          <p:nvPr/>
        </p:nvSpPr>
        <p:spPr>
          <a:xfrm>
            <a:off x="1645920" y="1828800"/>
            <a:ext cx="3383280" cy="914400"/>
          </a:xfrm>
          <a:prstGeom prst="rect">
            <a:avLst/>
          </a:prstGeom>
          <a:noFill/>
          <a:ln/>
        </p:spPr>
        <p:txBody>
          <a:bodyPr wrap="square" lIns="0" tIns="0" rIns="0" bIns="0" rtlCol="0" anchor="ctr"/>
          <a:lstStyle/>
          <a:p>
            <a:pPr indent="0" marL="0">
              <a:buNone/>
            </a:pPr>
            <a:r>
              <a:rPr lang="en-US" sz="1700" b="1" dirty="0">
                <a:solidFill>
                  <a:srgbClr val="16233A"/>
                </a:solidFill>
                <a:latin typeface="Calibri" pitchFamily="34" charset="0"/>
                <a:ea typeface="Calibri" pitchFamily="34" charset="-122"/>
                <a:cs typeface="Calibri" pitchFamily="34" charset="-120"/>
              </a:rPr>
              <a:t>Solves a real pain</a:t>
            </a:r>
            <a:endParaRPr lang="en-US" sz="1700" dirty="0"/>
          </a:p>
        </p:txBody>
      </p:sp>
      <p:sp>
        <p:nvSpPr>
          <p:cNvPr id="8" name="Text 6"/>
          <p:cNvSpPr/>
          <p:nvPr/>
        </p:nvSpPr>
        <p:spPr>
          <a:xfrm>
            <a:off x="5120640" y="1828800"/>
            <a:ext cx="6217920" cy="914400"/>
          </a:xfrm>
          <a:prstGeom prst="rect">
            <a:avLst/>
          </a:prstGeom>
          <a:noFill/>
          <a:ln/>
        </p:spPr>
        <p:txBody>
          <a:bodyPr wrap="square" lIns="0" tIns="0" rIns="0" bIns="0" rtlCol="0" anchor="ctr"/>
          <a:lstStyle/>
          <a:p>
            <a:pPr indent="0" marL="0">
              <a:buNone/>
            </a:pPr>
            <a:r>
              <a:rPr lang="en-US" sz="1400" dirty="0">
                <a:solidFill>
                  <a:srgbClr val="334155"/>
                </a:solidFill>
                <a:latin typeface="Calibri" pitchFamily="34" charset="0"/>
                <a:ea typeface="Calibri" pitchFamily="34" charset="-122"/>
                <a:cs typeface="Calibri" pitchFamily="34" charset="-120"/>
              </a:rPr>
              <a:t>Cost, security, time, or visibility — something people feel.</a:t>
            </a:r>
            <a:endParaRPr lang="en-US" sz="1400" dirty="0"/>
          </a:p>
        </p:txBody>
      </p:sp>
      <p:sp>
        <p:nvSpPr>
          <p:cNvPr id="9" name="Shape 7"/>
          <p:cNvSpPr/>
          <p:nvPr/>
        </p:nvSpPr>
        <p:spPr>
          <a:xfrm>
            <a:off x="548640" y="2880360"/>
            <a:ext cx="11064240" cy="914400"/>
          </a:xfrm>
          <a:prstGeom prst="roundRect">
            <a:avLst>
              <a:gd name="adj" fmla="val 9000"/>
            </a:avLst>
          </a:prstGeom>
          <a:solidFill>
            <a:srgbClr val="ECFDF5"/>
          </a:solidFill>
          <a:ln/>
          <a:effectLst>
            <a:outerShdw sx="100000" sy="100000" kx="0" ky="0" algn="bl" rotWithShape="0" blurRad="114300" dist="38100" dir="5400000">
              <a:srgbClr val="0A1F3C">
                <a:alpha val="16000"/>
              </a:srgbClr>
            </a:outerShdw>
          </a:effectLst>
        </p:spPr>
      </p:sp>
      <p:sp>
        <p:nvSpPr>
          <p:cNvPr id="10" name="Shape 8"/>
          <p:cNvSpPr/>
          <p:nvPr/>
        </p:nvSpPr>
        <p:spPr>
          <a:xfrm>
            <a:off x="822960" y="3044952"/>
            <a:ext cx="585216" cy="585216"/>
          </a:xfrm>
          <a:prstGeom prst="ellipse">
            <a:avLst/>
          </a:prstGeom>
          <a:solidFill>
            <a:srgbClr val="14B8A6"/>
          </a:solidFill>
          <a:ln/>
        </p:spPr>
      </p:sp>
      <p:sp>
        <p:nvSpPr>
          <p:cNvPr id="11" name="Text 9"/>
          <p:cNvSpPr/>
          <p:nvPr/>
        </p:nvSpPr>
        <p:spPr>
          <a:xfrm>
            <a:off x="822960" y="3044952"/>
            <a:ext cx="585216" cy="585216"/>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2" name="Text 10"/>
          <p:cNvSpPr/>
          <p:nvPr/>
        </p:nvSpPr>
        <p:spPr>
          <a:xfrm>
            <a:off x="1645920" y="2880360"/>
            <a:ext cx="3383280" cy="914400"/>
          </a:xfrm>
          <a:prstGeom prst="rect">
            <a:avLst/>
          </a:prstGeom>
          <a:noFill/>
          <a:ln/>
        </p:spPr>
        <p:txBody>
          <a:bodyPr wrap="square" lIns="0" tIns="0" rIns="0" bIns="0" rtlCol="0" anchor="ctr"/>
          <a:lstStyle/>
          <a:p>
            <a:pPr indent="0" marL="0">
              <a:buNone/>
            </a:pPr>
            <a:r>
              <a:rPr lang="en-US" sz="1700" b="1" dirty="0">
                <a:solidFill>
                  <a:srgbClr val="16233A"/>
                </a:solidFill>
                <a:latin typeface="Calibri" pitchFamily="34" charset="0"/>
                <a:ea typeface="Calibri" pitchFamily="34" charset="-122"/>
                <a:cs typeface="Calibri" pitchFamily="34" charset="-120"/>
              </a:rPr>
              <a:t>Small surface area</a:t>
            </a:r>
            <a:endParaRPr lang="en-US" sz="1700" dirty="0"/>
          </a:p>
        </p:txBody>
      </p:sp>
      <p:sp>
        <p:nvSpPr>
          <p:cNvPr id="13" name="Text 11"/>
          <p:cNvSpPr/>
          <p:nvPr/>
        </p:nvSpPr>
        <p:spPr>
          <a:xfrm>
            <a:off x="5120640" y="2880360"/>
            <a:ext cx="6217920" cy="914400"/>
          </a:xfrm>
          <a:prstGeom prst="rect">
            <a:avLst/>
          </a:prstGeom>
          <a:noFill/>
          <a:ln/>
        </p:spPr>
        <p:txBody>
          <a:bodyPr wrap="square" lIns="0" tIns="0" rIns="0" bIns="0" rtlCol="0" anchor="ctr"/>
          <a:lstStyle/>
          <a:p>
            <a:pPr indent="0" marL="0">
              <a:buNone/>
            </a:pPr>
            <a:r>
              <a:rPr lang="en-US" sz="1400" dirty="0">
                <a:solidFill>
                  <a:srgbClr val="334155"/>
                </a:solidFill>
                <a:latin typeface="Calibri" pitchFamily="34" charset="0"/>
                <a:ea typeface="Calibri" pitchFamily="34" charset="-122"/>
                <a:cs typeface="Calibri" pitchFamily="34" charset="-120"/>
              </a:rPr>
              <a:t>Does ONE thing well. Easy to understand, easy to trust.</a:t>
            </a:r>
            <a:endParaRPr lang="en-US" sz="1400" dirty="0"/>
          </a:p>
        </p:txBody>
      </p:sp>
      <p:sp>
        <p:nvSpPr>
          <p:cNvPr id="14" name="Shape 12"/>
          <p:cNvSpPr/>
          <p:nvPr/>
        </p:nvSpPr>
        <p:spPr>
          <a:xfrm>
            <a:off x="548640" y="3931920"/>
            <a:ext cx="11064240" cy="914400"/>
          </a:xfrm>
          <a:prstGeom prst="roundRect">
            <a:avLst>
              <a:gd name="adj" fmla="val 9000"/>
            </a:avLst>
          </a:prstGeom>
          <a:solidFill>
            <a:srgbClr val="F1F5F9"/>
          </a:solidFill>
          <a:ln/>
          <a:effectLst>
            <a:outerShdw sx="100000" sy="100000" kx="0" ky="0" algn="bl" rotWithShape="0" blurRad="114300" dist="38100" dir="5400000">
              <a:srgbClr val="0A1F3C">
                <a:alpha val="16000"/>
              </a:srgbClr>
            </a:outerShdw>
          </a:effectLst>
        </p:spPr>
      </p:sp>
      <p:sp>
        <p:nvSpPr>
          <p:cNvPr id="15" name="Shape 13"/>
          <p:cNvSpPr/>
          <p:nvPr/>
        </p:nvSpPr>
        <p:spPr>
          <a:xfrm>
            <a:off x="822960" y="4096512"/>
            <a:ext cx="585216" cy="585216"/>
          </a:xfrm>
          <a:prstGeom prst="ellipse">
            <a:avLst/>
          </a:prstGeom>
          <a:solidFill>
            <a:srgbClr val="F59E0B"/>
          </a:solidFill>
          <a:ln/>
        </p:spPr>
      </p:sp>
      <p:sp>
        <p:nvSpPr>
          <p:cNvPr id="16" name="Text 14"/>
          <p:cNvSpPr/>
          <p:nvPr/>
        </p:nvSpPr>
        <p:spPr>
          <a:xfrm>
            <a:off x="822960" y="4096512"/>
            <a:ext cx="585216" cy="585216"/>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7" name="Text 15"/>
          <p:cNvSpPr/>
          <p:nvPr/>
        </p:nvSpPr>
        <p:spPr>
          <a:xfrm>
            <a:off x="1645920" y="3931920"/>
            <a:ext cx="3383280" cy="914400"/>
          </a:xfrm>
          <a:prstGeom prst="rect">
            <a:avLst/>
          </a:prstGeom>
          <a:noFill/>
          <a:ln/>
        </p:spPr>
        <p:txBody>
          <a:bodyPr wrap="square" lIns="0" tIns="0" rIns="0" bIns="0" rtlCol="0" anchor="ctr"/>
          <a:lstStyle/>
          <a:p>
            <a:pPr indent="0" marL="0">
              <a:buNone/>
            </a:pPr>
            <a:r>
              <a:rPr lang="en-US" sz="1700" b="1" dirty="0">
                <a:solidFill>
                  <a:srgbClr val="16233A"/>
                </a:solidFill>
                <a:latin typeface="Calibri" pitchFamily="34" charset="0"/>
                <a:ea typeface="Calibri" pitchFamily="34" charset="-122"/>
                <a:cs typeface="Calibri" pitchFamily="34" charset="-120"/>
              </a:rPr>
              <a:t>Easy to install &amp; run</a:t>
            </a:r>
            <a:endParaRPr lang="en-US" sz="1700" dirty="0"/>
          </a:p>
        </p:txBody>
      </p:sp>
      <p:sp>
        <p:nvSpPr>
          <p:cNvPr id="18" name="Text 16"/>
          <p:cNvSpPr/>
          <p:nvPr/>
        </p:nvSpPr>
        <p:spPr>
          <a:xfrm>
            <a:off x="5120640" y="3931920"/>
            <a:ext cx="6217920" cy="914400"/>
          </a:xfrm>
          <a:prstGeom prst="rect">
            <a:avLst/>
          </a:prstGeom>
          <a:noFill/>
          <a:ln/>
        </p:spPr>
        <p:txBody>
          <a:bodyPr wrap="square" lIns="0" tIns="0" rIns="0" bIns="0" rtlCol="0" anchor="ctr"/>
          <a:lstStyle/>
          <a:p>
            <a:pPr indent="0" marL="0">
              <a:buNone/>
            </a:pPr>
            <a:r>
              <a:rPr lang="en-US" sz="1400" dirty="0">
                <a:solidFill>
                  <a:srgbClr val="334155"/>
                </a:solidFill>
                <a:latin typeface="Calibri" pitchFamily="34" charset="0"/>
                <a:ea typeface="Calibri" pitchFamily="34" charset="-122"/>
                <a:cs typeface="Calibri" pitchFamily="34" charset="-120"/>
              </a:rPr>
              <a:t>One command. Friction kills adoption.</a:t>
            </a:r>
            <a:endParaRPr lang="en-US" sz="1400" dirty="0"/>
          </a:p>
        </p:txBody>
      </p:sp>
      <p:sp>
        <p:nvSpPr>
          <p:cNvPr id="19" name="Shape 17"/>
          <p:cNvSpPr/>
          <p:nvPr/>
        </p:nvSpPr>
        <p:spPr>
          <a:xfrm>
            <a:off x="548640" y="4983480"/>
            <a:ext cx="11064240" cy="914400"/>
          </a:xfrm>
          <a:prstGeom prst="roundRect">
            <a:avLst>
              <a:gd name="adj" fmla="val 9000"/>
            </a:avLst>
          </a:prstGeom>
          <a:solidFill>
            <a:srgbClr val="ECFDF5"/>
          </a:solidFill>
          <a:ln/>
          <a:effectLst>
            <a:outerShdw sx="100000" sy="100000" kx="0" ky="0" algn="bl" rotWithShape="0" blurRad="114300" dist="38100" dir="5400000">
              <a:srgbClr val="0A1F3C">
                <a:alpha val="16000"/>
              </a:srgbClr>
            </a:outerShdw>
          </a:effectLst>
        </p:spPr>
      </p:sp>
      <p:sp>
        <p:nvSpPr>
          <p:cNvPr id="20" name="Shape 18"/>
          <p:cNvSpPr/>
          <p:nvPr/>
        </p:nvSpPr>
        <p:spPr>
          <a:xfrm>
            <a:off x="822960" y="5148072"/>
            <a:ext cx="585216" cy="585216"/>
          </a:xfrm>
          <a:prstGeom prst="ellipse">
            <a:avLst/>
          </a:prstGeom>
          <a:solidFill>
            <a:srgbClr val="F97316"/>
          </a:solidFill>
          <a:ln/>
        </p:spPr>
      </p:sp>
      <p:sp>
        <p:nvSpPr>
          <p:cNvPr id="21" name="Text 19"/>
          <p:cNvSpPr/>
          <p:nvPr/>
        </p:nvSpPr>
        <p:spPr>
          <a:xfrm>
            <a:off x="822960" y="5148072"/>
            <a:ext cx="585216" cy="585216"/>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22" name="Text 20"/>
          <p:cNvSpPr/>
          <p:nvPr/>
        </p:nvSpPr>
        <p:spPr>
          <a:xfrm>
            <a:off x="1645920" y="4983480"/>
            <a:ext cx="3383280" cy="914400"/>
          </a:xfrm>
          <a:prstGeom prst="rect">
            <a:avLst/>
          </a:prstGeom>
          <a:noFill/>
          <a:ln/>
        </p:spPr>
        <p:txBody>
          <a:bodyPr wrap="square" lIns="0" tIns="0" rIns="0" bIns="0" rtlCol="0" anchor="ctr"/>
          <a:lstStyle/>
          <a:p>
            <a:pPr indent="0" marL="0">
              <a:buNone/>
            </a:pPr>
            <a:r>
              <a:rPr lang="en-US" sz="1700" b="1" dirty="0">
                <a:solidFill>
                  <a:srgbClr val="16233A"/>
                </a:solidFill>
                <a:latin typeface="Calibri" pitchFamily="34" charset="0"/>
                <a:ea typeface="Calibri" pitchFamily="34" charset="-122"/>
                <a:cs typeface="Calibri" pitchFamily="34" charset="-120"/>
              </a:rPr>
              <a:t>Great README</a:t>
            </a:r>
            <a:endParaRPr lang="en-US" sz="1700" dirty="0"/>
          </a:p>
        </p:txBody>
      </p:sp>
      <p:sp>
        <p:nvSpPr>
          <p:cNvPr id="23" name="Text 21"/>
          <p:cNvSpPr/>
          <p:nvPr/>
        </p:nvSpPr>
        <p:spPr>
          <a:xfrm>
            <a:off x="5120640" y="4983480"/>
            <a:ext cx="6217920" cy="914400"/>
          </a:xfrm>
          <a:prstGeom prst="rect">
            <a:avLst/>
          </a:prstGeom>
          <a:noFill/>
          <a:ln/>
        </p:spPr>
        <p:txBody>
          <a:bodyPr wrap="square" lIns="0" tIns="0" rIns="0" bIns="0" rtlCol="0" anchor="ctr"/>
          <a:lstStyle/>
          <a:p>
            <a:pPr indent="0" marL="0">
              <a:buNone/>
            </a:pPr>
            <a:r>
              <a:rPr lang="en-US" sz="1400" dirty="0">
                <a:solidFill>
                  <a:srgbClr val="334155"/>
                </a:solidFill>
                <a:latin typeface="Calibri" pitchFamily="34" charset="0"/>
                <a:ea typeface="Calibri" pitchFamily="34" charset="-122"/>
                <a:cs typeface="Calibri" pitchFamily="34" charset="-120"/>
              </a:rPr>
              <a:t>~50% of why tools get adopted. Show, don't tell.</a:t>
            </a:r>
            <a:endParaRPr lang="en-US" sz="1400" dirty="0"/>
          </a:p>
        </p:txBody>
      </p:sp>
      <p:sp>
        <p:nvSpPr>
          <p:cNvPr id="25" name="Text 22"/>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From User to Creator  •  Cloud Webinar</a:t>
            </a:r>
            <a:endParaRPr lang="en-US" sz="900" dirty="0"/>
          </a:p>
        </p:txBody>
      </p:sp>
      <p:sp>
        <p:nvSpPr>
          <p:cNvPr id="26" name="Text 23"/>
          <p:cNvSpPr/>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F3C"/>
        </a:solidFill>
      </p:bgPr>
    </p:bg>
    <p:spTree>
      <p:nvGrpSpPr>
        <p:cNvPr id="1" name=""/>
        <p:cNvGrpSpPr/>
        <p:nvPr/>
      </p:nvGrpSpPr>
      <p:grpSpPr>
        <a:xfrm>
          <a:off x="0" y="0"/>
          <a:ext cx="0" cy="0"/>
          <a:chOff x="0" y="0"/>
          <a:chExt cx="0" cy="0"/>
        </a:xfrm>
      </p:grpSpPr>
      <p:sp>
        <p:nvSpPr>
          <p:cNvPr id="2" name="Shape 0"/>
          <p:cNvSpPr/>
          <p:nvPr/>
        </p:nvSpPr>
        <p:spPr>
          <a:xfrm>
            <a:off x="-1463040" y="3291840"/>
            <a:ext cx="4754880" cy="4754880"/>
          </a:xfrm>
          <a:prstGeom prst="ellipse">
            <a:avLst/>
          </a:prstGeom>
          <a:solidFill>
            <a:srgbClr val="12284B"/>
          </a:solidFill>
          <a:ln/>
        </p:spPr>
      </p:sp>
      <p:sp>
        <p:nvSpPr>
          <p:cNvPr id="3" name="Shape 1"/>
          <p:cNvSpPr/>
          <p:nvPr/>
        </p:nvSpPr>
        <p:spPr>
          <a:xfrm>
            <a:off x="9692640" y="-2011680"/>
            <a:ext cx="4937760" cy="4937760"/>
          </a:xfrm>
          <a:prstGeom prst="ellipse">
            <a:avLst/>
          </a:prstGeom>
          <a:solidFill>
            <a:srgbClr val="12284B"/>
          </a:solidFill>
          <a:ln/>
        </p:spPr>
      </p:sp>
      <p:sp>
        <p:nvSpPr>
          <p:cNvPr id="4" name="Shape 2"/>
          <p:cNvSpPr/>
          <p:nvPr/>
        </p:nvSpPr>
        <p:spPr>
          <a:xfrm>
            <a:off x="822960" y="2286000"/>
            <a:ext cx="1280160" cy="1280160"/>
          </a:xfrm>
          <a:prstGeom prst="ellipse">
            <a:avLst/>
          </a:prstGeom>
          <a:solidFill>
            <a:srgbClr val="14B8A6"/>
          </a:solidFill>
          <a:ln/>
        </p:spPr>
      </p:sp>
      <p:sp>
        <p:nvSpPr>
          <p:cNvPr id="5" name="Text 3"/>
          <p:cNvSpPr/>
          <p:nvPr/>
        </p:nvSpPr>
        <p:spPr>
          <a:xfrm>
            <a:off x="822960" y="2286000"/>
            <a:ext cx="1280160" cy="1280160"/>
          </a:xfrm>
          <a:prstGeom prst="rect">
            <a:avLst/>
          </a:prstGeom>
          <a:noFill/>
          <a:ln/>
        </p:spPr>
        <p:txBody>
          <a:bodyPr wrap="square" lIns="0" tIns="0" rIns="0" bIns="0" rtlCol="0" anchor="ctr"/>
          <a:lstStyle/>
          <a:p>
            <a:pPr algn="ctr" indent="0" marL="0">
              <a:buNone/>
            </a:pPr>
            <a:r>
              <a:rPr lang="en-US" sz="4000" b="1" dirty="0">
                <a:solidFill>
                  <a:srgbClr val="0A1F3C"/>
                </a:solidFill>
                <a:latin typeface="Calibri" pitchFamily="34" charset="0"/>
                <a:ea typeface="Calibri" pitchFamily="34" charset="-122"/>
                <a:cs typeface="Calibri" pitchFamily="34" charset="-120"/>
              </a:rPr>
              <a:t>3</a:t>
            </a:r>
            <a:endParaRPr lang="en-US" sz="4000" dirty="0"/>
          </a:p>
        </p:txBody>
      </p:sp>
      <p:sp>
        <p:nvSpPr>
          <p:cNvPr id="6" name="Text 4"/>
          <p:cNvSpPr/>
          <p:nvPr/>
        </p:nvSpPr>
        <p:spPr>
          <a:xfrm>
            <a:off x="2468880" y="2331720"/>
            <a:ext cx="8229600" cy="365760"/>
          </a:xfrm>
          <a:prstGeom prst="rect">
            <a:avLst/>
          </a:prstGeom>
          <a:noFill/>
          <a:ln/>
        </p:spPr>
        <p:txBody>
          <a:bodyPr wrap="square" lIns="0" tIns="0" rIns="0" bIns="0" rtlCol="0" anchor="ctr"/>
          <a:lstStyle/>
          <a:p>
            <a:pPr indent="0" marL="0">
              <a:buNone/>
            </a:pPr>
            <a:r>
              <a:rPr lang="en-US" sz="1400" b="1" spc="200" kern="0" dirty="0">
                <a:solidFill>
                  <a:srgbClr val="14B8A6"/>
                </a:solidFill>
                <a:latin typeface="Calibri" pitchFamily="34" charset="0"/>
                <a:ea typeface="Calibri" pitchFamily="34" charset="-122"/>
                <a:cs typeface="Calibri" pitchFamily="34" charset="-120"/>
              </a:rPr>
              <a:t>FROM FRUSTRATION TO PROJECT</a:t>
            </a:r>
            <a:endParaRPr lang="en-US" sz="1400" dirty="0"/>
          </a:p>
        </p:txBody>
      </p:sp>
      <p:sp>
        <p:nvSpPr>
          <p:cNvPr id="7" name="Text 5"/>
          <p:cNvSpPr/>
          <p:nvPr/>
        </p:nvSpPr>
        <p:spPr>
          <a:xfrm>
            <a:off x="2468880" y="2697480"/>
            <a:ext cx="8961120" cy="128016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Finding a problem worth solving</a:t>
            </a:r>
            <a:endParaRPr lang="en-US" sz="4000" dirty="0"/>
          </a:p>
        </p:txBody>
      </p:sp>
      <p:sp>
        <p:nvSpPr>
          <p:cNvPr id="8" name="Text 6"/>
          <p:cNvSpPr/>
          <p:nvPr/>
        </p:nvSpPr>
        <p:spPr>
          <a:xfrm>
            <a:off x="2487168" y="3977640"/>
            <a:ext cx="8778240" cy="73152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We'll pick a real, common, painful cloud problem — and scope it.</a:t>
            </a:r>
            <a:endParaRPr lang="en-US" sz="1600" dirty="0"/>
          </a:p>
        </p:txBody>
      </p:sp>
      <p:sp>
        <p:nvSpPr>
          <p:cNvPr id="10" name="Text 7"/>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CADCFC"/>
                </a:solidFill>
                <a:latin typeface="Calibri" pitchFamily="34" charset="0"/>
                <a:ea typeface="Calibri" pitchFamily="34" charset="-122"/>
                <a:cs typeface="Calibri" pitchFamily="34" charset="-120"/>
              </a:rPr>
              <a:t>From User to Creator  •  Cloud Webinar</a:t>
            </a:r>
            <a:endParaRPr lang="en-US" sz="900" dirty="0"/>
          </a:p>
        </p:txBody>
      </p:sp>
      <p:sp>
        <p:nvSpPr>
          <p:cNvPr id="11" name="Text 8"/>
          <p:cNvSpPr/>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CADCFC"/>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320040"/>
          </a:xfrm>
          <a:prstGeom prst="rect">
            <a:avLst/>
          </a:prstGeom>
          <a:noFill/>
          <a:ln/>
        </p:spPr>
        <p:txBody>
          <a:bodyPr wrap="square" lIns="0" tIns="0" rIns="0" bIns="0" rtlCol="0" anchor="ctr"/>
          <a:lstStyle/>
          <a:p>
            <a:pPr indent="0" marL="0">
              <a:buNone/>
            </a:pPr>
            <a:r>
              <a:rPr lang="en-US" sz="1300" b="1" spc="200" kern="0" dirty="0">
                <a:solidFill>
                  <a:srgbClr val="0D9488"/>
                </a:solidFill>
                <a:latin typeface="Calibri" pitchFamily="34" charset="0"/>
                <a:ea typeface="Calibri" pitchFamily="34" charset="-122"/>
                <a:cs typeface="Calibri" pitchFamily="34" charset="-120"/>
              </a:rPr>
              <a:t>WHERE GOOD PROJECTS COME FROM</a:t>
            </a:r>
            <a:endParaRPr lang="en-US" sz="1300" dirty="0"/>
          </a:p>
        </p:txBody>
      </p:sp>
      <p:sp>
        <p:nvSpPr>
          <p:cNvPr id="3" name="Text 1"/>
          <p:cNvSpPr/>
          <p:nvPr/>
        </p:nvSpPr>
        <p:spPr>
          <a:xfrm>
            <a:off x="548640" y="713232"/>
            <a:ext cx="11064240" cy="868680"/>
          </a:xfrm>
          <a:prstGeom prst="rect">
            <a:avLst/>
          </a:prstGeom>
          <a:noFill/>
          <a:ln/>
        </p:spPr>
        <p:txBody>
          <a:bodyPr wrap="square" lIns="0" tIns="0" rIns="0" bIns="0" rtlCol="0" anchor="ctr"/>
          <a:lstStyle/>
          <a:p>
            <a:pPr indent="0" marL="0">
              <a:buNone/>
            </a:pPr>
            <a:r>
              <a:rPr lang="en-US" sz="3100" b="1" dirty="0">
                <a:solidFill>
                  <a:srgbClr val="16233A"/>
                </a:solidFill>
                <a:latin typeface="Calibri" pitchFamily="34" charset="0"/>
                <a:ea typeface="Calibri" pitchFamily="34" charset="-122"/>
                <a:cs typeface="Calibri" pitchFamily="34" charset="-120"/>
              </a:rPr>
              <a:t>How to find problems worth solving</a:t>
            </a:r>
            <a:endParaRPr lang="en-US" sz="3100" dirty="0"/>
          </a:p>
        </p:txBody>
      </p:sp>
      <p:sp>
        <p:nvSpPr>
          <p:cNvPr id="4" name="Shape 2"/>
          <p:cNvSpPr/>
          <p:nvPr/>
        </p:nvSpPr>
        <p:spPr>
          <a:xfrm>
            <a:off x="548640" y="1828800"/>
            <a:ext cx="5394960" cy="1783080"/>
          </a:xfrm>
          <a:prstGeom prst="roundRect">
            <a:avLst>
              <a:gd name="adj" fmla="val 4615"/>
            </a:avLst>
          </a:prstGeom>
          <a:solidFill>
            <a:srgbClr val="F1F5F9"/>
          </a:solidFill>
          <a:ln/>
          <a:effectLst>
            <a:outerShdw sx="100000" sy="100000" kx="0" ky="0" algn="bl" rotWithShape="0" blurRad="114300" dist="38100" dir="5400000">
              <a:srgbClr val="0A1F3C">
                <a:alpha val="16000"/>
              </a:srgbClr>
            </a:outerShdw>
          </a:effectLst>
        </p:spPr>
      </p:sp>
      <p:sp>
        <p:nvSpPr>
          <p:cNvPr id="5" name="Shape 3"/>
          <p:cNvSpPr/>
          <p:nvPr/>
        </p:nvSpPr>
        <p:spPr>
          <a:xfrm>
            <a:off x="841248" y="2121408"/>
            <a:ext cx="548640" cy="548640"/>
          </a:xfrm>
          <a:prstGeom prst="ellipse">
            <a:avLst/>
          </a:prstGeom>
          <a:solidFill>
            <a:srgbClr val="0D9488"/>
          </a:solidFill>
          <a:ln/>
        </p:spPr>
      </p:sp>
      <p:sp>
        <p:nvSpPr>
          <p:cNvPr id="6" name="Text 4"/>
          <p:cNvSpPr/>
          <p:nvPr/>
        </p:nvSpPr>
        <p:spPr>
          <a:xfrm>
            <a:off x="841248" y="212140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7" name="Text 5"/>
          <p:cNvSpPr/>
          <p:nvPr/>
        </p:nvSpPr>
        <p:spPr>
          <a:xfrm>
            <a:off x="1508760" y="2121408"/>
            <a:ext cx="4206240" cy="457200"/>
          </a:xfrm>
          <a:prstGeom prst="rect">
            <a:avLst/>
          </a:prstGeom>
          <a:noFill/>
          <a:ln/>
        </p:spPr>
        <p:txBody>
          <a:bodyPr wrap="square" lIns="0" tIns="0" rIns="0" bIns="0" rtlCol="0" anchor="ctr"/>
          <a:lstStyle/>
          <a:p>
            <a:pPr indent="0" marL="0">
              <a:buNone/>
            </a:pPr>
            <a:r>
              <a:rPr lang="en-US" sz="1700" b="1" dirty="0">
                <a:solidFill>
                  <a:srgbClr val="16233A"/>
                </a:solidFill>
                <a:latin typeface="Calibri" pitchFamily="34" charset="0"/>
                <a:ea typeface="Calibri" pitchFamily="34" charset="-122"/>
                <a:cs typeface="Calibri" pitchFamily="34" charset="-120"/>
              </a:rPr>
              <a:t>Your daily friction</a:t>
            </a:r>
            <a:endParaRPr lang="en-US" sz="1700" dirty="0"/>
          </a:p>
        </p:txBody>
      </p:sp>
      <p:sp>
        <p:nvSpPr>
          <p:cNvPr id="8" name="Text 6"/>
          <p:cNvSpPr/>
          <p:nvPr/>
        </p:nvSpPr>
        <p:spPr>
          <a:xfrm>
            <a:off x="841248" y="2697480"/>
            <a:ext cx="4846320" cy="77724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The command you keep re-typing. The check you keep doing by hand.</a:t>
            </a:r>
            <a:endParaRPr lang="en-US" sz="1300" dirty="0"/>
          </a:p>
        </p:txBody>
      </p:sp>
      <p:sp>
        <p:nvSpPr>
          <p:cNvPr id="9" name="Shape 7"/>
          <p:cNvSpPr/>
          <p:nvPr/>
        </p:nvSpPr>
        <p:spPr>
          <a:xfrm>
            <a:off x="6172200" y="1828800"/>
            <a:ext cx="5394960" cy="1783080"/>
          </a:xfrm>
          <a:prstGeom prst="roundRect">
            <a:avLst>
              <a:gd name="adj" fmla="val 4615"/>
            </a:avLst>
          </a:prstGeom>
          <a:solidFill>
            <a:srgbClr val="F1F5F9"/>
          </a:solidFill>
          <a:ln/>
          <a:effectLst>
            <a:outerShdw sx="100000" sy="100000" kx="0" ky="0" algn="bl" rotWithShape="0" blurRad="114300" dist="38100" dir="5400000">
              <a:srgbClr val="0A1F3C">
                <a:alpha val="16000"/>
              </a:srgbClr>
            </a:outerShdw>
          </a:effectLst>
        </p:spPr>
      </p:sp>
      <p:sp>
        <p:nvSpPr>
          <p:cNvPr id="10" name="Shape 8"/>
          <p:cNvSpPr/>
          <p:nvPr/>
        </p:nvSpPr>
        <p:spPr>
          <a:xfrm>
            <a:off x="6464808" y="2121408"/>
            <a:ext cx="548640" cy="548640"/>
          </a:xfrm>
          <a:prstGeom prst="ellipse">
            <a:avLst/>
          </a:prstGeom>
          <a:solidFill>
            <a:srgbClr val="0D9488"/>
          </a:solidFill>
          <a:ln/>
        </p:spPr>
      </p:sp>
      <p:sp>
        <p:nvSpPr>
          <p:cNvPr id="11" name="Text 9"/>
          <p:cNvSpPr/>
          <p:nvPr/>
        </p:nvSpPr>
        <p:spPr>
          <a:xfrm>
            <a:off x="6464808" y="212140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2" name="Text 10"/>
          <p:cNvSpPr/>
          <p:nvPr/>
        </p:nvSpPr>
        <p:spPr>
          <a:xfrm>
            <a:off x="7132320" y="2121408"/>
            <a:ext cx="4206240" cy="457200"/>
          </a:xfrm>
          <a:prstGeom prst="rect">
            <a:avLst/>
          </a:prstGeom>
          <a:noFill/>
          <a:ln/>
        </p:spPr>
        <p:txBody>
          <a:bodyPr wrap="square" lIns="0" tIns="0" rIns="0" bIns="0" rtlCol="0" anchor="ctr"/>
          <a:lstStyle/>
          <a:p>
            <a:pPr indent="0" marL="0">
              <a:buNone/>
            </a:pPr>
            <a:r>
              <a:rPr lang="en-US" sz="1700" b="1" dirty="0">
                <a:solidFill>
                  <a:srgbClr val="16233A"/>
                </a:solidFill>
                <a:latin typeface="Calibri" pitchFamily="34" charset="0"/>
                <a:ea typeface="Calibri" pitchFamily="34" charset="-122"/>
                <a:cs typeface="Calibri" pitchFamily="34" charset="-120"/>
              </a:rPr>
              <a:t>The scary gap</a:t>
            </a:r>
            <a:endParaRPr lang="en-US" sz="1700" dirty="0"/>
          </a:p>
        </p:txBody>
      </p:sp>
      <p:sp>
        <p:nvSpPr>
          <p:cNvPr id="13" name="Text 11"/>
          <p:cNvSpPr/>
          <p:nvPr/>
        </p:nvSpPr>
        <p:spPr>
          <a:xfrm>
            <a:off x="6464808" y="2697480"/>
            <a:ext cx="4846320" cy="77724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"I hope nobody misconfigured that..." — automate the worry away.</a:t>
            </a:r>
            <a:endParaRPr lang="en-US" sz="1300" dirty="0"/>
          </a:p>
        </p:txBody>
      </p:sp>
      <p:sp>
        <p:nvSpPr>
          <p:cNvPr id="14" name="Shape 12"/>
          <p:cNvSpPr/>
          <p:nvPr/>
        </p:nvSpPr>
        <p:spPr>
          <a:xfrm>
            <a:off x="548640" y="3886200"/>
            <a:ext cx="5394960" cy="1783080"/>
          </a:xfrm>
          <a:prstGeom prst="roundRect">
            <a:avLst>
              <a:gd name="adj" fmla="val 4615"/>
            </a:avLst>
          </a:prstGeom>
          <a:solidFill>
            <a:srgbClr val="F1F5F9"/>
          </a:solidFill>
          <a:ln/>
          <a:effectLst>
            <a:outerShdw sx="100000" sy="100000" kx="0" ky="0" algn="bl" rotWithShape="0" blurRad="114300" dist="38100" dir="5400000">
              <a:srgbClr val="0A1F3C">
                <a:alpha val="16000"/>
              </a:srgbClr>
            </a:outerShdw>
          </a:effectLst>
        </p:spPr>
      </p:sp>
      <p:sp>
        <p:nvSpPr>
          <p:cNvPr id="15" name="Shape 13"/>
          <p:cNvSpPr/>
          <p:nvPr/>
        </p:nvSpPr>
        <p:spPr>
          <a:xfrm>
            <a:off x="841248" y="4178808"/>
            <a:ext cx="548640" cy="548640"/>
          </a:xfrm>
          <a:prstGeom prst="ellipse">
            <a:avLst/>
          </a:prstGeom>
          <a:solidFill>
            <a:srgbClr val="0D9488"/>
          </a:solidFill>
          <a:ln/>
        </p:spPr>
      </p:sp>
      <p:sp>
        <p:nvSpPr>
          <p:cNvPr id="16" name="Text 14"/>
          <p:cNvSpPr/>
          <p:nvPr/>
        </p:nvSpPr>
        <p:spPr>
          <a:xfrm>
            <a:off x="841248" y="417880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7" name="Text 15"/>
          <p:cNvSpPr/>
          <p:nvPr/>
        </p:nvSpPr>
        <p:spPr>
          <a:xfrm>
            <a:off x="1508760" y="4178808"/>
            <a:ext cx="4206240" cy="457200"/>
          </a:xfrm>
          <a:prstGeom prst="rect">
            <a:avLst/>
          </a:prstGeom>
          <a:noFill/>
          <a:ln/>
        </p:spPr>
        <p:txBody>
          <a:bodyPr wrap="square" lIns="0" tIns="0" rIns="0" bIns="0" rtlCol="0" anchor="ctr"/>
          <a:lstStyle/>
          <a:p>
            <a:pPr indent="0" marL="0">
              <a:buNone/>
            </a:pPr>
            <a:r>
              <a:rPr lang="en-US" sz="1700" b="1" dirty="0">
                <a:solidFill>
                  <a:srgbClr val="16233A"/>
                </a:solidFill>
                <a:latin typeface="Calibri" pitchFamily="34" charset="0"/>
                <a:ea typeface="Calibri" pitchFamily="34" charset="-122"/>
                <a:cs typeface="Calibri" pitchFamily="34" charset="-120"/>
              </a:rPr>
              <a:t>The onboarding pain</a:t>
            </a:r>
            <a:endParaRPr lang="en-US" sz="1700" dirty="0"/>
          </a:p>
        </p:txBody>
      </p:sp>
      <p:sp>
        <p:nvSpPr>
          <p:cNvPr id="18" name="Text 16"/>
          <p:cNvSpPr/>
          <p:nvPr/>
        </p:nvSpPr>
        <p:spPr>
          <a:xfrm>
            <a:off x="841248" y="4754880"/>
            <a:ext cx="4846320" cy="77724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What confused you on day one will confuse the next person.</a:t>
            </a:r>
            <a:endParaRPr lang="en-US" sz="1300" dirty="0"/>
          </a:p>
        </p:txBody>
      </p:sp>
      <p:sp>
        <p:nvSpPr>
          <p:cNvPr id="19" name="Shape 17"/>
          <p:cNvSpPr/>
          <p:nvPr/>
        </p:nvSpPr>
        <p:spPr>
          <a:xfrm>
            <a:off x="6172200" y="3886200"/>
            <a:ext cx="5394960" cy="1783080"/>
          </a:xfrm>
          <a:prstGeom prst="roundRect">
            <a:avLst>
              <a:gd name="adj" fmla="val 4615"/>
            </a:avLst>
          </a:prstGeom>
          <a:solidFill>
            <a:srgbClr val="F1F5F9"/>
          </a:solidFill>
          <a:ln/>
          <a:effectLst>
            <a:outerShdw sx="100000" sy="100000" kx="0" ky="0" algn="bl" rotWithShape="0" blurRad="114300" dist="38100" dir="5400000">
              <a:srgbClr val="0A1F3C">
                <a:alpha val="16000"/>
              </a:srgbClr>
            </a:outerShdw>
          </a:effectLst>
        </p:spPr>
      </p:sp>
      <p:sp>
        <p:nvSpPr>
          <p:cNvPr id="20" name="Shape 18"/>
          <p:cNvSpPr/>
          <p:nvPr/>
        </p:nvSpPr>
        <p:spPr>
          <a:xfrm>
            <a:off x="6464808" y="4178808"/>
            <a:ext cx="548640" cy="548640"/>
          </a:xfrm>
          <a:prstGeom prst="ellipse">
            <a:avLst/>
          </a:prstGeom>
          <a:solidFill>
            <a:srgbClr val="0D9488"/>
          </a:solidFill>
          <a:ln/>
        </p:spPr>
      </p:sp>
      <p:sp>
        <p:nvSpPr>
          <p:cNvPr id="21" name="Text 19"/>
          <p:cNvSpPr/>
          <p:nvPr/>
        </p:nvSpPr>
        <p:spPr>
          <a:xfrm>
            <a:off x="6464808" y="417880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22" name="Text 20"/>
          <p:cNvSpPr/>
          <p:nvPr/>
        </p:nvSpPr>
        <p:spPr>
          <a:xfrm>
            <a:off x="7132320" y="4178808"/>
            <a:ext cx="4206240" cy="457200"/>
          </a:xfrm>
          <a:prstGeom prst="rect">
            <a:avLst/>
          </a:prstGeom>
          <a:noFill/>
          <a:ln/>
        </p:spPr>
        <p:txBody>
          <a:bodyPr wrap="square" lIns="0" tIns="0" rIns="0" bIns="0" rtlCol="0" anchor="ctr"/>
          <a:lstStyle/>
          <a:p>
            <a:pPr indent="0" marL="0">
              <a:buNone/>
            </a:pPr>
            <a:r>
              <a:rPr lang="en-US" sz="1700" b="1" dirty="0">
                <a:solidFill>
                  <a:srgbClr val="16233A"/>
                </a:solidFill>
                <a:latin typeface="Calibri" pitchFamily="34" charset="0"/>
                <a:ea typeface="Calibri" pitchFamily="34" charset="-122"/>
                <a:cs typeface="Calibri" pitchFamily="34" charset="-120"/>
              </a:rPr>
              <a:t>The expensive surprise</a:t>
            </a:r>
            <a:endParaRPr lang="en-US" sz="1700" dirty="0"/>
          </a:p>
        </p:txBody>
      </p:sp>
      <p:sp>
        <p:nvSpPr>
          <p:cNvPr id="23" name="Text 21"/>
          <p:cNvSpPr/>
          <p:nvPr/>
        </p:nvSpPr>
        <p:spPr>
          <a:xfrm>
            <a:off x="6464808" y="4754880"/>
            <a:ext cx="4846320" cy="77724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The bill, the outage, the breach you want to prevent.</a:t>
            </a:r>
            <a:endParaRPr lang="en-US" sz="1300" dirty="0"/>
          </a:p>
        </p:txBody>
      </p:sp>
      <p:sp>
        <p:nvSpPr>
          <p:cNvPr id="24" name="Text 22"/>
          <p:cNvSpPr/>
          <p:nvPr/>
        </p:nvSpPr>
        <p:spPr>
          <a:xfrm>
            <a:off x="548640" y="5532120"/>
            <a:ext cx="10972800" cy="365760"/>
          </a:xfrm>
          <a:prstGeom prst="rect">
            <a:avLst/>
          </a:prstGeom>
          <a:noFill/>
          <a:ln/>
        </p:spPr>
        <p:txBody>
          <a:bodyPr wrap="square" lIns="0" tIns="0" rIns="0" bIns="0" rtlCol="0" anchor="ctr"/>
          <a:lstStyle/>
          <a:p>
            <a:pPr algn="ctr" indent="0" marL="0">
              <a:buNone/>
            </a:pPr>
            <a:r>
              <a:rPr lang="en-US" sz="1500" b="1" i="1" dirty="0">
                <a:solidFill>
                  <a:srgbClr val="0D9488"/>
                </a:solidFill>
                <a:latin typeface="Calibri" pitchFamily="34" charset="0"/>
                <a:ea typeface="Calibri" pitchFamily="34" charset="-122"/>
                <a:cs typeface="Calibri" pitchFamily="34" charset="-120"/>
              </a:rPr>
              <a:t>Our pick today lives squarely in "the scary gap."</a:t>
            </a:r>
            <a:endParaRPr lang="en-US" sz="1500" dirty="0"/>
          </a:p>
        </p:txBody>
      </p:sp>
      <p:sp>
        <p:nvSpPr>
          <p:cNvPr id="26" name="Text 23"/>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From User to Creator  •  Cloud Webinar</a:t>
            </a:r>
            <a:endParaRPr lang="en-US" sz="900" dirty="0"/>
          </a:p>
        </p:txBody>
      </p:sp>
      <p:sp>
        <p:nvSpPr>
          <p:cNvPr id="27" name="Text 24"/>
          <p:cNvSpPr/>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320040"/>
          </a:xfrm>
          <a:prstGeom prst="rect">
            <a:avLst/>
          </a:prstGeom>
          <a:noFill/>
          <a:ln/>
        </p:spPr>
        <p:txBody>
          <a:bodyPr wrap="square" lIns="0" tIns="0" rIns="0" bIns="0" rtlCol="0" anchor="ctr"/>
          <a:lstStyle/>
          <a:p>
            <a:pPr indent="0" marL="0">
              <a:buNone/>
            </a:pPr>
            <a:r>
              <a:rPr lang="en-US" sz="1300" b="1" spc="200" kern="0" dirty="0">
                <a:solidFill>
                  <a:srgbClr val="0D9488"/>
                </a:solidFill>
                <a:latin typeface="Calibri" pitchFamily="34" charset="0"/>
                <a:ea typeface="Calibri" pitchFamily="34" charset="-122"/>
                <a:cs typeface="Calibri" pitchFamily="34" charset="-120"/>
              </a:rPr>
              <a:t>OUR CHOSEN PROBLEM</a:t>
            </a:r>
            <a:endParaRPr lang="en-US" sz="1300" dirty="0"/>
          </a:p>
        </p:txBody>
      </p:sp>
      <p:sp>
        <p:nvSpPr>
          <p:cNvPr id="3" name="Text 1"/>
          <p:cNvSpPr/>
          <p:nvPr/>
        </p:nvSpPr>
        <p:spPr>
          <a:xfrm>
            <a:off x="548640" y="713232"/>
            <a:ext cx="11064240" cy="868680"/>
          </a:xfrm>
          <a:prstGeom prst="rect">
            <a:avLst/>
          </a:prstGeom>
          <a:noFill/>
          <a:ln/>
        </p:spPr>
        <p:txBody>
          <a:bodyPr wrap="square" lIns="0" tIns="0" rIns="0" bIns="0" rtlCol="0" anchor="ctr"/>
          <a:lstStyle/>
          <a:p>
            <a:pPr indent="0" marL="0">
              <a:buNone/>
            </a:pPr>
            <a:r>
              <a:rPr lang="en-US" sz="3100" b="1" dirty="0">
                <a:solidFill>
                  <a:srgbClr val="16233A"/>
                </a:solidFill>
                <a:latin typeface="Calibri" pitchFamily="34" charset="0"/>
                <a:ea typeface="Calibri" pitchFamily="34" charset="-122"/>
                <a:cs typeface="Calibri" pitchFamily="34" charset="-120"/>
              </a:rPr>
              <a:t>S3 misconfigurations leak data</a:t>
            </a:r>
            <a:endParaRPr lang="en-US" sz="3100" dirty="0"/>
          </a:p>
        </p:txBody>
      </p:sp>
      <p:sp>
        <p:nvSpPr>
          <p:cNvPr id="4" name="Shape 2"/>
          <p:cNvSpPr/>
          <p:nvPr/>
        </p:nvSpPr>
        <p:spPr>
          <a:xfrm>
            <a:off x="548640" y="1828800"/>
            <a:ext cx="5394960" cy="4023360"/>
          </a:xfrm>
          <a:prstGeom prst="roundRect">
            <a:avLst>
              <a:gd name="adj" fmla="val 2045"/>
            </a:avLst>
          </a:prstGeom>
          <a:solidFill>
            <a:srgbClr val="FFF7ED"/>
          </a:solidFill>
          <a:ln/>
          <a:effectLst>
            <a:outerShdw sx="100000" sy="100000" kx="0" ky="0" algn="bl" rotWithShape="0" blurRad="114300" dist="38100" dir="5400000">
              <a:srgbClr val="0A1F3C">
                <a:alpha val="16000"/>
              </a:srgbClr>
            </a:outerShdw>
          </a:effectLst>
        </p:spPr>
      </p:sp>
      <p:sp>
        <p:nvSpPr>
          <p:cNvPr id="5" name="Text 3"/>
          <p:cNvSpPr/>
          <p:nvPr/>
        </p:nvSpPr>
        <p:spPr>
          <a:xfrm>
            <a:off x="868680" y="2103120"/>
            <a:ext cx="4572000" cy="457200"/>
          </a:xfrm>
          <a:prstGeom prst="rect">
            <a:avLst/>
          </a:prstGeom>
          <a:noFill/>
          <a:ln/>
        </p:spPr>
        <p:txBody>
          <a:bodyPr wrap="square" lIns="0" tIns="0" rIns="0" bIns="0" rtlCol="0" anchor="ctr"/>
          <a:lstStyle/>
          <a:p>
            <a:pPr indent="0" marL="0">
              <a:buNone/>
            </a:pPr>
            <a:r>
              <a:rPr lang="en-US" sz="2000" b="1" dirty="0">
                <a:solidFill>
                  <a:srgbClr val="16233A"/>
                </a:solidFill>
                <a:latin typeface="Calibri" pitchFamily="34" charset="0"/>
                <a:ea typeface="Calibri" pitchFamily="34" charset="-122"/>
                <a:cs typeface="Calibri" pitchFamily="34" charset="-120"/>
              </a:rPr>
              <a:t>Why S3?</a:t>
            </a:r>
            <a:endParaRPr lang="en-US" sz="2000" dirty="0"/>
          </a:p>
        </p:txBody>
      </p:sp>
      <p:sp>
        <p:nvSpPr>
          <p:cNvPr id="6" name="Text 4"/>
          <p:cNvSpPr/>
          <p:nvPr/>
        </p:nvSpPr>
        <p:spPr>
          <a:xfrm>
            <a:off x="914400" y="2651760"/>
            <a:ext cx="4754880" cy="3017520"/>
          </a:xfrm>
          <a:prstGeom prst="rect">
            <a:avLst/>
          </a:prstGeom>
          <a:noFill/>
          <a:ln/>
        </p:spPr>
        <p:txBody>
          <a:bodyPr wrap="square" lIns="0" tIns="0" rIns="0" bIns="0" rtlCol="0" anchor="ctr"/>
          <a:lstStyle/>
          <a:p>
            <a:pPr marL="342900" indent="-342900">
              <a:spcAft>
                <a:spcPts val="1100"/>
              </a:spcAft>
              <a:buSzPct val="100000"/>
              <a:buChar char="•"/>
            </a:pPr>
            <a:r>
              <a:rPr lang="en-US" sz="1450" dirty="0">
                <a:solidFill>
                  <a:srgbClr val="334155"/>
                </a:solidFill>
                <a:latin typeface="Calibri" pitchFamily="34" charset="0"/>
                <a:ea typeface="Calibri" pitchFamily="34" charset="-122"/>
                <a:cs typeface="Calibri" pitchFamily="34" charset="-120"/>
              </a:rPr>
              <a:t>S3 is everywhere — almost every AWS workload uses it</a:t>
            </a:r>
            <a:endParaRPr lang="en-US" sz="1450" dirty="0"/>
          </a:p>
          <a:p>
            <a:pPr marL="342900" indent="-342900">
              <a:spcAft>
                <a:spcPts val="1100"/>
              </a:spcAft>
              <a:buSzPct val="100000"/>
              <a:buChar char="•"/>
            </a:pPr>
            <a:r>
              <a:rPr lang="en-US" sz="1450" dirty="0">
                <a:solidFill>
                  <a:srgbClr val="334155"/>
                </a:solidFill>
                <a:latin typeface="Calibri" pitchFamily="34" charset="0"/>
                <a:ea typeface="Calibri" pitchFamily="34" charset="-122"/>
                <a:cs typeface="Calibri" pitchFamily="34" charset="-120"/>
              </a:rPr>
              <a:t>A single wrong setting can expose data publicly</a:t>
            </a:r>
            <a:endParaRPr lang="en-US" sz="1450" dirty="0"/>
          </a:p>
          <a:p>
            <a:pPr marL="342900" indent="-342900">
              <a:spcAft>
                <a:spcPts val="1100"/>
              </a:spcAft>
              <a:buSzPct val="100000"/>
              <a:buChar char="•"/>
            </a:pPr>
            <a:r>
              <a:rPr lang="en-US" sz="1450" dirty="0">
                <a:solidFill>
                  <a:srgbClr val="334155"/>
                </a:solidFill>
                <a:latin typeface="Calibri" pitchFamily="34" charset="0"/>
                <a:ea typeface="Calibri" pitchFamily="34" charset="-122"/>
                <a:cs typeface="Calibri" pitchFamily="34" charset="-120"/>
              </a:rPr>
              <a:t>Misconfigured buckets are a top, recurring cause of real breaches</a:t>
            </a:r>
            <a:endParaRPr lang="en-US" sz="1450" dirty="0"/>
          </a:p>
          <a:p>
            <a:pPr marL="342900" indent="-342900">
              <a:spcAft>
                <a:spcPts val="1100"/>
              </a:spcAft>
              <a:buSzPct val="100000"/>
              <a:buChar char="•"/>
            </a:pPr>
            <a:r>
              <a:rPr lang="en-US" sz="1450" dirty="0">
                <a:solidFill>
                  <a:srgbClr val="334155"/>
                </a:solidFill>
                <a:latin typeface="Calibri" pitchFamily="34" charset="0"/>
                <a:ea typeface="Calibri" pitchFamily="34" charset="-122"/>
                <a:cs typeface="Calibri" pitchFamily="34" charset="-120"/>
              </a:rPr>
              <a:t>The checks are simple — but nobody does them consistently</a:t>
            </a:r>
            <a:endParaRPr lang="en-US" sz="1450" dirty="0"/>
          </a:p>
          <a:p>
            <a:pPr marL="342900" indent="-342900">
              <a:spcAft>
                <a:spcPts val="1100"/>
              </a:spcAft>
              <a:buSzPct val="100000"/>
              <a:buChar char="•"/>
            </a:pPr>
            <a:r>
              <a:rPr lang="en-US" sz="1450" dirty="0">
                <a:solidFill>
                  <a:srgbClr val="334155"/>
                </a:solidFill>
                <a:latin typeface="Calibri" pitchFamily="34" charset="0"/>
                <a:ea typeface="Calibri" pitchFamily="34" charset="-122"/>
                <a:cs typeface="Calibri" pitchFamily="34" charset="-120"/>
              </a:rPr>
              <a:t>Perfect: real pain, small surface, easy to automate</a:t>
            </a:r>
            <a:endParaRPr lang="en-US" sz="1450" dirty="0"/>
          </a:p>
        </p:txBody>
      </p:sp>
      <p:sp>
        <p:nvSpPr>
          <p:cNvPr id="7" name="Shape 5"/>
          <p:cNvSpPr/>
          <p:nvPr/>
        </p:nvSpPr>
        <p:spPr>
          <a:xfrm>
            <a:off x="6172200" y="1828800"/>
            <a:ext cx="5440680" cy="4023360"/>
          </a:xfrm>
          <a:prstGeom prst="roundRect">
            <a:avLst>
              <a:gd name="adj" fmla="val 2045"/>
            </a:avLst>
          </a:prstGeom>
          <a:solidFill>
            <a:srgbClr val="F1F5F9"/>
          </a:solidFill>
          <a:ln/>
          <a:effectLst>
            <a:outerShdw sx="100000" sy="100000" kx="0" ky="0" algn="bl" rotWithShape="0" blurRad="114300" dist="38100" dir="5400000">
              <a:srgbClr val="0A1F3C">
                <a:alpha val="16000"/>
              </a:srgbClr>
            </a:outerShdw>
          </a:effectLst>
        </p:spPr>
      </p:sp>
      <p:sp>
        <p:nvSpPr>
          <p:cNvPr id="8" name="Text 6"/>
          <p:cNvSpPr/>
          <p:nvPr/>
        </p:nvSpPr>
        <p:spPr>
          <a:xfrm>
            <a:off x="6492240" y="2103120"/>
            <a:ext cx="4846320" cy="457200"/>
          </a:xfrm>
          <a:prstGeom prst="rect">
            <a:avLst/>
          </a:prstGeom>
          <a:noFill/>
          <a:ln/>
        </p:spPr>
        <p:txBody>
          <a:bodyPr wrap="square" lIns="0" tIns="0" rIns="0" bIns="0" rtlCol="0" anchor="ctr"/>
          <a:lstStyle/>
          <a:p>
            <a:pPr indent="0" marL="0">
              <a:buNone/>
            </a:pPr>
            <a:r>
              <a:rPr lang="en-US" sz="2000" b="1" dirty="0">
                <a:solidFill>
                  <a:srgbClr val="16233A"/>
                </a:solidFill>
                <a:latin typeface="Calibri" pitchFamily="34" charset="0"/>
                <a:ea typeface="Calibri" pitchFamily="34" charset="-122"/>
                <a:cs typeface="Calibri" pitchFamily="34" charset="-120"/>
              </a:rPr>
              <a:t>The four risks we'll catch</a:t>
            </a:r>
            <a:endParaRPr lang="en-US" sz="2000" dirty="0"/>
          </a:p>
        </p:txBody>
      </p:sp>
      <p:sp>
        <p:nvSpPr>
          <p:cNvPr id="9" name="Text 7"/>
          <p:cNvSpPr/>
          <p:nvPr/>
        </p:nvSpPr>
        <p:spPr>
          <a:xfrm>
            <a:off x="6492240" y="2697480"/>
            <a:ext cx="1280160" cy="457200"/>
          </a:xfrm>
          <a:prstGeom prst="rect">
            <a:avLst/>
          </a:prstGeom>
          <a:solidFill>
            <a:srgbClr val="E11D48"/>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CRITICAL</a:t>
            </a:r>
            <a:endParaRPr lang="en-US" sz="1100" dirty="0"/>
          </a:p>
        </p:txBody>
      </p:sp>
      <p:sp>
        <p:nvSpPr>
          <p:cNvPr id="10" name="Text 8"/>
          <p:cNvSpPr/>
          <p:nvPr/>
        </p:nvSpPr>
        <p:spPr>
          <a:xfrm>
            <a:off x="7909560" y="2697480"/>
            <a:ext cx="3657600" cy="457200"/>
          </a:xfrm>
          <a:prstGeom prst="rect">
            <a:avLst/>
          </a:prstGeom>
          <a:noFill/>
          <a:ln/>
        </p:spPr>
        <p:txBody>
          <a:bodyPr wrap="square" lIns="0" tIns="0" rIns="0" bIns="0" rtlCol="0" anchor="ctr"/>
          <a:lstStyle/>
          <a:p>
            <a:pPr indent="0" marL="0">
              <a:buNone/>
            </a:pPr>
            <a:r>
              <a:rPr lang="en-US" sz="1250" b="1" dirty="0">
                <a:solidFill>
                  <a:srgbClr val="16233A"/>
                </a:solidFill>
                <a:latin typeface="Calibri" pitchFamily="34" charset="0"/>
                <a:ea typeface="Calibri" pitchFamily="34" charset="-122"/>
                <a:cs typeface="Calibri" pitchFamily="34" charset="-120"/>
              </a:rPr>
              <a:t>Public access  </a:t>
            </a:r>
            <a:pPr indent="0" marL="0">
              <a:buNone/>
            </a:pPr>
            <a:r>
              <a:rPr lang="en-US" sz="1250" dirty="0">
                <a:solidFill>
                  <a:srgbClr val="334155"/>
                </a:solidFill>
                <a:latin typeface="Calibri" pitchFamily="34" charset="0"/>
                <a:ea typeface="Calibri" pitchFamily="34" charset="-122"/>
                <a:cs typeface="Calibri" pitchFamily="34" charset="-120"/>
              </a:rPr>
              <a:t>Bucket can be reached by anyone</a:t>
            </a:r>
            <a:endParaRPr lang="en-US" sz="1250" dirty="0"/>
          </a:p>
        </p:txBody>
      </p:sp>
      <p:sp>
        <p:nvSpPr>
          <p:cNvPr id="11" name="Text 9"/>
          <p:cNvSpPr/>
          <p:nvPr/>
        </p:nvSpPr>
        <p:spPr>
          <a:xfrm>
            <a:off x="6492240" y="3447288"/>
            <a:ext cx="1280160" cy="457200"/>
          </a:xfrm>
          <a:prstGeom prst="rect">
            <a:avLst/>
          </a:prstGeom>
          <a:solidFill>
            <a:srgbClr val="F97316"/>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HIGH</a:t>
            </a:r>
            <a:endParaRPr lang="en-US" sz="1100" dirty="0"/>
          </a:p>
        </p:txBody>
      </p:sp>
      <p:sp>
        <p:nvSpPr>
          <p:cNvPr id="12" name="Text 10"/>
          <p:cNvSpPr/>
          <p:nvPr/>
        </p:nvSpPr>
        <p:spPr>
          <a:xfrm>
            <a:off x="7909560" y="3447288"/>
            <a:ext cx="3657600" cy="457200"/>
          </a:xfrm>
          <a:prstGeom prst="rect">
            <a:avLst/>
          </a:prstGeom>
          <a:noFill/>
          <a:ln/>
        </p:spPr>
        <p:txBody>
          <a:bodyPr wrap="square" lIns="0" tIns="0" rIns="0" bIns="0" rtlCol="0" anchor="ctr"/>
          <a:lstStyle/>
          <a:p>
            <a:pPr indent="0" marL="0">
              <a:buNone/>
            </a:pPr>
            <a:r>
              <a:rPr lang="en-US" sz="1250" b="1" dirty="0">
                <a:solidFill>
                  <a:srgbClr val="16233A"/>
                </a:solidFill>
                <a:latin typeface="Calibri" pitchFamily="34" charset="0"/>
                <a:ea typeface="Calibri" pitchFamily="34" charset="-122"/>
                <a:cs typeface="Calibri" pitchFamily="34" charset="-120"/>
              </a:rPr>
              <a:t>No encryption  </a:t>
            </a:r>
            <a:pPr indent="0" marL="0">
              <a:buNone/>
            </a:pPr>
            <a:r>
              <a:rPr lang="en-US" sz="1250" dirty="0">
                <a:solidFill>
                  <a:srgbClr val="334155"/>
                </a:solidFill>
                <a:latin typeface="Calibri" pitchFamily="34" charset="0"/>
                <a:ea typeface="Calibri" pitchFamily="34" charset="-122"/>
                <a:cs typeface="Calibri" pitchFamily="34" charset="-120"/>
              </a:rPr>
              <a:t>Data sits unencrypted at rest</a:t>
            </a:r>
            <a:endParaRPr lang="en-US" sz="1250" dirty="0"/>
          </a:p>
        </p:txBody>
      </p:sp>
      <p:sp>
        <p:nvSpPr>
          <p:cNvPr id="13" name="Text 11"/>
          <p:cNvSpPr/>
          <p:nvPr/>
        </p:nvSpPr>
        <p:spPr>
          <a:xfrm>
            <a:off x="6492240" y="4197096"/>
            <a:ext cx="1280160" cy="457200"/>
          </a:xfrm>
          <a:prstGeom prst="rect">
            <a:avLst/>
          </a:prstGeom>
          <a:solidFill>
            <a:srgbClr val="F59E0B"/>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MEDIUM</a:t>
            </a:r>
            <a:endParaRPr lang="en-US" sz="1100" dirty="0"/>
          </a:p>
        </p:txBody>
      </p:sp>
      <p:sp>
        <p:nvSpPr>
          <p:cNvPr id="14" name="Text 12"/>
          <p:cNvSpPr/>
          <p:nvPr/>
        </p:nvSpPr>
        <p:spPr>
          <a:xfrm>
            <a:off x="7909560" y="4197096"/>
            <a:ext cx="3657600" cy="457200"/>
          </a:xfrm>
          <a:prstGeom prst="rect">
            <a:avLst/>
          </a:prstGeom>
          <a:noFill/>
          <a:ln/>
        </p:spPr>
        <p:txBody>
          <a:bodyPr wrap="square" lIns="0" tIns="0" rIns="0" bIns="0" rtlCol="0" anchor="ctr"/>
          <a:lstStyle/>
          <a:p>
            <a:pPr indent="0" marL="0">
              <a:buNone/>
            </a:pPr>
            <a:r>
              <a:rPr lang="en-US" sz="1250" b="1" dirty="0">
                <a:solidFill>
                  <a:srgbClr val="16233A"/>
                </a:solidFill>
                <a:latin typeface="Calibri" pitchFamily="34" charset="0"/>
                <a:ea typeface="Calibri" pitchFamily="34" charset="-122"/>
                <a:cs typeface="Calibri" pitchFamily="34" charset="-120"/>
              </a:rPr>
              <a:t>No versioning  </a:t>
            </a:r>
            <a:pPr indent="0" marL="0">
              <a:buNone/>
            </a:pPr>
            <a:r>
              <a:rPr lang="en-US" sz="1250" dirty="0">
                <a:solidFill>
                  <a:srgbClr val="334155"/>
                </a:solidFill>
                <a:latin typeface="Calibri" pitchFamily="34" charset="0"/>
                <a:ea typeface="Calibri" pitchFamily="34" charset="-122"/>
                <a:cs typeface="Calibri" pitchFamily="34" charset="-120"/>
              </a:rPr>
              <a:t>Overwrites/deletes unrecoverable</a:t>
            </a:r>
            <a:endParaRPr lang="en-US" sz="1250" dirty="0"/>
          </a:p>
        </p:txBody>
      </p:sp>
      <p:sp>
        <p:nvSpPr>
          <p:cNvPr id="15" name="Text 13"/>
          <p:cNvSpPr/>
          <p:nvPr/>
        </p:nvSpPr>
        <p:spPr>
          <a:xfrm>
            <a:off x="6492240" y="4946904"/>
            <a:ext cx="1280160" cy="457200"/>
          </a:xfrm>
          <a:prstGeom prst="rect">
            <a:avLst/>
          </a:prstGeom>
          <a:solidFill>
            <a:srgbClr val="14B8A6"/>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LOW</a:t>
            </a:r>
            <a:endParaRPr lang="en-US" sz="1100" dirty="0"/>
          </a:p>
        </p:txBody>
      </p:sp>
      <p:sp>
        <p:nvSpPr>
          <p:cNvPr id="16" name="Text 14"/>
          <p:cNvSpPr/>
          <p:nvPr/>
        </p:nvSpPr>
        <p:spPr>
          <a:xfrm>
            <a:off x="7909560" y="4946904"/>
            <a:ext cx="3657600" cy="457200"/>
          </a:xfrm>
          <a:prstGeom prst="rect">
            <a:avLst/>
          </a:prstGeom>
          <a:noFill/>
          <a:ln/>
        </p:spPr>
        <p:txBody>
          <a:bodyPr wrap="square" lIns="0" tIns="0" rIns="0" bIns="0" rtlCol="0" anchor="ctr"/>
          <a:lstStyle/>
          <a:p>
            <a:pPr indent="0" marL="0">
              <a:buNone/>
            </a:pPr>
            <a:r>
              <a:rPr lang="en-US" sz="1250" b="1" dirty="0">
                <a:solidFill>
                  <a:srgbClr val="16233A"/>
                </a:solidFill>
                <a:latin typeface="Calibri" pitchFamily="34" charset="0"/>
                <a:ea typeface="Calibri" pitchFamily="34" charset="-122"/>
                <a:cs typeface="Calibri" pitchFamily="34" charset="-120"/>
              </a:rPr>
              <a:t>No logging  </a:t>
            </a:r>
            <a:pPr indent="0" marL="0">
              <a:buNone/>
            </a:pPr>
            <a:r>
              <a:rPr lang="en-US" sz="1250" dirty="0">
                <a:solidFill>
                  <a:srgbClr val="334155"/>
                </a:solidFill>
                <a:latin typeface="Calibri" pitchFamily="34" charset="0"/>
                <a:ea typeface="Calibri" pitchFamily="34" charset="-122"/>
                <a:cs typeface="Calibri" pitchFamily="34" charset="-120"/>
              </a:rPr>
              <a:t>No audit trail of access</a:t>
            </a:r>
            <a:endParaRPr lang="en-US" sz="1250" dirty="0"/>
          </a:p>
        </p:txBody>
      </p:sp>
      <p:sp>
        <p:nvSpPr>
          <p:cNvPr id="18" name="Text 15"/>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From User to Creator  •  Cloud Webinar</a:t>
            </a:r>
            <a:endParaRPr lang="en-US" sz="900" dirty="0"/>
          </a:p>
        </p:txBody>
      </p:sp>
      <p:sp>
        <p:nvSpPr>
          <p:cNvPr id="19" name="Text 16"/>
          <p:cNvSpPr/>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320040"/>
          </a:xfrm>
          <a:prstGeom prst="rect">
            <a:avLst/>
          </a:prstGeom>
          <a:noFill/>
          <a:ln/>
        </p:spPr>
        <p:txBody>
          <a:bodyPr wrap="square" lIns="0" tIns="0" rIns="0" bIns="0" rtlCol="0" anchor="ctr"/>
          <a:lstStyle/>
          <a:p>
            <a:pPr indent="0" marL="0">
              <a:buNone/>
            </a:pPr>
            <a:r>
              <a:rPr lang="en-US" sz="1300" b="1" spc="200" kern="0" dirty="0">
                <a:solidFill>
                  <a:srgbClr val="0D9488"/>
                </a:solidFill>
                <a:latin typeface="Calibri" pitchFamily="34" charset="0"/>
                <a:ea typeface="Calibri" pitchFamily="34" charset="-122"/>
                <a:cs typeface="Calibri" pitchFamily="34" charset="-120"/>
              </a:rPr>
              <a:t>THE TOOL WE'LL BUILD</a:t>
            </a:r>
            <a:endParaRPr lang="en-US" sz="1300" dirty="0"/>
          </a:p>
        </p:txBody>
      </p:sp>
      <p:sp>
        <p:nvSpPr>
          <p:cNvPr id="3" name="Text 1"/>
          <p:cNvSpPr/>
          <p:nvPr/>
        </p:nvSpPr>
        <p:spPr>
          <a:xfrm>
            <a:off x="548640" y="713232"/>
            <a:ext cx="11064240" cy="868680"/>
          </a:xfrm>
          <a:prstGeom prst="rect">
            <a:avLst/>
          </a:prstGeom>
          <a:noFill/>
          <a:ln/>
        </p:spPr>
        <p:txBody>
          <a:bodyPr wrap="square" lIns="0" tIns="0" rIns="0" bIns="0" rtlCol="0" anchor="ctr"/>
          <a:lstStyle/>
          <a:p>
            <a:pPr indent="0" marL="0">
              <a:buNone/>
            </a:pPr>
            <a:r>
              <a:rPr lang="en-US" sz="3100" b="1" dirty="0">
                <a:solidFill>
                  <a:srgbClr val="16233A"/>
                </a:solidFill>
                <a:latin typeface="Calibri" pitchFamily="34" charset="0"/>
                <a:ea typeface="Calibri" pitchFamily="34" charset="-122"/>
                <a:cs typeface="Calibri" pitchFamily="34" charset="-120"/>
              </a:rPr>
              <a:t>Meet s3-guard</a:t>
            </a:r>
            <a:endParaRPr lang="en-US" sz="3100" dirty="0"/>
          </a:p>
        </p:txBody>
      </p:sp>
      <p:sp>
        <p:nvSpPr>
          <p:cNvPr id="4" name="Text 2"/>
          <p:cNvSpPr/>
          <p:nvPr/>
        </p:nvSpPr>
        <p:spPr>
          <a:xfrm>
            <a:off x="548640" y="1600200"/>
            <a:ext cx="11064240" cy="640080"/>
          </a:xfrm>
          <a:prstGeom prst="rect">
            <a:avLst/>
          </a:prstGeom>
          <a:noFill/>
          <a:ln/>
        </p:spPr>
        <p:txBody>
          <a:bodyPr wrap="square" lIns="0" tIns="0" rIns="0" bIns="0" rtlCol="0" anchor="ctr"/>
          <a:lstStyle/>
          <a:p>
            <a:pPr indent="0" marL="0">
              <a:buNone/>
            </a:pPr>
            <a:r>
              <a:rPr lang="en-US" sz="1550" dirty="0">
                <a:solidFill>
                  <a:srgbClr val="334155"/>
                </a:solidFill>
                <a:latin typeface="Calibri" pitchFamily="34" charset="0"/>
                <a:ea typeface="Calibri" pitchFamily="34" charset="-122"/>
                <a:cs typeface="Calibri" pitchFamily="34" charset="-120"/>
              </a:rPr>
              <a:t>A tiny open-source CLI that scans your S3 buckets and flags the misconfigurations that cause breaches — then prints a clean, colour-coded report.</a:t>
            </a:r>
            <a:endParaRPr lang="en-US" sz="1550" dirty="0"/>
          </a:p>
        </p:txBody>
      </p:sp>
      <p:sp>
        <p:nvSpPr>
          <p:cNvPr id="5" name="Shape 3"/>
          <p:cNvSpPr/>
          <p:nvPr/>
        </p:nvSpPr>
        <p:spPr>
          <a:xfrm>
            <a:off x="548640" y="2423160"/>
            <a:ext cx="5394960" cy="1463040"/>
          </a:xfrm>
          <a:prstGeom prst="roundRect">
            <a:avLst>
              <a:gd name="adj" fmla="val 5625"/>
            </a:avLst>
          </a:prstGeom>
          <a:solidFill>
            <a:srgbClr val="F1F5F9"/>
          </a:solidFill>
          <a:ln/>
          <a:effectLst>
            <a:outerShdw sx="100000" sy="100000" kx="0" ky="0" algn="bl" rotWithShape="0" blurRad="114300" dist="38100" dir="5400000">
              <a:srgbClr val="0A1F3C">
                <a:alpha val="16000"/>
              </a:srgbClr>
            </a:outerShdw>
          </a:effectLst>
        </p:spPr>
      </p:sp>
      <p:sp>
        <p:nvSpPr>
          <p:cNvPr id="6" name="Shape 4"/>
          <p:cNvSpPr/>
          <p:nvPr/>
        </p:nvSpPr>
        <p:spPr>
          <a:xfrm>
            <a:off x="841248" y="2807208"/>
            <a:ext cx="713232" cy="713232"/>
          </a:xfrm>
          <a:prstGeom prst="ellipse">
            <a:avLst/>
          </a:prstGeom>
          <a:solidFill>
            <a:srgbClr val="0D9488"/>
          </a:solidFill>
          <a:ln/>
        </p:spPr>
      </p:sp>
      <p:sp>
        <p:nvSpPr>
          <p:cNvPr id="7" name="Text 5"/>
          <p:cNvSpPr/>
          <p:nvPr/>
        </p:nvSpPr>
        <p:spPr>
          <a:xfrm>
            <a:off x="841248" y="2807208"/>
            <a:ext cx="713232" cy="713232"/>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8" name="Text 6"/>
          <p:cNvSpPr/>
          <p:nvPr/>
        </p:nvSpPr>
        <p:spPr>
          <a:xfrm>
            <a:off x="1783080" y="2697480"/>
            <a:ext cx="3931920" cy="457200"/>
          </a:xfrm>
          <a:prstGeom prst="rect">
            <a:avLst/>
          </a:prstGeom>
          <a:noFill/>
          <a:ln/>
        </p:spPr>
        <p:txBody>
          <a:bodyPr wrap="square" lIns="0" tIns="0" rIns="0" bIns="0" rtlCol="0" anchor="ctr"/>
          <a:lstStyle/>
          <a:p>
            <a:pPr indent="0" marL="0">
              <a:buNone/>
            </a:pPr>
            <a:r>
              <a:rPr lang="en-US" sz="1650" b="1" dirty="0">
                <a:solidFill>
                  <a:srgbClr val="16233A"/>
                </a:solidFill>
                <a:latin typeface="Calibri" pitchFamily="34" charset="0"/>
                <a:ea typeface="Calibri" pitchFamily="34" charset="-122"/>
                <a:cs typeface="Calibri" pitchFamily="34" charset="-120"/>
              </a:rPr>
              <a:t>4 security checks</a:t>
            </a:r>
            <a:endParaRPr lang="en-US" sz="1650" dirty="0"/>
          </a:p>
        </p:txBody>
      </p:sp>
      <p:sp>
        <p:nvSpPr>
          <p:cNvPr id="9" name="Text 7"/>
          <p:cNvSpPr/>
          <p:nvPr/>
        </p:nvSpPr>
        <p:spPr>
          <a:xfrm>
            <a:off x="1783080" y="3200400"/>
            <a:ext cx="3931920" cy="548640"/>
          </a:xfrm>
          <a:prstGeom prst="rect">
            <a:avLst/>
          </a:prstGeom>
          <a:noFill/>
          <a:ln/>
        </p:spPr>
        <p:txBody>
          <a:bodyPr wrap="square" lIns="0" tIns="0" rIns="0" bIns="0" rtlCol="0" anchor="ctr"/>
          <a:lstStyle/>
          <a:p>
            <a:pPr indent="0" marL="0">
              <a:buNone/>
            </a:pPr>
            <a:r>
              <a:rPr lang="en-US" sz="1250" dirty="0">
                <a:solidFill>
                  <a:srgbClr val="334155"/>
                </a:solidFill>
                <a:latin typeface="Calibri" pitchFamily="34" charset="0"/>
                <a:ea typeface="Calibri" pitchFamily="34" charset="-122"/>
                <a:cs typeface="Calibri" pitchFamily="34" charset="-120"/>
              </a:rPr>
              <a:t>Public access, encryption, versioning, logging</a:t>
            </a:r>
            <a:endParaRPr lang="en-US" sz="1250" dirty="0"/>
          </a:p>
        </p:txBody>
      </p:sp>
      <p:sp>
        <p:nvSpPr>
          <p:cNvPr id="10" name="Shape 8"/>
          <p:cNvSpPr/>
          <p:nvPr/>
        </p:nvSpPr>
        <p:spPr>
          <a:xfrm>
            <a:off x="6172200" y="2423160"/>
            <a:ext cx="5394960" cy="1463040"/>
          </a:xfrm>
          <a:prstGeom prst="roundRect">
            <a:avLst>
              <a:gd name="adj" fmla="val 5625"/>
            </a:avLst>
          </a:prstGeom>
          <a:solidFill>
            <a:srgbClr val="ECFDF5"/>
          </a:solidFill>
          <a:ln/>
          <a:effectLst>
            <a:outerShdw sx="100000" sy="100000" kx="0" ky="0" algn="bl" rotWithShape="0" blurRad="114300" dist="38100" dir="5400000">
              <a:srgbClr val="0A1F3C">
                <a:alpha val="16000"/>
              </a:srgbClr>
            </a:outerShdw>
          </a:effectLst>
        </p:spPr>
      </p:sp>
      <p:sp>
        <p:nvSpPr>
          <p:cNvPr id="11" name="Shape 9"/>
          <p:cNvSpPr/>
          <p:nvPr/>
        </p:nvSpPr>
        <p:spPr>
          <a:xfrm>
            <a:off x="6464808" y="2807208"/>
            <a:ext cx="713232" cy="713232"/>
          </a:xfrm>
          <a:prstGeom prst="ellipse">
            <a:avLst/>
          </a:prstGeom>
          <a:solidFill>
            <a:srgbClr val="14B8A6"/>
          </a:solidFill>
          <a:ln/>
        </p:spPr>
      </p:sp>
      <p:sp>
        <p:nvSpPr>
          <p:cNvPr id="12" name="Text 10"/>
          <p:cNvSpPr/>
          <p:nvPr/>
        </p:nvSpPr>
        <p:spPr>
          <a:xfrm>
            <a:off x="6464808" y="2807208"/>
            <a:ext cx="713232" cy="713232"/>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3" name="Text 11"/>
          <p:cNvSpPr/>
          <p:nvPr/>
        </p:nvSpPr>
        <p:spPr>
          <a:xfrm>
            <a:off x="7406640" y="2697480"/>
            <a:ext cx="3931920" cy="457200"/>
          </a:xfrm>
          <a:prstGeom prst="rect">
            <a:avLst/>
          </a:prstGeom>
          <a:noFill/>
          <a:ln/>
        </p:spPr>
        <p:txBody>
          <a:bodyPr wrap="square" lIns="0" tIns="0" rIns="0" bIns="0" rtlCol="0" anchor="ctr"/>
          <a:lstStyle/>
          <a:p>
            <a:pPr indent="0" marL="0">
              <a:buNone/>
            </a:pPr>
            <a:r>
              <a:rPr lang="en-US" sz="1650" b="1" dirty="0">
                <a:solidFill>
                  <a:srgbClr val="16233A"/>
                </a:solidFill>
                <a:latin typeface="Calibri" pitchFamily="34" charset="0"/>
                <a:ea typeface="Calibri" pitchFamily="34" charset="-122"/>
                <a:cs typeface="Calibri" pitchFamily="34" charset="-120"/>
              </a:rPr>
              <a:t>Beautiful output</a:t>
            </a:r>
            <a:endParaRPr lang="en-US" sz="1650" dirty="0"/>
          </a:p>
        </p:txBody>
      </p:sp>
      <p:sp>
        <p:nvSpPr>
          <p:cNvPr id="14" name="Text 12"/>
          <p:cNvSpPr/>
          <p:nvPr/>
        </p:nvSpPr>
        <p:spPr>
          <a:xfrm>
            <a:off x="7406640" y="3200400"/>
            <a:ext cx="3931920" cy="548640"/>
          </a:xfrm>
          <a:prstGeom prst="rect">
            <a:avLst/>
          </a:prstGeom>
          <a:noFill/>
          <a:ln/>
        </p:spPr>
        <p:txBody>
          <a:bodyPr wrap="square" lIns="0" tIns="0" rIns="0" bIns="0" rtlCol="0" anchor="ctr"/>
          <a:lstStyle/>
          <a:p>
            <a:pPr indent="0" marL="0">
              <a:buNone/>
            </a:pPr>
            <a:r>
              <a:rPr lang="en-US" sz="1250" dirty="0">
                <a:solidFill>
                  <a:srgbClr val="334155"/>
                </a:solidFill>
                <a:latin typeface="Calibri" pitchFamily="34" charset="0"/>
                <a:ea typeface="Calibri" pitchFamily="34" charset="-122"/>
                <a:cs typeface="Calibri" pitchFamily="34" charset="-120"/>
              </a:rPr>
              <a:t>Rich tables, severity colours, JSON mode</a:t>
            </a:r>
            <a:endParaRPr lang="en-US" sz="1250" dirty="0"/>
          </a:p>
        </p:txBody>
      </p:sp>
      <p:sp>
        <p:nvSpPr>
          <p:cNvPr id="15" name="Shape 13"/>
          <p:cNvSpPr/>
          <p:nvPr/>
        </p:nvSpPr>
        <p:spPr>
          <a:xfrm>
            <a:off x="548640" y="4142232"/>
            <a:ext cx="5394960" cy="1463040"/>
          </a:xfrm>
          <a:prstGeom prst="roundRect">
            <a:avLst>
              <a:gd name="adj" fmla="val 5625"/>
            </a:avLst>
          </a:prstGeom>
          <a:solidFill>
            <a:srgbClr val="F1F5F9"/>
          </a:solidFill>
          <a:ln/>
          <a:effectLst>
            <a:outerShdw sx="100000" sy="100000" kx="0" ky="0" algn="bl" rotWithShape="0" blurRad="114300" dist="38100" dir="5400000">
              <a:srgbClr val="0A1F3C">
                <a:alpha val="16000"/>
              </a:srgbClr>
            </a:outerShdw>
          </a:effectLst>
        </p:spPr>
      </p:sp>
      <p:sp>
        <p:nvSpPr>
          <p:cNvPr id="16" name="Shape 14"/>
          <p:cNvSpPr/>
          <p:nvPr/>
        </p:nvSpPr>
        <p:spPr>
          <a:xfrm>
            <a:off x="841248" y="4526280"/>
            <a:ext cx="713232" cy="713232"/>
          </a:xfrm>
          <a:prstGeom prst="ellipse">
            <a:avLst/>
          </a:prstGeom>
          <a:solidFill>
            <a:srgbClr val="F59E0B"/>
          </a:solidFill>
          <a:ln/>
        </p:spPr>
      </p:sp>
      <p:sp>
        <p:nvSpPr>
          <p:cNvPr id="17" name="Text 15"/>
          <p:cNvSpPr/>
          <p:nvPr/>
        </p:nvSpPr>
        <p:spPr>
          <a:xfrm>
            <a:off x="841248" y="4526280"/>
            <a:ext cx="713232" cy="713232"/>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8" name="Text 16"/>
          <p:cNvSpPr/>
          <p:nvPr/>
        </p:nvSpPr>
        <p:spPr>
          <a:xfrm>
            <a:off x="1783080" y="4416552"/>
            <a:ext cx="3931920" cy="457200"/>
          </a:xfrm>
          <a:prstGeom prst="rect">
            <a:avLst/>
          </a:prstGeom>
          <a:noFill/>
          <a:ln/>
        </p:spPr>
        <p:txBody>
          <a:bodyPr wrap="square" lIns="0" tIns="0" rIns="0" bIns="0" rtlCol="0" anchor="ctr"/>
          <a:lstStyle/>
          <a:p>
            <a:pPr indent="0" marL="0">
              <a:buNone/>
            </a:pPr>
            <a:r>
              <a:rPr lang="en-US" sz="1650" b="1" dirty="0">
                <a:solidFill>
                  <a:srgbClr val="16233A"/>
                </a:solidFill>
                <a:latin typeface="Calibri" pitchFamily="34" charset="0"/>
                <a:ea typeface="Calibri" pitchFamily="34" charset="-122"/>
                <a:cs typeface="Calibri" pitchFamily="34" charset="-120"/>
              </a:rPr>
              <a:t>CI-ready</a:t>
            </a:r>
            <a:endParaRPr lang="en-US" sz="1650" dirty="0"/>
          </a:p>
        </p:txBody>
      </p:sp>
      <p:sp>
        <p:nvSpPr>
          <p:cNvPr id="19" name="Text 17"/>
          <p:cNvSpPr/>
          <p:nvPr/>
        </p:nvSpPr>
        <p:spPr>
          <a:xfrm>
            <a:off x="1783080" y="4919472"/>
            <a:ext cx="3931920" cy="548640"/>
          </a:xfrm>
          <a:prstGeom prst="rect">
            <a:avLst/>
          </a:prstGeom>
          <a:noFill/>
          <a:ln/>
        </p:spPr>
        <p:txBody>
          <a:bodyPr wrap="square" lIns="0" tIns="0" rIns="0" bIns="0" rtlCol="0" anchor="ctr"/>
          <a:lstStyle/>
          <a:p>
            <a:pPr indent="0" marL="0">
              <a:buNone/>
            </a:pPr>
            <a:r>
              <a:rPr lang="en-US" sz="1250" dirty="0">
                <a:solidFill>
                  <a:srgbClr val="334155"/>
                </a:solidFill>
                <a:latin typeface="Calibri" pitchFamily="34" charset="0"/>
                <a:ea typeface="Calibri" pitchFamily="34" charset="-122"/>
                <a:cs typeface="Calibri" pitchFamily="34" charset="-120"/>
              </a:rPr>
              <a:t>Non-zero exit gates your pipeline on risk</a:t>
            </a:r>
            <a:endParaRPr lang="en-US" sz="1250" dirty="0"/>
          </a:p>
        </p:txBody>
      </p:sp>
      <p:sp>
        <p:nvSpPr>
          <p:cNvPr id="20" name="Shape 18"/>
          <p:cNvSpPr/>
          <p:nvPr/>
        </p:nvSpPr>
        <p:spPr>
          <a:xfrm>
            <a:off x="6172200" y="4142232"/>
            <a:ext cx="5394960" cy="1463040"/>
          </a:xfrm>
          <a:prstGeom prst="roundRect">
            <a:avLst>
              <a:gd name="adj" fmla="val 5625"/>
            </a:avLst>
          </a:prstGeom>
          <a:solidFill>
            <a:srgbClr val="ECFDF5"/>
          </a:solidFill>
          <a:ln/>
          <a:effectLst>
            <a:outerShdw sx="100000" sy="100000" kx="0" ky="0" algn="bl" rotWithShape="0" blurRad="114300" dist="38100" dir="5400000">
              <a:srgbClr val="0A1F3C">
                <a:alpha val="16000"/>
              </a:srgbClr>
            </a:outerShdw>
          </a:effectLst>
        </p:spPr>
      </p:sp>
      <p:sp>
        <p:nvSpPr>
          <p:cNvPr id="21" name="Shape 19"/>
          <p:cNvSpPr/>
          <p:nvPr/>
        </p:nvSpPr>
        <p:spPr>
          <a:xfrm>
            <a:off x="6464808" y="4526280"/>
            <a:ext cx="713232" cy="713232"/>
          </a:xfrm>
          <a:prstGeom prst="ellipse">
            <a:avLst/>
          </a:prstGeom>
          <a:solidFill>
            <a:srgbClr val="F97316"/>
          </a:solidFill>
          <a:ln/>
        </p:spPr>
      </p:sp>
      <p:sp>
        <p:nvSpPr>
          <p:cNvPr id="22" name="Text 20"/>
          <p:cNvSpPr/>
          <p:nvPr/>
        </p:nvSpPr>
        <p:spPr>
          <a:xfrm>
            <a:off x="6464808" y="4526280"/>
            <a:ext cx="713232" cy="713232"/>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23" name="Text 21"/>
          <p:cNvSpPr/>
          <p:nvPr/>
        </p:nvSpPr>
        <p:spPr>
          <a:xfrm>
            <a:off x="7406640" y="4416552"/>
            <a:ext cx="3931920" cy="457200"/>
          </a:xfrm>
          <a:prstGeom prst="rect">
            <a:avLst/>
          </a:prstGeom>
          <a:noFill/>
          <a:ln/>
        </p:spPr>
        <p:txBody>
          <a:bodyPr wrap="square" lIns="0" tIns="0" rIns="0" bIns="0" rtlCol="0" anchor="ctr"/>
          <a:lstStyle/>
          <a:p>
            <a:pPr indent="0" marL="0">
              <a:buNone/>
            </a:pPr>
            <a:r>
              <a:rPr lang="en-US" sz="1650" b="1" dirty="0">
                <a:solidFill>
                  <a:srgbClr val="16233A"/>
                </a:solidFill>
                <a:latin typeface="Calibri" pitchFamily="34" charset="0"/>
                <a:ea typeface="Calibri" pitchFamily="34" charset="-122"/>
                <a:cs typeface="Calibri" pitchFamily="34" charset="-120"/>
              </a:rPr>
              <a:t>Extensible</a:t>
            </a:r>
            <a:endParaRPr lang="en-US" sz="1650" dirty="0"/>
          </a:p>
        </p:txBody>
      </p:sp>
      <p:sp>
        <p:nvSpPr>
          <p:cNvPr id="24" name="Text 22"/>
          <p:cNvSpPr/>
          <p:nvPr/>
        </p:nvSpPr>
        <p:spPr>
          <a:xfrm>
            <a:off x="7406640" y="4919472"/>
            <a:ext cx="3931920" cy="548640"/>
          </a:xfrm>
          <a:prstGeom prst="rect">
            <a:avLst/>
          </a:prstGeom>
          <a:noFill/>
          <a:ln/>
        </p:spPr>
        <p:txBody>
          <a:bodyPr wrap="square" lIns="0" tIns="0" rIns="0" bIns="0" rtlCol="0" anchor="ctr"/>
          <a:lstStyle/>
          <a:p>
            <a:pPr indent="0" marL="0">
              <a:buNone/>
            </a:pPr>
            <a:r>
              <a:rPr lang="en-US" sz="1250" dirty="0">
                <a:solidFill>
                  <a:srgbClr val="334155"/>
                </a:solidFill>
                <a:latin typeface="Calibri" pitchFamily="34" charset="0"/>
                <a:ea typeface="Calibri" pitchFamily="34" charset="-122"/>
                <a:cs typeface="Calibri" pitchFamily="34" charset="-120"/>
              </a:rPr>
              <a:t>Add a new check in ~10 lines</a:t>
            </a:r>
            <a:endParaRPr lang="en-US" sz="1250" dirty="0"/>
          </a:p>
        </p:txBody>
      </p:sp>
      <p:sp>
        <p:nvSpPr>
          <p:cNvPr id="25" name="Text 23"/>
          <p:cNvSpPr/>
          <p:nvPr/>
        </p:nvSpPr>
        <p:spPr>
          <a:xfrm>
            <a:off x="548640" y="5897880"/>
            <a:ext cx="11064240" cy="365760"/>
          </a:xfrm>
          <a:prstGeom prst="rect">
            <a:avLst/>
          </a:prstGeom>
          <a:noFill/>
          <a:ln/>
        </p:spPr>
        <p:txBody>
          <a:bodyPr wrap="square" lIns="0" tIns="0" rIns="0" bIns="0" rtlCol="0" anchor="ctr"/>
          <a:lstStyle/>
          <a:p>
            <a:pPr algn="ctr" indent="0" marL="0">
              <a:buNone/>
            </a:pPr>
            <a:r>
              <a:rPr lang="en-US" sz="1250" dirty="0">
                <a:solidFill>
                  <a:srgbClr val="0D9488"/>
                </a:solidFill>
                <a:latin typeface="Courier New" pitchFamily="34" charset="0"/>
                <a:ea typeface="Courier New" pitchFamily="34" charset="-122"/>
                <a:cs typeface="Courier New" pitchFamily="34" charset="-120"/>
              </a:rPr>
              <a:t>Python · boto3 · Typer · Rich  —  pip install, one command to run.</a:t>
            </a:r>
            <a:endParaRPr lang="en-US" sz="1250" dirty="0"/>
          </a:p>
        </p:txBody>
      </p:sp>
      <p:sp>
        <p:nvSpPr>
          <p:cNvPr id="27" name="Text 24"/>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From User to Creator  •  Cloud Webinar</a:t>
            </a:r>
            <a:endParaRPr lang="en-US" sz="900" dirty="0"/>
          </a:p>
        </p:txBody>
      </p:sp>
      <p:sp>
        <p:nvSpPr>
          <p:cNvPr id="28" name="Text 25"/>
          <p:cNvSpPr/>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F3C"/>
        </a:solidFill>
      </p:bgPr>
    </p:bg>
    <p:spTree>
      <p:nvGrpSpPr>
        <p:cNvPr id="1" name=""/>
        <p:cNvGrpSpPr/>
        <p:nvPr/>
      </p:nvGrpSpPr>
      <p:grpSpPr>
        <a:xfrm>
          <a:off x="0" y="0"/>
          <a:ext cx="0" cy="0"/>
          <a:chOff x="0" y="0"/>
          <a:chExt cx="0" cy="0"/>
        </a:xfrm>
      </p:grpSpPr>
      <p:sp>
        <p:nvSpPr>
          <p:cNvPr id="2" name="Shape 0"/>
          <p:cNvSpPr/>
          <p:nvPr/>
        </p:nvSpPr>
        <p:spPr>
          <a:xfrm>
            <a:off x="-1463040" y="3291840"/>
            <a:ext cx="4754880" cy="4754880"/>
          </a:xfrm>
          <a:prstGeom prst="ellipse">
            <a:avLst/>
          </a:prstGeom>
          <a:solidFill>
            <a:srgbClr val="12284B"/>
          </a:solidFill>
          <a:ln/>
        </p:spPr>
      </p:sp>
      <p:sp>
        <p:nvSpPr>
          <p:cNvPr id="3" name="Shape 1"/>
          <p:cNvSpPr/>
          <p:nvPr/>
        </p:nvSpPr>
        <p:spPr>
          <a:xfrm>
            <a:off x="9692640" y="-2011680"/>
            <a:ext cx="4937760" cy="4937760"/>
          </a:xfrm>
          <a:prstGeom prst="ellipse">
            <a:avLst/>
          </a:prstGeom>
          <a:solidFill>
            <a:srgbClr val="12284B"/>
          </a:solidFill>
          <a:ln/>
        </p:spPr>
      </p:sp>
      <p:sp>
        <p:nvSpPr>
          <p:cNvPr id="4" name="Shape 2"/>
          <p:cNvSpPr/>
          <p:nvPr/>
        </p:nvSpPr>
        <p:spPr>
          <a:xfrm>
            <a:off x="822960" y="2286000"/>
            <a:ext cx="1280160" cy="1280160"/>
          </a:xfrm>
          <a:prstGeom prst="ellipse">
            <a:avLst/>
          </a:prstGeom>
          <a:solidFill>
            <a:srgbClr val="14B8A6"/>
          </a:solidFill>
          <a:ln/>
        </p:spPr>
      </p:sp>
      <p:sp>
        <p:nvSpPr>
          <p:cNvPr id="5" name="Text 3"/>
          <p:cNvSpPr/>
          <p:nvPr/>
        </p:nvSpPr>
        <p:spPr>
          <a:xfrm>
            <a:off x="822960" y="2286000"/>
            <a:ext cx="1280160" cy="1280160"/>
          </a:xfrm>
          <a:prstGeom prst="rect">
            <a:avLst/>
          </a:prstGeom>
          <a:noFill/>
          <a:ln/>
        </p:spPr>
        <p:txBody>
          <a:bodyPr wrap="square" lIns="0" tIns="0" rIns="0" bIns="0" rtlCol="0" anchor="ctr"/>
          <a:lstStyle/>
          <a:p>
            <a:pPr algn="ctr" indent="0" marL="0">
              <a:buNone/>
            </a:pPr>
            <a:r>
              <a:rPr lang="en-US" sz="4000" b="1" dirty="0">
                <a:solidFill>
                  <a:srgbClr val="0A1F3C"/>
                </a:solidFill>
                <a:latin typeface="Calibri" pitchFamily="34" charset="0"/>
                <a:ea typeface="Calibri" pitchFamily="34" charset="-122"/>
                <a:cs typeface="Calibri" pitchFamily="34" charset="-120"/>
              </a:rPr>
              <a:t>4</a:t>
            </a:r>
            <a:endParaRPr lang="en-US" sz="4000" dirty="0"/>
          </a:p>
        </p:txBody>
      </p:sp>
      <p:sp>
        <p:nvSpPr>
          <p:cNvPr id="6" name="Text 4"/>
          <p:cNvSpPr/>
          <p:nvPr/>
        </p:nvSpPr>
        <p:spPr>
          <a:xfrm>
            <a:off x="2468880" y="2331720"/>
            <a:ext cx="8229600" cy="365760"/>
          </a:xfrm>
          <a:prstGeom prst="rect">
            <a:avLst/>
          </a:prstGeom>
          <a:noFill/>
          <a:ln/>
        </p:spPr>
        <p:txBody>
          <a:bodyPr wrap="square" lIns="0" tIns="0" rIns="0" bIns="0" rtlCol="0" anchor="ctr"/>
          <a:lstStyle/>
          <a:p>
            <a:pPr indent="0" marL="0">
              <a:buNone/>
            </a:pPr>
            <a:r>
              <a:rPr lang="en-US" sz="1400" b="1" spc="200" kern="0" dirty="0">
                <a:solidFill>
                  <a:srgbClr val="14B8A6"/>
                </a:solidFill>
                <a:latin typeface="Calibri" pitchFamily="34" charset="0"/>
                <a:ea typeface="Calibri" pitchFamily="34" charset="-122"/>
                <a:cs typeface="Calibri" pitchFamily="34" charset="-120"/>
              </a:rPr>
              <a:t>HANDS-ON</a:t>
            </a:r>
            <a:endParaRPr lang="en-US" sz="1400" dirty="0"/>
          </a:p>
        </p:txBody>
      </p:sp>
      <p:sp>
        <p:nvSpPr>
          <p:cNvPr id="7" name="Text 5"/>
          <p:cNvSpPr/>
          <p:nvPr/>
        </p:nvSpPr>
        <p:spPr>
          <a:xfrm>
            <a:off x="2468880" y="2697480"/>
            <a:ext cx="8961120" cy="128016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Live build &amp; demo</a:t>
            </a:r>
            <a:endParaRPr lang="en-US" sz="4000" dirty="0"/>
          </a:p>
        </p:txBody>
      </p:sp>
      <p:sp>
        <p:nvSpPr>
          <p:cNvPr id="8" name="Text 6"/>
          <p:cNvSpPr/>
          <p:nvPr/>
        </p:nvSpPr>
        <p:spPr>
          <a:xfrm>
            <a:off x="2487168" y="3977640"/>
            <a:ext cx="8778240" cy="73152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From empty folder to working tool — and we run it for real.</a:t>
            </a:r>
            <a:endParaRPr lang="en-US" sz="1600" dirty="0"/>
          </a:p>
        </p:txBody>
      </p:sp>
      <p:sp>
        <p:nvSpPr>
          <p:cNvPr id="10" name="Text 7"/>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CADCFC"/>
                </a:solidFill>
                <a:latin typeface="Calibri" pitchFamily="34" charset="0"/>
                <a:ea typeface="Calibri" pitchFamily="34" charset="-122"/>
                <a:cs typeface="Calibri" pitchFamily="34" charset="-120"/>
              </a:rPr>
              <a:t>From User to Creator  •  Cloud Webinar</a:t>
            </a:r>
            <a:endParaRPr lang="en-US" sz="900" dirty="0"/>
          </a:p>
        </p:txBody>
      </p:sp>
      <p:sp>
        <p:nvSpPr>
          <p:cNvPr id="11" name="Text 8"/>
          <p:cNvSpPr/>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CADCFC"/>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320040"/>
          </a:xfrm>
          <a:prstGeom prst="rect">
            <a:avLst/>
          </a:prstGeom>
          <a:noFill/>
          <a:ln/>
        </p:spPr>
        <p:txBody>
          <a:bodyPr wrap="square" lIns="0" tIns="0" rIns="0" bIns="0" rtlCol="0" anchor="ctr"/>
          <a:lstStyle/>
          <a:p>
            <a:pPr indent="0" marL="0">
              <a:buNone/>
            </a:pPr>
            <a:r>
              <a:rPr lang="en-US" sz="1300" b="1" spc="200" kern="0" dirty="0">
                <a:solidFill>
                  <a:srgbClr val="0D9488"/>
                </a:solidFill>
                <a:latin typeface="Calibri" pitchFamily="34" charset="0"/>
                <a:ea typeface="Calibri" pitchFamily="34" charset="-122"/>
                <a:cs typeface="Calibri" pitchFamily="34" charset="-120"/>
              </a:rPr>
              <a:t>DEMO SAFELY</a:t>
            </a:r>
            <a:endParaRPr lang="en-US" sz="1300" dirty="0"/>
          </a:p>
        </p:txBody>
      </p:sp>
      <p:sp>
        <p:nvSpPr>
          <p:cNvPr id="3" name="Text 1"/>
          <p:cNvSpPr/>
          <p:nvPr/>
        </p:nvSpPr>
        <p:spPr>
          <a:xfrm>
            <a:off x="548640" y="713232"/>
            <a:ext cx="11064240" cy="868680"/>
          </a:xfrm>
          <a:prstGeom prst="rect">
            <a:avLst/>
          </a:prstGeom>
          <a:noFill/>
          <a:ln/>
        </p:spPr>
        <p:txBody>
          <a:bodyPr wrap="square" lIns="0" tIns="0" rIns="0" bIns="0" rtlCol="0" anchor="ctr"/>
          <a:lstStyle/>
          <a:p>
            <a:pPr indent="0" marL="0">
              <a:buNone/>
            </a:pPr>
            <a:r>
              <a:rPr lang="en-US" sz="3100" b="1" dirty="0">
                <a:solidFill>
                  <a:srgbClr val="16233A"/>
                </a:solidFill>
                <a:latin typeface="Calibri" pitchFamily="34" charset="0"/>
                <a:ea typeface="Calibri" pitchFamily="34" charset="-122"/>
                <a:cs typeface="Calibri" pitchFamily="34" charset="-120"/>
              </a:rPr>
              <a:t>The sandbox: no account, no Docker, no bill</a:t>
            </a:r>
            <a:endParaRPr lang="en-US" sz="3100" dirty="0"/>
          </a:p>
        </p:txBody>
      </p:sp>
      <p:sp>
        <p:nvSpPr>
          <p:cNvPr id="4" name="Shape 2"/>
          <p:cNvSpPr/>
          <p:nvPr/>
        </p:nvSpPr>
        <p:spPr>
          <a:xfrm>
            <a:off x="548640" y="1828800"/>
            <a:ext cx="5394960" cy="3931920"/>
          </a:xfrm>
          <a:prstGeom prst="roundRect">
            <a:avLst>
              <a:gd name="adj" fmla="val 2093"/>
            </a:avLst>
          </a:prstGeom>
          <a:solidFill>
            <a:srgbClr val="ECFDF5"/>
          </a:solidFill>
          <a:ln/>
          <a:effectLst>
            <a:outerShdw sx="100000" sy="100000" kx="0" ky="0" algn="bl" rotWithShape="0" blurRad="114300" dist="38100" dir="5400000">
              <a:srgbClr val="0A1F3C">
                <a:alpha val="16000"/>
              </a:srgbClr>
            </a:outerShdw>
          </a:effectLst>
        </p:spPr>
      </p:sp>
      <p:sp>
        <p:nvSpPr>
          <p:cNvPr id="5" name="Shape 3"/>
          <p:cNvSpPr/>
          <p:nvPr/>
        </p:nvSpPr>
        <p:spPr>
          <a:xfrm>
            <a:off x="868680" y="2103120"/>
            <a:ext cx="731520" cy="731520"/>
          </a:xfrm>
          <a:prstGeom prst="ellipse">
            <a:avLst/>
          </a:prstGeom>
          <a:solidFill>
            <a:srgbClr val="0D9488"/>
          </a:solidFill>
          <a:ln/>
        </p:spPr>
      </p:sp>
      <p:sp>
        <p:nvSpPr>
          <p:cNvPr id="6" name="Text 4"/>
          <p:cNvSpPr/>
          <p:nvPr/>
        </p:nvSpPr>
        <p:spPr>
          <a:xfrm>
            <a:off x="868680" y="210312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7" name="Text 5"/>
          <p:cNvSpPr/>
          <p:nvPr/>
        </p:nvSpPr>
        <p:spPr>
          <a:xfrm>
            <a:off x="1783080" y="2148840"/>
            <a:ext cx="4023360" cy="640080"/>
          </a:xfrm>
          <a:prstGeom prst="rect">
            <a:avLst/>
          </a:prstGeom>
          <a:noFill/>
          <a:ln/>
        </p:spPr>
        <p:txBody>
          <a:bodyPr wrap="square" lIns="0" tIns="0" rIns="0" bIns="0" rtlCol="0" anchor="ctr"/>
          <a:lstStyle/>
          <a:p>
            <a:pPr indent="0" marL="0">
              <a:buNone/>
            </a:pPr>
            <a:r>
              <a:rPr lang="en-US" sz="1800" b="1" dirty="0">
                <a:solidFill>
                  <a:srgbClr val="16233A"/>
                </a:solidFill>
                <a:latin typeface="Calibri" pitchFamily="34" charset="0"/>
                <a:ea typeface="Calibri" pitchFamily="34" charset="-122"/>
                <a:cs typeface="Calibri" pitchFamily="34" charset="-120"/>
              </a:rPr>
              <a:t>moto — a fake AWS in Python</a:t>
            </a:r>
            <a:endParaRPr lang="en-US" sz="1800" dirty="0"/>
          </a:p>
        </p:txBody>
      </p:sp>
      <p:sp>
        <p:nvSpPr>
          <p:cNvPr id="8" name="Text 6"/>
          <p:cNvSpPr/>
          <p:nvPr/>
        </p:nvSpPr>
        <p:spPr>
          <a:xfrm>
            <a:off x="914400" y="2971800"/>
            <a:ext cx="4754880" cy="2743200"/>
          </a:xfrm>
          <a:prstGeom prst="rect">
            <a:avLst/>
          </a:prstGeom>
          <a:noFill/>
          <a:ln/>
        </p:spPr>
        <p:txBody>
          <a:bodyPr wrap="square" lIns="0" tIns="0" rIns="0" bIns="0" rtlCol="0" anchor="ctr"/>
          <a:lstStyle/>
          <a:p>
            <a:pPr marL="342900" indent="-342900">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Runs entirely on your laptop</a:t>
            </a:r>
            <a:endParaRPr lang="en-US" sz="1450" dirty="0"/>
          </a:p>
          <a:p>
            <a:pPr marL="342900" indent="-342900">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No AWS account or credentials</a:t>
            </a:r>
            <a:endParaRPr lang="en-US" sz="1450" dirty="0"/>
          </a:p>
          <a:p>
            <a:pPr marL="342900" indent="-342900">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Zero risk of a surprise bill</a:t>
            </a:r>
            <a:endParaRPr lang="en-US" sz="1450" dirty="0"/>
          </a:p>
          <a:p>
            <a:pPr marL="342900" indent="-342900">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Everyone can follow along</a:t>
            </a:r>
            <a:endParaRPr lang="en-US" sz="1450" dirty="0"/>
          </a:p>
          <a:p>
            <a:pPr marL="342900" indent="-342900">
              <a:spcAft>
                <a:spcPts val="900"/>
              </a:spcAft>
              <a:buSzPct val="100000"/>
              <a:buChar char="•"/>
            </a:pPr>
            <a:r>
              <a:rPr lang="en-US" sz="1450" dirty="0">
                <a:solidFill>
                  <a:srgbClr val="334155"/>
                </a:solidFill>
                <a:latin typeface="Calibri" pitchFamily="34" charset="0"/>
                <a:ea typeface="Calibri" pitchFamily="34" charset="-122"/>
                <a:cs typeface="Calibri" pitchFamily="34" charset="-120"/>
              </a:rPr>
              <a:t>It's itself an open-source cloud tool!</a:t>
            </a:r>
            <a:endParaRPr lang="en-US" sz="1450" dirty="0"/>
          </a:p>
        </p:txBody>
      </p:sp>
      <p:sp>
        <p:nvSpPr>
          <p:cNvPr id="9" name="Shape 7"/>
          <p:cNvSpPr/>
          <p:nvPr/>
        </p:nvSpPr>
        <p:spPr>
          <a:xfrm>
            <a:off x="6172200" y="1828800"/>
            <a:ext cx="5440680" cy="3931920"/>
          </a:xfrm>
          <a:prstGeom prst="roundRect">
            <a:avLst>
              <a:gd name="adj" fmla="val 2093"/>
            </a:avLst>
          </a:prstGeom>
          <a:solidFill>
            <a:srgbClr val="0F2747"/>
          </a:solidFill>
          <a:ln/>
          <a:effectLst>
            <a:outerShdw sx="100000" sy="100000" kx="0" ky="0" algn="bl" rotWithShape="0" blurRad="114300" dist="38100" dir="5400000">
              <a:srgbClr val="0A1F3C">
                <a:alpha val="16000"/>
              </a:srgbClr>
            </a:outerShdw>
          </a:effectLst>
        </p:spPr>
      </p:sp>
      <p:sp>
        <p:nvSpPr>
          <p:cNvPr id="10" name="Text 8"/>
          <p:cNvSpPr/>
          <p:nvPr/>
        </p:nvSpPr>
        <p:spPr>
          <a:xfrm>
            <a:off x="6446520" y="2011680"/>
            <a:ext cx="3657600" cy="365760"/>
          </a:xfrm>
          <a:prstGeom prst="rect">
            <a:avLst/>
          </a:prstGeom>
          <a:noFill/>
          <a:ln/>
        </p:spPr>
        <p:txBody>
          <a:bodyPr wrap="square" lIns="0" tIns="0" rIns="0" bIns="0" rtlCol="0" anchor="ctr"/>
          <a:lstStyle/>
          <a:p>
            <a:pPr indent="0" marL="0">
              <a:buNone/>
            </a:pPr>
            <a:r>
              <a:rPr lang="en-US" sz="1200" dirty="0">
                <a:solidFill>
                  <a:srgbClr val="CADCFC"/>
                </a:solidFill>
                <a:latin typeface="Courier New" pitchFamily="34" charset="0"/>
                <a:ea typeface="Courier New" pitchFamily="34" charset="-122"/>
                <a:cs typeface="Courier New" pitchFamily="34" charset="-120"/>
              </a:rPr>
              <a:t>Terminal</a:t>
            </a:r>
            <a:endParaRPr lang="en-US" sz="1200" dirty="0"/>
          </a:p>
        </p:txBody>
      </p:sp>
      <p:sp>
        <p:nvSpPr>
          <p:cNvPr id="11" name="Text 9"/>
          <p:cNvSpPr/>
          <p:nvPr/>
        </p:nvSpPr>
        <p:spPr>
          <a:xfrm>
            <a:off x="6446520" y="2423160"/>
            <a:ext cx="5029200" cy="3200400"/>
          </a:xfrm>
          <a:prstGeom prst="rect">
            <a:avLst/>
          </a:prstGeom>
          <a:noFill/>
          <a:ln/>
        </p:spPr>
        <p:txBody>
          <a:bodyPr wrap="square" lIns="0" tIns="0" rIns="0" bIns="0" rtlCol="0" anchor="ctr"/>
          <a:lstStyle/>
          <a:p>
            <a:pPr indent="0" marL="0">
              <a:lnSpc>
                <a:spcPct val="108000"/>
              </a:lnSpc>
              <a:buNone/>
            </a:pPr>
            <a:r>
              <a:rPr lang="en-US" sz="1250" dirty="0">
                <a:solidFill>
                  <a:srgbClr val="7DD3FC"/>
                </a:solidFill>
                <a:latin typeface="Courier New" pitchFamily="34" charset="0"/>
                <a:ea typeface="Courier New" pitchFamily="34" charset="-122"/>
                <a:cs typeface="Courier New" pitchFamily="34" charset="-120"/>
              </a:rPr>
              <a:t># start a local fake S3 (no Docker)</a:t>
            </a:r>
            <a:endParaRPr lang="en-US" sz="1250" dirty="0"/>
          </a:p>
          <a:p>
            <a:pPr indent="0" marL="0">
              <a:lnSpc>
                <a:spcPct val="108000"/>
              </a:lnSpc>
              <a:buNone/>
            </a:pPr>
            <a:r>
              <a:rPr lang="en-US" sz="1250" dirty="0">
                <a:solidFill>
                  <a:srgbClr val="A7F3D0"/>
                </a:solidFill>
                <a:latin typeface="Courier New" pitchFamily="34" charset="0"/>
                <a:ea typeface="Courier New" pitchFamily="34" charset="-122"/>
                <a:cs typeface="Courier New" pitchFamily="34" charset="-120"/>
              </a:rPr>
              <a:t>python -m moto.server -p 5000</a:t>
            </a:r>
            <a:endParaRPr lang="en-US" sz="1250" dirty="0"/>
          </a:p>
          <a:p>
            <a:pPr indent="0" marL="0">
              <a:lnSpc>
                <a:spcPct val="108000"/>
              </a:lnSpc>
              <a:buNone/>
            </a:pPr>
            <a:endParaRPr lang="en-US" sz="1250" dirty="0"/>
          </a:p>
          <a:p>
            <a:pPr indent="0" marL="0">
              <a:lnSpc>
                <a:spcPct val="108000"/>
              </a:lnSpc>
              <a:buNone/>
            </a:pPr>
            <a:r>
              <a:rPr lang="en-US" sz="1250" dirty="0">
                <a:solidFill>
                  <a:srgbClr val="7DD3FC"/>
                </a:solidFill>
                <a:latin typeface="Courier New" pitchFamily="34" charset="0"/>
                <a:ea typeface="Courier New" pitchFamily="34" charset="-122"/>
                <a:cs typeface="Courier New" pitchFamily="34" charset="-120"/>
              </a:rPr>
              <a:t># create deliberately broken buckets</a:t>
            </a:r>
            <a:endParaRPr lang="en-US" sz="1250" dirty="0"/>
          </a:p>
          <a:p>
            <a:pPr indent="0" marL="0">
              <a:lnSpc>
                <a:spcPct val="108000"/>
              </a:lnSpc>
              <a:buNone/>
            </a:pPr>
            <a:r>
              <a:rPr lang="en-US" sz="1250" dirty="0">
                <a:solidFill>
                  <a:srgbClr val="A7F3D0"/>
                </a:solidFill>
                <a:latin typeface="Courier New" pitchFamily="34" charset="0"/>
                <a:ea typeface="Courier New" pitchFamily="34" charset="-122"/>
                <a:cs typeface="Courier New" pitchFamily="34" charset="-120"/>
              </a:rPr>
              <a:t>python scripts/seed_buckets.py \</a:t>
            </a:r>
            <a:endParaRPr lang="en-US" sz="1250" dirty="0"/>
          </a:p>
          <a:p>
            <a:pPr indent="0" marL="0">
              <a:lnSpc>
                <a:spcPct val="108000"/>
              </a:lnSpc>
              <a:buNone/>
            </a:pPr>
            <a:r>
              <a:rPr lang="en-US" sz="1250" dirty="0">
                <a:solidFill>
                  <a:srgbClr val="A7F3D0"/>
                </a:solidFill>
                <a:latin typeface="Courier New" pitchFamily="34" charset="0"/>
                <a:ea typeface="Courier New" pitchFamily="34" charset="-122"/>
                <a:cs typeface="Courier New" pitchFamily="34" charset="-120"/>
              </a:rPr>
              <a:t>    --endpoint-url http://localhost:5000</a:t>
            </a:r>
            <a:endParaRPr lang="en-US" sz="1250" dirty="0"/>
          </a:p>
          <a:p>
            <a:pPr indent="0" marL="0">
              <a:lnSpc>
                <a:spcPct val="108000"/>
              </a:lnSpc>
              <a:buNone/>
            </a:pPr>
            <a:endParaRPr lang="en-US" sz="1250" dirty="0"/>
          </a:p>
          <a:p>
            <a:pPr indent="0" marL="0">
              <a:lnSpc>
                <a:spcPct val="108000"/>
              </a:lnSpc>
              <a:buNone/>
            </a:pPr>
            <a:r>
              <a:rPr lang="en-US" sz="1250" dirty="0">
                <a:solidFill>
                  <a:srgbClr val="7DD3FC"/>
                </a:solidFill>
                <a:latin typeface="Courier New" pitchFamily="34" charset="0"/>
                <a:ea typeface="Courier New" pitchFamily="34" charset="-122"/>
                <a:cs typeface="Courier New" pitchFamily="34" charset="-120"/>
              </a:rPr>
              <a:t># scan them</a:t>
            </a:r>
            <a:endParaRPr lang="en-US" sz="1250" dirty="0"/>
          </a:p>
          <a:p>
            <a:pPr indent="0" marL="0">
              <a:lnSpc>
                <a:spcPct val="108000"/>
              </a:lnSpc>
              <a:buNone/>
            </a:pPr>
            <a:r>
              <a:rPr lang="en-US" sz="1250" dirty="0">
                <a:solidFill>
                  <a:srgbClr val="FDE68A"/>
                </a:solidFill>
                <a:latin typeface="Courier New" pitchFamily="34" charset="0"/>
                <a:ea typeface="Courier New" pitchFamily="34" charset="-122"/>
                <a:cs typeface="Courier New" pitchFamily="34" charset="-120"/>
              </a:rPr>
              <a:t>s3-guard scan \</a:t>
            </a:r>
            <a:endParaRPr lang="en-US" sz="1250" dirty="0"/>
          </a:p>
          <a:p>
            <a:pPr indent="0" marL="0">
              <a:lnSpc>
                <a:spcPct val="108000"/>
              </a:lnSpc>
              <a:buNone/>
            </a:pPr>
            <a:r>
              <a:rPr lang="en-US" sz="1250" dirty="0">
                <a:solidFill>
                  <a:srgbClr val="FDE68A"/>
                </a:solidFill>
                <a:latin typeface="Courier New" pitchFamily="34" charset="0"/>
                <a:ea typeface="Courier New" pitchFamily="34" charset="-122"/>
                <a:cs typeface="Courier New" pitchFamily="34" charset="-120"/>
              </a:rPr>
              <a:t>    --endpoint-url http://localhost:5000</a:t>
            </a:r>
            <a:endParaRPr lang="en-US" sz="1250" dirty="0"/>
          </a:p>
        </p:txBody>
      </p:sp>
      <p:sp>
        <p:nvSpPr>
          <p:cNvPr id="13" name="Text 10"/>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From User to Creator  •  Cloud Webinar</a:t>
            </a:r>
            <a:endParaRPr lang="en-US" sz="900" dirty="0"/>
          </a:p>
        </p:txBody>
      </p:sp>
      <p:sp>
        <p:nvSpPr>
          <p:cNvPr id="14" name="Text 11"/>
          <p:cNvSpPr/>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320040"/>
          </a:xfrm>
          <a:prstGeom prst="rect">
            <a:avLst/>
          </a:prstGeom>
          <a:noFill/>
          <a:ln/>
        </p:spPr>
        <p:txBody>
          <a:bodyPr wrap="square" lIns="0" tIns="0" rIns="0" bIns="0" rtlCol="0" anchor="ctr"/>
          <a:lstStyle/>
          <a:p>
            <a:pPr indent="0" marL="0">
              <a:buNone/>
            </a:pPr>
            <a:r>
              <a:rPr lang="en-US" sz="1300" b="1" spc="200" kern="0" dirty="0">
                <a:solidFill>
                  <a:srgbClr val="0D9488"/>
                </a:solidFill>
                <a:latin typeface="Calibri" pitchFamily="34" charset="0"/>
                <a:ea typeface="Calibri" pitchFamily="34" charset="-122"/>
                <a:cs typeface="Calibri" pitchFamily="34" charset="-120"/>
              </a:rPr>
              <a:t>THE SHAPE OF THE CODE</a:t>
            </a:r>
            <a:endParaRPr lang="en-US" sz="1300" dirty="0"/>
          </a:p>
        </p:txBody>
      </p:sp>
      <p:sp>
        <p:nvSpPr>
          <p:cNvPr id="3" name="Text 1"/>
          <p:cNvSpPr/>
          <p:nvPr/>
        </p:nvSpPr>
        <p:spPr>
          <a:xfrm>
            <a:off x="548640" y="713232"/>
            <a:ext cx="11064240" cy="868680"/>
          </a:xfrm>
          <a:prstGeom prst="rect">
            <a:avLst/>
          </a:prstGeom>
          <a:noFill/>
          <a:ln/>
        </p:spPr>
        <p:txBody>
          <a:bodyPr wrap="square" lIns="0" tIns="0" rIns="0" bIns="0" rtlCol="0" anchor="ctr"/>
          <a:lstStyle/>
          <a:p>
            <a:pPr indent="0" marL="0">
              <a:buNone/>
            </a:pPr>
            <a:r>
              <a:rPr lang="en-US" sz="3100" b="1" dirty="0">
                <a:solidFill>
                  <a:srgbClr val="16233A"/>
                </a:solidFill>
                <a:latin typeface="Calibri" pitchFamily="34" charset="0"/>
                <a:ea typeface="Calibri" pitchFamily="34" charset="-122"/>
                <a:cs typeface="Calibri" pitchFamily="34" charset="-120"/>
              </a:rPr>
              <a:t>How s3-guard is built</a:t>
            </a:r>
            <a:endParaRPr lang="en-US" sz="3100" dirty="0"/>
          </a:p>
        </p:txBody>
      </p:sp>
      <p:sp>
        <p:nvSpPr>
          <p:cNvPr id="4" name="Shape 2"/>
          <p:cNvSpPr/>
          <p:nvPr/>
        </p:nvSpPr>
        <p:spPr>
          <a:xfrm>
            <a:off x="548640" y="2103120"/>
            <a:ext cx="3566160" cy="2560320"/>
          </a:xfrm>
          <a:prstGeom prst="roundRect">
            <a:avLst>
              <a:gd name="adj" fmla="val 3214"/>
            </a:avLst>
          </a:prstGeom>
          <a:solidFill>
            <a:srgbClr val="F1F5F9"/>
          </a:solidFill>
          <a:ln/>
          <a:effectLst>
            <a:outerShdw sx="100000" sy="100000" kx="0" ky="0" algn="bl" rotWithShape="0" blurRad="114300" dist="38100" dir="5400000">
              <a:srgbClr val="0A1F3C">
                <a:alpha val="16000"/>
              </a:srgbClr>
            </a:outerShdw>
          </a:effectLst>
        </p:spPr>
      </p:sp>
      <p:sp>
        <p:nvSpPr>
          <p:cNvPr id="5" name="Text 3"/>
          <p:cNvSpPr/>
          <p:nvPr/>
        </p:nvSpPr>
        <p:spPr>
          <a:xfrm>
            <a:off x="822960" y="2423160"/>
            <a:ext cx="3017520" cy="548640"/>
          </a:xfrm>
          <a:prstGeom prst="rect">
            <a:avLst/>
          </a:prstGeom>
          <a:noFill/>
          <a:ln/>
        </p:spPr>
        <p:txBody>
          <a:bodyPr wrap="square" lIns="0" tIns="0" rIns="0" bIns="0" rtlCol="0" anchor="ctr"/>
          <a:lstStyle/>
          <a:p>
            <a:pPr indent="0" marL="0">
              <a:buNone/>
            </a:pPr>
            <a:r>
              <a:rPr lang="en-US" sz="1800" b="1" dirty="0">
                <a:solidFill>
                  <a:srgbClr val="0D9488"/>
                </a:solidFill>
                <a:latin typeface="Courier New" pitchFamily="34" charset="0"/>
                <a:ea typeface="Courier New" pitchFamily="34" charset="-122"/>
                <a:cs typeface="Courier New" pitchFamily="34" charset="-120"/>
              </a:rPr>
              <a:t>checks.py</a:t>
            </a:r>
            <a:endParaRPr lang="en-US" sz="1800" dirty="0"/>
          </a:p>
        </p:txBody>
      </p:sp>
      <p:sp>
        <p:nvSpPr>
          <p:cNvPr id="6" name="Text 4"/>
          <p:cNvSpPr/>
          <p:nvPr/>
        </p:nvSpPr>
        <p:spPr>
          <a:xfrm>
            <a:off x="822960" y="3154680"/>
            <a:ext cx="3017520" cy="1371600"/>
          </a:xfrm>
          <a:prstGeom prst="rect">
            <a:avLst/>
          </a:prstGeom>
          <a:noFill/>
          <a:ln/>
        </p:spPr>
        <p:txBody>
          <a:bodyPr wrap="square" lIns="0" tIns="0" rIns="0" bIns="0" rtlCol="0" anchor="ctr"/>
          <a:lstStyle/>
          <a:p>
            <a:pPr indent="0" marL="0">
              <a:buNone/>
            </a:pPr>
            <a:r>
              <a:rPr lang="en-US" sz="1350" dirty="0">
                <a:solidFill>
                  <a:srgbClr val="334155"/>
                </a:solidFill>
                <a:latin typeface="Calibri" pitchFamily="34" charset="0"/>
                <a:ea typeface="Calibri" pitchFamily="34" charset="-122"/>
                <a:cs typeface="Calibri" pitchFamily="34" charset="-120"/>
              </a:rPr>
              <a:t>One small function per check. Returns a Finding, or nothing.</a:t>
            </a:r>
            <a:endParaRPr lang="en-US" sz="1350" dirty="0"/>
          </a:p>
        </p:txBody>
      </p:sp>
      <p:sp>
        <p:nvSpPr>
          <p:cNvPr id="7" name="Shape 5"/>
          <p:cNvSpPr/>
          <p:nvPr/>
        </p:nvSpPr>
        <p:spPr>
          <a:xfrm>
            <a:off x="4087368" y="3218688"/>
            <a:ext cx="329184" cy="329184"/>
          </a:xfrm>
          <a:prstGeom prst="ellipse">
            <a:avLst/>
          </a:prstGeom>
          <a:solidFill>
            <a:srgbClr val="0A1F3C"/>
          </a:solidFill>
          <a:ln/>
        </p:spPr>
      </p:sp>
      <p:sp>
        <p:nvSpPr>
          <p:cNvPr id="8" name="Text 6"/>
          <p:cNvSpPr/>
          <p:nvPr/>
        </p:nvSpPr>
        <p:spPr>
          <a:xfrm>
            <a:off x="4087368" y="3218688"/>
            <a:ext cx="329184" cy="32918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9" name="Shape 7"/>
          <p:cNvSpPr/>
          <p:nvPr/>
        </p:nvSpPr>
        <p:spPr>
          <a:xfrm>
            <a:off x="4389120" y="2103120"/>
            <a:ext cx="3566160" cy="2560320"/>
          </a:xfrm>
          <a:prstGeom prst="roundRect">
            <a:avLst>
              <a:gd name="adj" fmla="val 3214"/>
            </a:avLst>
          </a:prstGeom>
          <a:solidFill>
            <a:srgbClr val="F1F5F9"/>
          </a:solidFill>
          <a:ln/>
          <a:effectLst>
            <a:outerShdw sx="100000" sy="100000" kx="0" ky="0" algn="bl" rotWithShape="0" blurRad="114300" dist="38100" dir="5400000">
              <a:srgbClr val="0A1F3C">
                <a:alpha val="16000"/>
              </a:srgbClr>
            </a:outerShdw>
          </a:effectLst>
        </p:spPr>
      </p:sp>
      <p:sp>
        <p:nvSpPr>
          <p:cNvPr id="10" name="Text 8"/>
          <p:cNvSpPr/>
          <p:nvPr/>
        </p:nvSpPr>
        <p:spPr>
          <a:xfrm>
            <a:off x="4663440" y="2423160"/>
            <a:ext cx="3017520" cy="548640"/>
          </a:xfrm>
          <a:prstGeom prst="rect">
            <a:avLst/>
          </a:prstGeom>
          <a:noFill/>
          <a:ln/>
        </p:spPr>
        <p:txBody>
          <a:bodyPr wrap="square" lIns="0" tIns="0" rIns="0" bIns="0" rtlCol="0" anchor="ctr"/>
          <a:lstStyle/>
          <a:p>
            <a:pPr indent="0" marL="0">
              <a:buNone/>
            </a:pPr>
            <a:r>
              <a:rPr lang="en-US" sz="1800" b="1" dirty="0">
                <a:solidFill>
                  <a:srgbClr val="14B8A6"/>
                </a:solidFill>
                <a:latin typeface="Courier New" pitchFamily="34" charset="0"/>
                <a:ea typeface="Courier New" pitchFamily="34" charset="-122"/>
                <a:cs typeface="Courier New" pitchFamily="34" charset="-120"/>
              </a:rPr>
              <a:t>auditor.py</a:t>
            </a:r>
            <a:endParaRPr lang="en-US" sz="1800" dirty="0"/>
          </a:p>
        </p:txBody>
      </p:sp>
      <p:sp>
        <p:nvSpPr>
          <p:cNvPr id="11" name="Text 9"/>
          <p:cNvSpPr/>
          <p:nvPr/>
        </p:nvSpPr>
        <p:spPr>
          <a:xfrm>
            <a:off x="4663440" y="3154680"/>
            <a:ext cx="3017520" cy="1371600"/>
          </a:xfrm>
          <a:prstGeom prst="rect">
            <a:avLst/>
          </a:prstGeom>
          <a:noFill/>
          <a:ln/>
        </p:spPr>
        <p:txBody>
          <a:bodyPr wrap="square" lIns="0" tIns="0" rIns="0" bIns="0" rtlCol="0" anchor="ctr"/>
          <a:lstStyle/>
          <a:p>
            <a:pPr indent="0" marL="0">
              <a:buNone/>
            </a:pPr>
            <a:r>
              <a:rPr lang="en-US" sz="1350" dirty="0">
                <a:solidFill>
                  <a:srgbClr val="334155"/>
                </a:solidFill>
                <a:latin typeface="Calibri" pitchFamily="34" charset="0"/>
                <a:ea typeface="Calibri" pitchFamily="34" charset="-122"/>
                <a:cs typeface="Calibri" pitchFamily="34" charset="-120"/>
              </a:rPr>
              <a:t>Connects to S3, runs every check on every bucket, sorts worst-first.</a:t>
            </a:r>
            <a:endParaRPr lang="en-US" sz="1350" dirty="0"/>
          </a:p>
        </p:txBody>
      </p:sp>
      <p:sp>
        <p:nvSpPr>
          <p:cNvPr id="12" name="Shape 10"/>
          <p:cNvSpPr/>
          <p:nvPr/>
        </p:nvSpPr>
        <p:spPr>
          <a:xfrm>
            <a:off x="7927848" y="3218688"/>
            <a:ext cx="329184" cy="329184"/>
          </a:xfrm>
          <a:prstGeom prst="ellipse">
            <a:avLst/>
          </a:prstGeom>
          <a:solidFill>
            <a:srgbClr val="0A1F3C"/>
          </a:solidFill>
          <a:ln/>
        </p:spPr>
      </p:sp>
      <p:sp>
        <p:nvSpPr>
          <p:cNvPr id="13" name="Text 11"/>
          <p:cNvSpPr/>
          <p:nvPr/>
        </p:nvSpPr>
        <p:spPr>
          <a:xfrm>
            <a:off x="7927848" y="3218688"/>
            <a:ext cx="329184" cy="32918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4" name="Shape 12"/>
          <p:cNvSpPr/>
          <p:nvPr/>
        </p:nvSpPr>
        <p:spPr>
          <a:xfrm>
            <a:off x="8229600" y="2103120"/>
            <a:ext cx="3566160" cy="2560320"/>
          </a:xfrm>
          <a:prstGeom prst="roundRect">
            <a:avLst>
              <a:gd name="adj" fmla="val 3214"/>
            </a:avLst>
          </a:prstGeom>
          <a:solidFill>
            <a:srgbClr val="F1F5F9"/>
          </a:solidFill>
          <a:ln/>
          <a:effectLst>
            <a:outerShdw sx="100000" sy="100000" kx="0" ky="0" algn="bl" rotWithShape="0" blurRad="114300" dist="38100" dir="5400000">
              <a:srgbClr val="0A1F3C">
                <a:alpha val="16000"/>
              </a:srgbClr>
            </a:outerShdw>
          </a:effectLst>
        </p:spPr>
      </p:sp>
      <p:sp>
        <p:nvSpPr>
          <p:cNvPr id="15" name="Text 13"/>
          <p:cNvSpPr/>
          <p:nvPr/>
        </p:nvSpPr>
        <p:spPr>
          <a:xfrm>
            <a:off x="8503920" y="2423160"/>
            <a:ext cx="3017520" cy="548640"/>
          </a:xfrm>
          <a:prstGeom prst="rect">
            <a:avLst/>
          </a:prstGeom>
          <a:noFill/>
          <a:ln/>
        </p:spPr>
        <p:txBody>
          <a:bodyPr wrap="square" lIns="0" tIns="0" rIns="0" bIns="0" rtlCol="0" anchor="ctr"/>
          <a:lstStyle/>
          <a:p>
            <a:pPr indent="0" marL="0">
              <a:buNone/>
            </a:pPr>
            <a:r>
              <a:rPr lang="en-US" sz="1800" b="1" dirty="0">
                <a:solidFill>
                  <a:srgbClr val="F59E0B"/>
                </a:solidFill>
                <a:latin typeface="Courier New" pitchFamily="34" charset="0"/>
                <a:ea typeface="Courier New" pitchFamily="34" charset="-122"/>
                <a:cs typeface="Courier New" pitchFamily="34" charset="-120"/>
              </a:rPr>
              <a:t>cli.py</a:t>
            </a:r>
            <a:endParaRPr lang="en-US" sz="1800" dirty="0"/>
          </a:p>
        </p:txBody>
      </p:sp>
      <p:sp>
        <p:nvSpPr>
          <p:cNvPr id="16" name="Text 14"/>
          <p:cNvSpPr/>
          <p:nvPr/>
        </p:nvSpPr>
        <p:spPr>
          <a:xfrm>
            <a:off x="8503920" y="3154680"/>
            <a:ext cx="3017520" cy="1371600"/>
          </a:xfrm>
          <a:prstGeom prst="rect">
            <a:avLst/>
          </a:prstGeom>
          <a:noFill/>
          <a:ln/>
        </p:spPr>
        <p:txBody>
          <a:bodyPr wrap="square" lIns="0" tIns="0" rIns="0" bIns="0" rtlCol="0" anchor="ctr"/>
          <a:lstStyle/>
          <a:p>
            <a:pPr indent="0" marL="0">
              <a:buNone/>
            </a:pPr>
            <a:r>
              <a:rPr lang="en-US" sz="1350" dirty="0">
                <a:solidFill>
                  <a:srgbClr val="334155"/>
                </a:solidFill>
                <a:latin typeface="Calibri" pitchFamily="34" charset="0"/>
                <a:ea typeface="Calibri" pitchFamily="34" charset="-122"/>
                <a:cs typeface="Calibri" pitchFamily="34" charset="-120"/>
              </a:rPr>
              <a:t>Typer command + Rich report. The part the user touches.</a:t>
            </a:r>
            <a:endParaRPr lang="en-US" sz="1350" dirty="0"/>
          </a:p>
        </p:txBody>
      </p:sp>
      <p:sp>
        <p:nvSpPr>
          <p:cNvPr id="17" name="Text 15"/>
          <p:cNvSpPr/>
          <p:nvPr/>
        </p:nvSpPr>
        <p:spPr>
          <a:xfrm>
            <a:off x="548640" y="5074920"/>
            <a:ext cx="11064240" cy="548640"/>
          </a:xfrm>
          <a:prstGeom prst="rect">
            <a:avLst/>
          </a:prstGeom>
          <a:noFill/>
          <a:ln/>
        </p:spPr>
        <p:txBody>
          <a:bodyPr wrap="square" lIns="0" tIns="0" rIns="0" bIns="0" rtlCol="0" anchor="ctr"/>
          <a:lstStyle/>
          <a:p>
            <a:pPr algn="ctr" indent="0" marL="0">
              <a:buNone/>
            </a:pPr>
            <a:r>
              <a:rPr lang="en-US" sz="1450" i="1" dirty="0">
                <a:solidFill>
                  <a:srgbClr val="0D9488"/>
                </a:solidFill>
                <a:latin typeface="Calibri" pitchFamily="34" charset="0"/>
                <a:ea typeface="Calibri" pitchFamily="34" charset="-122"/>
                <a:cs typeface="Calibri" pitchFamily="34" charset="-120"/>
              </a:rPr>
              <a:t>Separating "what to check" from "how to show it" is what makes the tool easy to read, test, and extend.</a:t>
            </a:r>
            <a:endParaRPr lang="en-US" sz="1450" dirty="0"/>
          </a:p>
        </p:txBody>
      </p:sp>
      <p:sp>
        <p:nvSpPr>
          <p:cNvPr id="19" name="Text 16"/>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From User to Creator  •  Cloud Webinar</a:t>
            </a:r>
            <a:endParaRPr lang="en-US" sz="900" dirty="0"/>
          </a:p>
        </p:txBody>
      </p:sp>
      <p:sp>
        <p:nvSpPr>
          <p:cNvPr id="20" name="Text 17"/>
          <p:cNvSpPr/>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320040"/>
          </a:xfrm>
          <a:prstGeom prst="rect">
            <a:avLst/>
          </a:prstGeom>
          <a:noFill/>
          <a:ln/>
        </p:spPr>
        <p:txBody>
          <a:bodyPr wrap="square" lIns="0" tIns="0" rIns="0" bIns="0" rtlCol="0" anchor="ctr"/>
          <a:lstStyle/>
          <a:p>
            <a:pPr indent="0" marL="0">
              <a:buNone/>
            </a:pPr>
            <a:r>
              <a:rPr lang="en-US" sz="1300" b="1" spc="200" kern="0" dirty="0">
                <a:solidFill>
                  <a:srgbClr val="0D9488"/>
                </a:solidFill>
                <a:latin typeface="Calibri" pitchFamily="34" charset="0"/>
                <a:ea typeface="Calibri" pitchFamily="34" charset="-122"/>
                <a:cs typeface="Calibri" pitchFamily="34" charset="-120"/>
              </a:rPr>
              <a:t>THE WHOLE IDEA, IN ONE FUNCTION</a:t>
            </a:r>
            <a:endParaRPr lang="en-US" sz="1300" dirty="0"/>
          </a:p>
        </p:txBody>
      </p:sp>
      <p:sp>
        <p:nvSpPr>
          <p:cNvPr id="3" name="Text 1"/>
          <p:cNvSpPr/>
          <p:nvPr/>
        </p:nvSpPr>
        <p:spPr>
          <a:xfrm>
            <a:off x="548640" y="713232"/>
            <a:ext cx="11064240" cy="868680"/>
          </a:xfrm>
          <a:prstGeom prst="rect">
            <a:avLst/>
          </a:prstGeom>
          <a:noFill/>
          <a:ln/>
        </p:spPr>
        <p:txBody>
          <a:bodyPr wrap="square" lIns="0" tIns="0" rIns="0" bIns="0" rtlCol="0" anchor="ctr"/>
          <a:lstStyle/>
          <a:p>
            <a:pPr indent="0" marL="0">
              <a:buNone/>
            </a:pPr>
            <a:r>
              <a:rPr lang="en-US" sz="3100" b="1" dirty="0">
                <a:solidFill>
                  <a:srgbClr val="16233A"/>
                </a:solidFill>
                <a:latin typeface="Calibri" pitchFamily="34" charset="0"/>
                <a:ea typeface="Calibri" pitchFamily="34" charset="-122"/>
                <a:cs typeface="Calibri" pitchFamily="34" charset="-120"/>
              </a:rPr>
              <a:t>A security check is ~10 lines</a:t>
            </a:r>
            <a:endParaRPr lang="en-US" sz="3100" dirty="0"/>
          </a:p>
        </p:txBody>
      </p:sp>
      <p:sp>
        <p:nvSpPr>
          <p:cNvPr id="4" name="Shape 2"/>
          <p:cNvSpPr/>
          <p:nvPr/>
        </p:nvSpPr>
        <p:spPr>
          <a:xfrm>
            <a:off x="548640" y="1783080"/>
            <a:ext cx="11064240" cy="3200400"/>
          </a:xfrm>
          <a:prstGeom prst="roundRect">
            <a:avLst>
              <a:gd name="adj" fmla="val 2571"/>
            </a:avLst>
          </a:prstGeom>
          <a:solidFill>
            <a:srgbClr val="0F2747"/>
          </a:solidFill>
          <a:ln/>
          <a:effectLst>
            <a:outerShdw sx="100000" sy="100000" kx="0" ky="0" algn="bl" rotWithShape="0" blurRad="114300" dist="38100" dir="5400000">
              <a:srgbClr val="0A1F3C">
                <a:alpha val="16000"/>
              </a:srgbClr>
            </a:outerShdw>
          </a:effectLst>
        </p:spPr>
      </p:sp>
      <p:sp>
        <p:nvSpPr>
          <p:cNvPr id="5" name="Text 3"/>
          <p:cNvSpPr/>
          <p:nvPr/>
        </p:nvSpPr>
        <p:spPr>
          <a:xfrm>
            <a:off x="868680" y="2057400"/>
            <a:ext cx="10424160" cy="2651760"/>
          </a:xfrm>
          <a:prstGeom prst="rect">
            <a:avLst/>
          </a:prstGeom>
          <a:noFill/>
          <a:ln/>
        </p:spPr>
        <p:txBody>
          <a:bodyPr wrap="square" lIns="0" tIns="0" rIns="0" bIns="0" rtlCol="0" anchor="ctr"/>
          <a:lstStyle/>
          <a:p>
            <a:pPr indent="0" marL="0">
              <a:lnSpc>
                <a:spcPct val="118000"/>
              </a:lnSpc>
              <a:buNone/>
            </a:pPr>
            <a:r>
              <a:rPr lang="en-US" sz="1450" dirty="0">
                <a:solidFill>
                  <a:srgbClr val="C792EA"/>
                </a:solidFill>
                <a:latin typeface="Courier New" pitchFamily="34" charset="0"/>
                <a:ea typeface="Courier New" pitchFamily="34" charset="-122"/>
                <a:cs typeface="Courier New" pitchFamily="34" charset="-120"/>
              </a:rPr>
              <a:t>def </a:t>
            </a:r>
            <a:pPr indent="0" marL="0">
              <a:lnSpc>
                <a:spcPct val="118000"/>
              </a:lnSpc>
              <a:buNone/>
            </a:pPr>
            <a:r>
              <a:rPr lang="en-US" sz="1450" dirty="0">
                <a:solidFill>
                  <a:srgbClr val="82AAFF"/>
                </a:solidFill>
                <a:latin typeface="Courier New" pitchFamily="34" charset="0"/>
                <a:ea typeface="Courier New" pitchFamily="34" charset="-122"/>
                <a:cs typeface="Courier New" pitchFamily="34" charset="-120"/>
              </a:rPr>
              <a:t>check_versioning</a:t>
            </a:r>
            <a:pPr indent="0" marL="0">
              <a:lnSpc>
                <a:spcPct val="118000"/>
              </a:lnSpc>
              <a:buNone/>
            </a:pPr>
            <a:r>
              <a:rPr lang="en-US" sz="1450" dirty="0">
                <a:solidFill>
                  <a:srgbClr val="ECEFF4"/>
                </a:solidFill>
                <a:latin typeface="Courier New" pitchFamily="34" charset="0"/>
                <a:ea typeface="Courier New" pitchFamily="34" charset="-122"/>
                <a:cs typeface="Courier New" pitchFamily="34" charset="-120"/>
              </a:rPr>
              <a:t>(client, bucket):</a:t>
            </a:r>
            <a:endParaRPr lang="en-US" sz="1450" dirty="0"/>
          </a:p>
          <a:p>
            <a:pPr indent="0" marL="0">
              <a:lnSpc>
                <a:spcPct val="118000"/>
              </a:lnSpc>
              <a:buNone/>
            </a:pPr>
            <a:r>
              <a:rPr lang="en-US" sz="1450" dirty="0">
                <a:solidFill>
                  <a:srgbClr val="ECEFF4"/>
                </a:solidFill>
                <a:latin typeface="Courier New" pitchFamily="34" charset="0"/>
                <a:ea typeface="Courier New" pitchFamily="34" charset="-122"/>
                <a:cs typeface="Courier New" pitchFamily="34" charset="-120"/>
              </a:rPr>
              <a:t>    resp = client.get_bucket_versioning(Bucket=bucket)</a:t>
            </a:r>
            <a:endParaRPr lang="en-US" sz="1450" dirty="0"/>
          </a:p>
          <a:p>
            <a:pPr indent="0" marL="0">
              <a:lnSpc>
                <a:spcPct val="118000"/>
              </a:lnSpc>
              <a:buNone/>
            </a:pPr>
            <a:r>
              <a:rPr lang="en-US" sz="1450" dirty="0">
                <a:solidFill>
                  <a:srgbClr val="C792EA"/>
                </a:solidFill>
                <a:latin typeface="Courier New" pitchFamily="34" charset="0"/>
                <a:ea typeface="Courier New" pitchFamily="34" charset="-122"/>
                <a:cs typeface="Courier New" pitchFamily="34" charset="-120"/>
              </a:rPr>
              <a:t>    if </a:t>
            </a:r>
            <a:pPr indent="0" marL="0">
              <a:lnSpc>
                <a:spcPct val="118000"/>
              </a:lnSpc>
              <a:buNone/>
            </a:pPr>
            <a:r>
              <a:rPr lang="en-US" sz="1450" dirty="0">
                <a:solidFill>
                  <a:srgbClr val="ECEFF4"/>
                </a:solidFill>
                <a:latin typeface="Courier New" pitchFamily="34" charset="0"/>
                <a:ea typeface="Courier New" pitchFamily="34" charset="-122"/>
                <a:cs typeface="Courier New" pitchFamily="34" charset="-120"/>
              </a:rPr>
              <a:t>resp.get(</a:t>
            </a:r>
            <a:pPr indent="0" marL="0">
              <a:lnSpc>
                <a:spcPct val="118000"/>
              </a:lnSpc>
              <a:buNone/>
            </a:pPr>
            <a:r>
              <a:rPr lang="en-US" sz="1450" dirty="0">
                <a:solidFill>
                  <a:srgbClr val="A7F3D0"/>
                </a:solidFill>
                <a:latin typeface="Courier New" pitchFamily="34" charset="0"/>
                <a:ea typeface="Courier New" pitchFamily="34" charset="-122"/>
                <a:cs typeface="Courier New" pitchFamily="34" charset="-120"/>
              </a:rPr>
              <a:t>"Status"</a:t>
            </a:r>
            <a:pPr indent="0" marL="0">
              <a:lnSpc>
                <a:spcPct val="118000"/>
              </a:lnSpc>
              <a:buNone/>
            </a:pPr>
            <a:r>
              <a:rPr lang="en-US" sz="1450" dirty="0">
                <a:solidFill>
                  <a:srgbClr val="ECEFF4"/>
                </a:solidFill>
                <a:latin typeface="Courier New" pitchFamily="34" charset="0"/>
                <a:ea typeface="Courier New" pitchFamily="34" charset="-122"/>
                <a:cs typeface="Courier New" pitchFamily="34" charset="-120"/>
              </a:rPr>
              <a:t>) == </a:t>
            </a:r>
            <a:pPr indent="0" marL="0">
              <a:lnSpc>
                <a:spcPct val="118000"/>
              </a:lnSpc>
              <a:buNone/>
            </a:pPr>
            <a:r>
              <a:rPr lang="en-US" sz="1450" dirty="0">
                <a:solidFill>
                  <a:srgbClr val="A7F3D0"/>
                </a:solidFill>
                <a:latin typeface="Courier New" pitchFamily="34" charset="0"/>
                <a:ea typeface="Courier New" pitchFamily="34" charset="-122"/>
                <a:cs typeface="Courier New" pitchFamily="34" charset="-120"/>
              </a:rPr>
              <a:t>"Enabled"</a:t>
            </a:r>
            <a:pPr indent="0" marL="0">
              <a:lnSpc>
                <a:spcPct val="118000"/>
              </a:lnSpc>
              <a:buNone/>
            </a:pPr>
            <a:r>
              <a:rPr lang="en-US" sz="1450" dirty="0">
                <a:solidFill>
                  <a:srgbClr val="ECEFF4"/>
                </a:solidFill>
                <a:latin typeface="Courier New" pitchFamily="34" charset="0"/>
                <a:ea typeface="Courier New" pitchFamily="34" charset="-122"/>
                <a:cs typeface="Courier New" pitchFamily="34" charset="-120"/>
              </a:rPr>
              <a:t>:</a:t>
            </a:r>
            <a:endParaRPr lang="en-US" sz="1450" dirty="0"/>
          </a:p>
          <a:p>
            <a:pPr indent="0" marL="0">
              <a:lnSpc>
                <a:spcPct val="118000"/>
              </a:lnSpc>
              <a:buNone/>
            </a:pPr>
            <a:r>
              <a:rPr lang="en-US" sz="1450" dirty="0">
                <a:solidFill>
                  <a:srgbClr val="ECEFF4"/>
                </a:solidFill>
                <a:latin typeface="Courier New" pitchFamily="34" charset="0"/>
                <a:ea typeface="Courier New" pitchFamily="34" charset="-122"/>
                <a:cs typeface="Courier New" pitchFamily="34" charset="-120"/>
              </a:rPr>
              <a:t>        return None              </a:t>
            </a:r>
            <a:pPr indent="0" marL="0">
              <a:lnSpc>
                <a:spcPct val="118000"/>
              </a:lnSpc>
              <a:buNone/>
            </a:pPr>
            <a:r>
              <a:rPr lang="en-US" sz="1450" dirty="0">
                <a:solidFill>
                  <a:srgbClr val="7DD3FC"/>
                </a:solidFill>
                <a:latin typeface="Courier New" pitchFamily="34" charset="0"/>
                <a:ea typeface="Courier New" pitchFamily="34" charset="-122"/>
                <a:cs typeface="Courier New" pitchFamily="34" charset="-120"/>
              </a:rPr>
              <a:t># all good</a:t>
            </a:r>
            <a:endParaRPr lang="en-US" sz="1450" dirty="0"/>
          </a:p>
          <a:p>
            <a:pPr indent="0" marL="0">
              <a:lnSpc>
                <a:spcPct val="118000"/>
              </a:lnSpc>
              <a:buNone/>
            </a:pPr>
            <a:r>
              <a:rPr lang="en-US" sz="1450" dirty="0">
                <a:solidFill>
                  <a:srgbClr val="C792EA"/>
                </a:solidFill>
                <a:latin typeface="Courier New" pitchFamily="34" charset="0"/>
                <a:ea typeface="Courier New" pitchFamily="34" charset="-122"/>
                <a:cs typeface="Courier New" pitchFamily="34" charset="-120"/>
              </a:rPr>
              <a:t>    return </a:t>
            </a:r>
            <a:pPr indent="0" marL="0">
              <a:lnSpc>
                <a:spcPct val="118000"/>
              </a:lnSpc>
              <a:buNone/>
            </a:pPr>
            <a:r>
              <a:rPr lang="en-US" sz="1450" dirty="0">
                <a:solidFill>
                  <a:srgbClr val="ECEFF4"/>
                </a:solidFill>
                <a:latin typeface="Courier New" pitchFamily="34" charset="0"/>
                <a:ea typeface="Courier New" pitchFamily="34" charset="-122"/>
                <a:cs typeface="Courier New" pitchFamily="34" charset="-120"/>
              </a:rPr>
              <a:t>Finding(</a:t>
            </a:r>
            <a:endParaRPr lang="en-US" sz="1450" dirty="0"/>
          </a:p>
          <a:p>
            <a:pPr indent="0" marL="0">
              <a:lnSpc>
                <a:spcPct val="118000"/>
              </a:lnSpc>
              <a:buNone/>
            </a:pPr>
            <a:r>
              <a:rPr lang="en-US" sz="1450" dirty="0">
                <a:solidFill>
                  <a:srgbClr val="ECEFF4"/>
                </a:solidFill>
                <a:latin typeface="Courier New" pitchFamily="34" charset="0"/>
                <a:ea typeface="Courier New" pitchFamily="34" charset="-122"/>
                <a:cs typeface="Courier New" pitchFamily="34" charset="-120"/>
              </a:rPr>
              <a:t>        bucket=bucket, check=</a:t>
            </a:r>
            <a:pPr indent="0" marL="0">
              <a:lnSpc>
                <a:spcPct val="118000"/>
              </a:lnSpc>
              <a:buNone/>
            </a:pPr>
            <a:r>
              <a:rPr lang="en-US" sz="1450" dirty="0">
                <a:solidFill>
                  <a:srgbClr val="A7F3D0"/>
                </a:solidFill>
                <a:latin typeface="Courier New" pitchFamily="34" charset="0"/>
                <a:ea typeface="Courier New" pitchFamily="34" charset="-122"/>
                <a:cs typeface="Courier New" pitchFamily="34" charset="-120"/>
              </a:rPr>
              <a:t>"versioning"</a:t>
            </a:r>
            <a:pPr indent="0" marL="0">
              <a:lnSpc>
                <a:spcPct val="118000"/>
              </a:lnSpc>
              <a:buNone/>
            </a:pPr>
            <a:r>
              <a:rPr lang="en-US" sz="1450" dirty="0">
                <a:solidFill>
                  <a:srgbClr val="ECEFF4"/>
                </a:solidFill>
                <a:latin typeface="Courier New" pitchFamily="34" charset="0"/>
                <a:ea typeface="Courier New" pitchFamily="34" charset="-122"/>
                <a:cs typeface="Courier New" pitchFamily="34" charset="-120"/>
              </a:rPr>
              <a:t>, severity=</a:t>
            </a:r>
            <a:pPr indent="0" marL="0">
              <a:lnSpc>
                <a:spcPct val="118000"/>
              </a:lnSpc>
              <a:buNone/>
            </a:pPr>
            <a:r>
              <a:rPr lang="en-US" sz="1450" dirty="0">
                <a:solidFill>
                  <a:srgbClr val="A7F3D0"/>
                </a:solidFill>
                <a:latin typeface="Courier New" pitchFamily="34" charset="0"/>
                <a:ea typeface="Courier New" pitchFamily="34" charset="-122"/>
                <a:cs typeface="Courier New" pitchFamily="34" charset="-120"/>
              </a:rPr>
              <a:t>"MEDIUM"</a:t>
            </a:r>
            <a:pPr indent="0" marL="0">
              <a:lnSpc>
                <a:spcPct val="118000"/>
              </a:lnSpc>
              <a:buNone/>
            </a:pPr>
            <a:r>
              <a:rPr lang="en-US" sz="1450" dirty="0">
                <a:solidFill>
                  <a:srgbClr val="ECEFF4"/>
                </a:solidFill>
                <a:latin typeface="Courier New" pitchFamily="34" charset="0"/>
                <a:ea typeface="Courier New" pitchFamily="34" charset="-122"/>
                <a:cs typeface="Courier New" pitchFamily="34" charset="-120"/>
              </a:rPr>
              <a:t>,</a:t>
            </a:r>
            <a:endParaRPr lang="en-US" sz="1450" dirty="0"/>
          </a:p>
          <a:p>
            <a:pPr indent="0" marL="0">
              <a:lnSpc>
                <a:spcPct val="118000"/>
              </a:lnSpc>
              <a:buNone/>
            </a:pPr>
            <a:r>
              <a:rPr lang="en-US" sz="1450" dirty="0">
                <a:solidFill>
                  <a:srgbClr val="ECEFF4"/>
                </a:solidFill>
                <a:latin typeface="Courier New" pitchFamily="34" charset="0"/>
                <a:ea typeface="Courier New" pitchFamily="34" charset="-122"/>
                <a:cs typeface="Courier New" pitchFamily="34" charset="-120"/>
              </a:rPr>
              <a:t>        message=</a:t>
            </a:r>
            <a:pPr indent="0" marL="0">
              <a:lnSpc>
                <a:spcPct val="118000"/>
              </a:lnSpc>
              <a:buNone/>
            </a:pPr>
            <a:r>
              <a:rPr lang="en-US" sz="1450" dirty="0">
                <a:solidFill>
                  <a:srgbClr val="A7F3D0"/>
                </a:solidFill>
                <a:latin typeface="Courier New" pitchFamily="34" charset="0"/>
                <a:ea typeface="Courier New" pitchFamily="34" charset="-122"/>
                <a:cs typeface="Courier New" pitchFamily="34" charset="-120"/>
              </a:rPr>
              <a:t>"Versioning is not enabled."</a:t>
            </a:r>
            <a:pPr indent="0" marL="0">
              <a:lnSpc>
                <a:spcPct val="118000"/>
              </a:lnSpc>
              <a:buNone/>
            </a:pPr>
            <a:r>
              <a:rPr lang="en-US" sz="1450" dirty="0">
                <a:solidFill>
                  <a:srgbClr val="ECEFF4"/>
                </a:solidFill>
                <a:latin typeface="Courier New" pitchFamily="34" charset="0"/>
                <a:ea typeface="Courier New" pitchFamily="34" charset="-122"/>
                <a:cs typeface="Courier New" pitchFamily="34" charset="-120"/>
              </a:rPr>
              <a:t>, ...)</a:t>
            </a:r>
            <a:endParaRPr lang="en-US" sz="1450" dirty="0"/>
          </a:p>
        </p:txBody>
      </p:sp>
      <p:sp>
        <p:nvSpPr>
          <p:cNvPr id="6" name="Text 4"/>
          <p:cNvSpPr/>
          <p:nvPr/>
        </p:nvSpPr>
        <p:spPr>
          <a:xfrm>
            <a:off x="548640" y="5257800"/>
            <a:ext cx="11064240" cy="548640"/>
          </a:xfrm>
          <a:prstGeom prst="rect">
            <a:avLst/>
          </a:prstGeom>
          <a:noFill/>
          <a:ln/>
        </p:spPr>
        <p:txBody>
          <a:bodyPr wrap="square" lIns="0" tIns="0" rIns="0" bIns="0" rtlCol="0" anchor="ctr"/>
          <a:lstStyle/>
          <a:p>
            <a:pPr algn="ctr" indent="0" marL="0">
              <a:buNone/>
            </a:pPr>
            <a:r>
              <a:rPr lang="en-US" sz="1500" i="1" dirty="0">
                <a:solidFill>
                  <a:srgbClr val="16233A"/>
                </a:solidFill>
                <a:latin typeface="Calibri" pitchFamily="34" charset="0"/>
                <a:ea typeface="Calibri" pitchFamily="34" charset="-122"/>
                <a:cs typeface="Calibri" pitchFamily="34" charset="-120"/>
              </a:rPr>
              <a:t>Ask AWS a question. If the answer is safe, return nothing. Otherwise, describe the problem. That's it.</a:t>
            </a:r>
            <a:endParaRPr lang="en-US" sz="1500" dirty="0"/>
          </a:p>
        </p:txBody>
      </p:sp>
      <p:sp>
        <p:nvSpPr>
          <p:cNvPr id="8" name="Text 5"/>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From User to Creator  •  Cloud Webinar</a:t>
            </a:r>
            <a:endParaRPr lang="en-US" sz="900" dirty="0"/>
          </a:p>
        </p:txBody>
      </p:sp>
      <p:sp>
        <p:nvSpPr>
          <p:cNvPr id="9" name="Text 6"/>
          <p:cNvSpPr/>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320040"/>
          </a:xfrm>
          <a:prstGeom prst="rect">
            <a:avLst/>
          </a:prstGeom>
          <a:noFill/>
          <a:ln/>
        </p:spPr>
        <p:txBody>
          <a:bodyPr wrap="square" lIns="0" tIns="0" rIns="0" bIns="0" rtlCol="0" anchor="ctr"/>
          <a:lstStyle/>
          <a:p>
            <a:pPr indent="0" marL="0">
              <a:buNone/>
            </a:pPr>
            <a:r>
              <a:rPr lang="en-US" sz="1300" b="1" spc="200" kern="0" dirty="0">
                <a:solidFill>
                  <a:srgbClr val="0D9488"/>
                </a:solidFill>
                <a:latin typeface="Calibri" pitchFamily="34" charset="0"/>
                <a:ea typeface="Calibri" pitchFamily="34" charset="-122"/>
                <a:cs typeface="Calibri" pitchFamily="34" charset="-120"/>
              </a:rPr>
              <a:t>SET THE STAGE</a:t>
            </a:r>
            <a:endParaRPr lang="en-US" sz="1300" dirty="0"/>
          </a:p>
        </p:txBody>
      </p:sp>
      <p:sp>
        <p:nvSpPr>
          <p:cNvPr id="3" name="Text 1"/>
          <p:cNvSpPr/>
          <p:nvPr/>
        </p:nvSpPr>
        <p:spPr>
          <a:xfrm>
            <a:off x="548640" y="713232"/>
            <a:ext cx="11064240" cy="868680"/>
          </a:xfrm>
          <a:prstGeom prst="rect">
            <a:avLst/>
          </a:prstGeom>
          <a:noFill/>
          <a:ln/>
        </p:spPr>
        <p:txBody>
          <a:bodyPr wrap="square" lIns="0" tIns="0" rIns="0" bIns="0" rtlCol="0" anchor="ctr"/>
          <a:lstStyle/>
          <a:p>
            <a:pPr indent="0" marL="0">
              <a:buNone/>
            </a:pPr>
            <a:r>
              <a:rPr lang="en-US" sz="3100" b="1" dirty="0">
                <a:solidFill>
                  <a:srgbClr val="16233A"/>
                </a:solidFill>
                <a:latin typeface="Calibri" pitchFamily="34" charset="0"/>
                <a:ea typeface="Calibri" pitchFamily="34" charset="-122"/>
                <a:cs typeface="Calibri" pitchFamily="34" charset="-120"/>
              </a:rPr>
              <a:t>Three buckets, on purpose</a:t>
            </a:r>
            <a:endParaRPr lang="en-US" sz="3100" dirty="0"/>
          </a:p>
        </p:txBody>
      </p:sp>
      <p:sp>
        <p:nvSpPr>
          <p:cNvPr id="4" name="Shape 2"/>
          <p:cNvSpPr/>
          <p:nvPr/>
        </p:nvSpPr>
        <p:spPr>
          <a:xfrm>
            <a:off x="548640" y="2011680"/>
            <a:ext cx="3566160" cy="3200400"/>
          </a:xfrm>
          <a:prstGeom prst="roundRect">
            <a:avLst>
              <a:gd name="adj" fmla="val 2571"/>
            </a:avLst>
          </a:prstGeom>
          <a:solidFill>
            <a:srgbClr val="F1F5F9"/>
          </a:solidFill>
          <a:ln/>
          <a:effectLst>
            <a:outerShdw sx="100000" sy="100000" kx="0" ky="0" algn="bl" rotWithShape="0" blurRad="114300" dist="38100" dir="5400000">
              <a:srgbClr val="0A1F3C">
                <a:alpha val="16000"/>
              </a:srgbClr>
            </a:outerShdw>
          </a:effectLst>
        </p:spPr>
      </p:sp>
      <p:sp>
        <p:nvSpPr>
          <p:cNvPr id="5" name="Text 3"/>
          <p:cNvSpPr/>
          <p:nvPr/>
        </p:nvSpPr>
        <p:spPr>
          <a:xfrm>
            <a:off x="822960" y="2331720"/>
            <a:ext cx="3017520" cy="365760"/>
          </a:xfrm>
          <a:prstGeom prst="rect">
            <a:avLst/>
          </a:prstGeom>
          <a:noFill/>
          <a:ln/>
        </p:spPr>
        <p:txBody>
          <a:bodyPr wrap="square" lIns="0" tIns="0" rIns="0" bIns="0" rtlCol="0" anchor="ctr"/>
          <a:lstStyle/>
          <a:p>
            <a:pPr indent="0" marL="0">
              <a:buNone/>
            </a:pPr>
            <a:r>
              <a:rPr lang="en-US" sz="1200" b="1" spc="100" kern="0" dirty="0">
                <a:solidFill>
                  <a:srgbClr val="E11D48"/>
                </a:solidFill>
                <a:latin typeface="Calibri" pitchFamily="34" charset="0"/>
                <a:ea typeface="Calibri" pitchFamily="34" charset="-122"/>
                <a:cs typeface="Calibri" pitchFamily="34" charset="-120"/>
              </a:rPr>
              <a:t>WIDE OPEN</a:t>
            </a:r>
            <a:endParaRPr lang="en-US" sz="1200" dirty="0"/>
          </a:p>
        </p:txBody>
      </p:sp>
      <p:sp>
        <p:nvSpPr>
          <p:cNvPr id="6" name="Text 4"/>
          <p:cNvSpPr/>
          <p:nvPr/>
        </p:nvSpPr>
        <p:spPr>
          <a:xfrm>
            <a:off x="822960" y="2743200"/>
            <a:ext cx="3017520" cy="822960"/>
          </a:xfrm>
          <a:prstGeom prst="rect">
            <a:avLst/>
          </a:prstGeom>
          <a:noFill/>
          <a:ln/>
        </p:spPr>
        <p:txBody>
          <a:bodyPr wrap="square" lIns="0" tIns="0" rIns="0" bIns="0" rtlCol="0" anchor="ctr"/>
          <a:lstStyle/>
          <a:p>
            <a:pPr indent="0" marL="0">
              <a:buNone/>
            </a:pPr>
            <a:r>
              <a:rPr lang="en-US" sz="1550" b="1" dirty="0">
                <a:solidFill>
                  <a:srgbClr val="16233A"/>
                </a:solidFill>
                <a:latin typeface="Courier New" pitchFamily="34" charset="0"/>
                <a:ea typeface="Courier New" pitchFamily="34" charset="-122"/>
                <a:cs typeface="Courier New" pitchFamily="34" charset="-120"/>
              </a:rPr>
              <a:t>tek-public-data</a:t>
            </a:r>
            <a:endParaRPr lang="en-US" sz="1550" dirty="0"/>
          </a:p>
        </p:txBody>
      </p:sp>
      <p:sp>
        <p:nvSpPr>
          <p:cNvPr id="7" name="Text 5"/>
          <p:cNvSpPr/>
          <p:nvPr/>
        </p:nvSpPr>
        <p:spPr>
          <a:xfrm>
            <a:off x="822960" y="3703320"/>
            <a:ext cx="3017520" cy="1280160"/>
          </a:xfrm>
          <a:prstGeom prst="rect">
            <a:avLst/>
          </a:prstGeom>
          <a:noFill/>
          <a:ln/>
        </p:spPr>
        <p:txBody>
          <a:bodyPr wrap="square" lIns="0" tIns="0" rIns="0" bIns="0" rtlCol="0" anchor="ctr"/>
          <a:lstStyle/>
          <a:p>
            <a:pPr indent="0" marL="0">
              <a:buNone/>
            </a:pPr>
            <a:r>
              <a:rPr lang="en-US" sz="1350" dirty="0">
                <a:solidFill>
                  <a:srgbClr val="334155"/>
                </a:solidFill>
                <a:latin typeface="Calibri" pitchFamily="34" charset="0"/>
                <a:ea typeface="Calibri" pitchFamily="34" charset="-122"/>
                <a:cs typeface="Calibri" pitchFamily="34" charset="-120"/>
              </a:rPr>
              <a:t>Nothing configured — every check should fire.</a:t>
            </a:r>
            <a:endParaRPr lang="en-US" sz="1350" dirty="0"/>
          </a:p>
        </p:txBody>
      </p:sp>
      <p:sp>
        <p:nvSpPr>
          <p:cNvPr id="8" name="Shape 6"/>
          <p:cNvSpPr/>
          <p:nvPr/>
        </p:nvSpPr>
        <p:spPr>
          <a:xfrm>
            <a:off x="4389120" y="2011680"/>
            <a:ext cx="3566160" cy="3200400"/>
          </a:xfrm>
          <a:prstGeom prst="roundRect">
            <a:avLst>
              <a:gd name="adj" fmla="val 2571"/>
            </a:avLst>
          </a:prstGeom>
          <a:solidFill>
            <a:srgbClr val="F1F5F9"/>
          </a:solidFill>
          <a:ln/>
          <a:effectLst>
            <a:outerShdw sx="100000" sy="100000" kx="0" ky="0" algn="bl" rotWithShape="0" blurRad="114300" dist="38100" dir="5400000">
              <a:srgbClr val="0A1F3C">
                <a:alpha val="16000"/>
              </a:srgbClr>
            </a:outerShdw>
          </a:effectLst>
        </p:spPr>
      </p:sp>
      <p:sp>
        <p:nvSpPr>
          <p:cNvPr id="9" name="Text 7"/>
          <p:cNvSpPr/>
          <p:nvPr/>
        </p:nvSpPr>
        <p:spPr>
          <a:xfrm>
            <a:off x="4663440" y="2331720"/>
            <a:ext cx="3017520" cy="365760"/>
          </a:xfrm>
          <a:prstGeom prst="rect">
            <a:avLst/>
          </a:prstGeom>
          <a:noFill/>
          <a:ln/>
        </p:spPr>
        <p:txBody>
          <a:bodyPr wrap="square" lIns="0" tIns="0" rIns="0" bIns="0" rtlCol="0" anchor="ctr"/>
          <a:lstStyle/>
          <a:p>
            <a:pPr indent="0" marL="0">
              <a:buNone/>
            </a:pPr>
            <a:r>
              <a:rPr lang="en-US" sz="1200" b="1" spc="100" kern="0" dirty="0">
                <a:solidFill>
                  <a:srgbClr val="F59E0B"/>
                </a:solidFill>
                <a:latin typeface="Calibri" pitchFamily="34" charset="0"/>
                <a:ea typeface="Calibri" pitchFamily="34" charset="-122"/>
                <a:cs typeface="Calibri" pitchFamily="34" charset="-120"/>
              </a:rPr>
              <a:t>HALF-DONE</a:t>
            </a:r>
            <a:endParaRPr lang="en-US" sz="1200" dirty="0"/>
          </a:p>
        </p:txBody>
      </p:sp>
      <p:sp>
        <p:nvSpPr>
          <p:cNvPr id="10" name="Text 8"/>
          <p:cNvSpPr/>
          <p:nvPr/>
        </p:nvSpPr>
        <p:spPr>
          <a:xfrm>
            <a:off x="4663440" y="2743200"/>
            <a:ext cx="3017520" cy="822960"/>
          </a:xfrm>
          <a:prstGeom prst="rect">
            <a:avLst/>
          </a:prstGeom>
          <a:noFill/>
          <a:ln/>
        </p:spPr>
        <p:txBody>
          <a:bodyPr wrap="square" lIns="0" tIns="0" rIns="0" bIns="0" rtlCol="0" anchor="ctr"/>
          <a:lstStyle/>
          <a:p>
            <a:pPr indent="0" marL="0">
              <a:buNone/>
            </a:pPr>
            <a:r>
              <a:rPr lang="en-US" sz="1550" b="1" dirty="0">
                <a:solidFill>
                  <a:srgbClr val="16233A"/>
                </a:solidFill>
                <a:latin typeface="Courier New" pitchFamily="34" charset="0"/>
                <a:ea typeface="Courier New" pitchFamily="34" charset="-122"/>
                <a:cs typeface="Courier New" pitchFamily="34" charset="-120"/>
              </a:rPr>
              <a:t>tek-logs-unsafe</a:t>
            </a:r>
            <a:endParaRPr lang="en-US" sz="1550" dirty="0"/>
          </a:p>
        </p:txBody>
      </p:sp>
      <p:sp>
        <p:nvSpPr>
          <p:cNvPr id="11" name="Text 9"/>
          <p:cNvSpPr/>
          <p:nvPr/>
        </p:nvSpPr>
        <p:spPr>
          <a:xfrm>
            <a:off x="4663440" y="3703320"/>
            <a:ext cx="3017520" cy="1280160"/>
          </a:xfrm>
          <a:prstGeom prst="rect">
            <a:avLst/>
          </a:prstGeom>
          <a:noFill/>
          <a:ln/>
        </p:spPr>
        <p:txBody>
          <a:bodyPr wrap="square" lIns="0" tIns="0" rIns="0" bIns="0" rtlCol="0" anchor="ctr"/>
          <a:lstStyle/>
          <a:p>
            <a:pPr indent="0" marL="0">
              <a:buNone/>
            </a:pPr>
            <a:r>
              <a:rPr lang="en-US" sz="1350" dirty="0">
                <a:solidFill>
                  <a:srgbClr val="334155"/>
                </a:solidFill>
                <a:latin typeface="Calibri" pitchFamily="34" charset="0"/>
                <a:ea typeface="Calibri" pitchFamily="34" charset="-122"/>
                <a:cs typeface="Calibri" pitchFamily="34" charset="-120"/>
              </a:rPr>
              <a:t>Encrypted &amp; locked, but no versioning or logging.</a:t>
            </a:r>
            <a:endParaRPr lang="en-US" sz="1350" dirty="0"/>
          </a:p>
        </p:txBody>
      </p:sp>
      <p:sp>
        <p:nvSpPr>
          <p:cNvPr id="12" name="Shape 10"/>
          <p:cNvSpPr/>
          <p:nvPr/>
        </p:nvSpPr>
        <p:spPr>
          <a:xfrm>
            <a:off x="8229600" y="2011680"/>
            <a:ext cx="3566160" cy="3200400"/>
          </a:xfrm>
          <a:prstGeom prst="roundRect">
            <a:avLst>
              <a:gd name="adj" fmla="val 2571"/>
            </a:avLst>
          </a:prstGeom>
          <a:solidFill>
            <a:srgbClr val="F1F5F9"/>
          </a:solidFill>
          <a:ln/>
          <a:effectLst>
            <a:outerShdw sx="100000" sy="100000" kx="0" ky="0" algn="bl" rotWithShape="0" blurRad="114300" dist="38100" dir="5400000">
              <a:srgbClr val="0A1F3C">
                <a:alpha val="16000"/>
              </a:srgbClr>
            </a:outerShdw>
          </a:effectLst>
        </p:spPr>
      </p:sp>
      <p:sp>
        <p:nvSpPr>
          <p:cNvPr id="13" name="Text 11"/>
          <p:cNvSpPr/>
          <p:nvPr/>
        </p:nvSpPr>
        <p:spPr>
          <a:xfrm>
            <a:off x="8503920" y="2331720"/>
            <a:ext cx="3017520" cy="365760"/>
          </a:xfrm>
          <a:prstGeom prst="rect">
            <a:avLst/>
          </a:prstGeom>
          <a:noFill/>
          <a:ln/>
        </p:spPr>
        <p:txBody>
          <a:bodyPr wrap="square" lIns="0" tIns="0" rIns="0" bIns="0" rtlCol="0" anchor="ctr"/>
          <a:lstStyle/>
          <a:p>
            <a:pPr indent="0" marL="0">
              <a:buNone/>
            </a:pPr>
            <a:r>
              <a:rPr lang="en-US" sz="1200" b="1" spc="100" kern="0" dirty="0">
                <a:solidFill>
                  <a:srgbClr val="0D9488"/>
                </a:solidFill>
                <a:latin typeface="Calibri" pitchFamily="34" charset="0"/>
                <a:ea typeface="Calibri" pitchFamily="34" charset="-122"/>
                <a:cs typeface="Calibri" pitchFamily="34" charset="-120"/>
              </a:rPr>
              <a:t>GOLD STANDARD</a:t>
            </a:r>
            <a:endParaRPr lang="en-US" sz="1200" dirty="0"/>
          </a:p>
        </p:txBody>
      </p:sp>
      <p:sp>
        <p:nvSpPr>
          <p:cNvPr id="14" name="Text 12"/>
          <p:cNvSpPr/>
          <p:nvPr/>
        </p:nvSpPr>
        <p:spPr>
          <a:xfrm>
            <a:off x="8503920" y="2743200"/>
            <a:ext cx="3017520" cy="822960"/>
          </a:xfrm>
          <a:prstGeom prst="rect">
            <a:avLst/>
          </a:prstGeom>
          <a:noFill/>
          <a:ln/>
        </p:spPr>
        <p:txBody>
          <a:bodyPr wrap="square" lIns="0" tIns="0" rIns="0" bIns="0" rtlCol="0" anchor="ctr"/>
          <a:lstStyle/>
          <a:p>
            <a:pPr indent="0" marL="0">
              <a:buNone/>
            </a:pPr>
            <a:r>
              <a:rPr lang="en-US" sz="1550" b="1" dirty="0">
                <a:solidFill>
                  <a:srgbClr val="16233A"/>
                </a:solidFill>
                <a:latin typeface="Courier New" pitchFamily="34" charset="0"/>
                <a:ea typeface="Courier New" pitchFamily="34" charset="-122"/>
                <a:cs typeface="Courier New" pitchFamily="34" charset="-120"/>
              </a:rPr>
              <a:t>tek-secure-backups</a:t>
            </a:r>
            <a:endParaRPr lang="en-US" sz="1550" dirty="0"/>
          </a:p>
        </p:txBody>
      </p:sp>
      <p:sp>
        <p:nvSpPr>
          <p:cNvPr id="15" name="Text 13"/>
          <p:cNvSpPr/>
          <p:nvPr/>
        </p:nvSpPr>
        <p:spPr>
          <a:xfrm>
            <a:off x="8503920" y="3703320"/>
            <a:ext cx="3017520" cy="1280160"/>
          </a:xfrm>
          <a:prstGeom prst="rect">
            <a:avLst/>
          </a:prstGeom>
          <a:noFill/>
          <a:ln/>
        </p:spPr>
        <p:txBody>
          <a:bodyPr wrap="square" lIns="0" tIns="0" rIns="0" bIns="0" rtlCol="0" anchor="ctr"/>
          <a:lstStyle/>
          <a:p>
            <a:pPr indent="0" marL="0">
              <a:buNone/>
            </a:pPr>
            <a:r>
              <a:rPr lang="en-US" sz="1350" dirty="0">
                <a:solidFill>
                  <a:srgbClr val="334155"/>
                </a:solidFill>
                <a:latin typeface="Calibri" pitchFamily="34" charset="0"/>
                <a:ea typeface="Calibri" pitchFamily="34" charset="-122"/>
                <a:cs typeface="Calibri" pitchFamily="34" charset="-120"/>
              </a:rPr>
              <a:t>Locked down on all four — should be clean.</a:t>
            </a:r>
            <a:endParaRPr lang="en-US" sz="1350" dirty="0"/>
          </a:p>
        </p:txBody>
      </p:sp>
      <p:sp>
        <p:nvSpPr>
          <p:cNvPr id="17" name="Text 14"/>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From User to Creator  •  Cloud Webinar</a:t>
            </a:r>
            <a:endParaRPr lang="en-US" sz="900" dirty="0"/>
          </a:p>
        </p:txBody>
      </p:sp>
      <p:sp>
        <p:nvSpPr>
          <p:cNvPr id="18" name="Text 15"/>
          <p:cNvSpPr/>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320040"/>
          </a:xfrm>
          <a:prstGeom prst="rect">
            <a:avLst/>
          </a:prstGeom>
          <a:noFill/>
          <a:ln/>
        </p:spPr>
        <p:txBody>
          <a:bodyPr wrap="square" lIns="0" tIns="0" rIns="0" bIns="0" rtlCol="0" anchor="ctr"/>
          <a:lstStyle/>
          <a:p>
            <a:pPr indent="0" marL="0">
              <a:buNone/>
            </a:pPr>
            <a:r>
              <a:rPr lang="en-US" sz="1300" b="1" spc="200" kern="0" dirty="0">
                <a:solidFill>
                  <a:srgbClr val="0D9488"/>
                </a:solidFill>
                <a:latin typeface="Calibri" pitchFamily="34" charset="0"/>
                <a:ea typeface="Calibri" pitchFamily="34" charset="-122"/>
                <a:cs typeface="Calibri" pitchFamily="34" charset="-120"/>
              </a:rPr>
              <a:t>THE PAYOFF</a:t>
            </a:r>
            <a:endParaRPr lang="en-US" sz="1300" dirty="0"/>
          </a:p>
        </p:txBody>
      </p:sp>
      <p:sp>
        <p:nvSpPr>
          <p:cNvPr id="3" name="Text 1"/>
          <p:cNvSpPr/>
          <p:nvPr/>
        </p:nvSpPr>
        <p:spPr>
          <a:xfrm>
            <a:off x="548640" y="713232"/>
            <a:ext cx="11064240" cy="868680"/>
          </a:xfrm>
          <a:prstGeom prst="rect">
            <a:avLst/>
          </a:prstGeom>
          <a:noFill/>
          <a:ln/>
        </p:spPr>
        <p:txBody>
          <a:bodyPr wrap="square" lIns="0" tIns="0" rIns="0" bIns="0" rtlCol="0" anchor="ctr"/>
          <a:lstStyle/>
          <a:p>
            <a:pPr indent="0" marL="0">
              <a:buNone/>
            </a:pPr>
            <a:r>
              <a:rPr lang="en-US" sz="3100" b="1" dirty="0">
                <a:solidFill>
                  <a:srgbClr val="16233A"/>
                </a:solidFill>
                <a:latin typeface="Calibri" pitchFamily="34" charset="0"/>
                <a:ea typeface="Calibri" pitchFamily="34" charset="-122"/>
                <a:cs typeface="Calibri" pitchFamily="34" charset="-120"/>
              </a:rPr>
              <a:t>s3-guard catches them all</a:t>
            </a:r>
            <a:endParaRPr lang="en-US" sz="3100" dirty="0"/>
          </a:p>
        </p:txBody>
      </p:sp>
      <p:sp>
        <p:nvSpPr>
          <p:cNvPr id="4" name="Shape 2"/>
          <p:cNvSpPr/>
          <p:nvPr/>
        </p:nvSpPr>
        <p:spPr>
          <a:xfrm>
            <a:off x="548640" y="1737360"/>
            <a:ext cx="11064240" cy="3703320"/>
          </a:xfrm>
          <a:prstGeom prst="roundRect">
            <a:avLst>
              <a:gd name="adj" fmla="val 2222"/>
            </a:avLst>
          </a:prstGeom>
          <a:solidFill>
            <a:srgbClr val="0F2747"/>
          </a:solidFill>
          <a:ln/>
          <a:effectLst>
            <a:outerShdw sx="100000" sy="100000" kx="0" ky="0" algn="bl" rotWithShape="0" blurRad="114300" dist="38100" dir="5400000">
              <a:srgbClr val="0A1F3C">
                <a:alpha val="16000"/>
              </a:srgbClr>
            </a:outerShdw>
          </a:effectLst>
        </p:spPr>
      </p:sp>
      <p:sp>
        <p:nvSpPr>
          <p:cNvPr id="5" name="Text 3"/>
          <p:cNvSpPr/>
          <p:nvPr/>
        </p:nvSpPr>
        <p:spPr>
          <a:xfrm>
            <a:off x="868680" y="1920240"/>
            <a:ext cx="10424160" cy="365760"/>
          </a:xfrm>
          <a:prstGeom prst="rect">
            <a:avLst/>
          </a:prstGeom>
          <a:noFill/>
          <a:ln/>
        </p:spPr>
        <p:txBody>
          <a:bodyPr wrap="square" lIns="0" tIns="0" rIns="0" bIns="0" rtlCol="0" anchor="ctr"/>
          <a:lstStyle/>
          <a:p>
            <a:pPr indent="0" marL="0">
              <a:buNone/>
            </a:pPr>
            <a:r>
              <a:rPr lang="en-US" sz="1300" dirty="0">
                <a:solidFill>
                  <a:srgbClr val="7DD3FC"/>
                </a:solidFill>
                <a:latin typeface="Courier New" pitchFamily="34" charset="0"/>
                <a:ea typeface="Courier New" pitchFamily="34" charset="-122"/>
                <a:cs typeface="Courier New" pitchFamily="34" charset="-120"/>
              </a:rPr>
              <a:t>$ s3-guard scan --endpoint-url http://localhost:5000</a:t>
            </a:r>
            <a:endParaRPr lang="en-US" sz="1300" dirty="0"/>
          </a:p>
        </p:txBody>
      </p:sp>
      <p:sp>
        <p:nvSpPr>
          <p:cNvPr id="6" name="Text 4"/>
          <p:cNvSpPr/>
          <p:nvPr/>
        </p:nvSpPr>
        <p:spPr>
          <a:xfrm>
            <a:off x="868680" y="2423160"/>
            <a:ext cx="1143000" cy="329184"/>
          </a:xfrm>
          <a:prstGeom prst="rect">
            <a:avLst/>
          </a:prstGeom>
          <a:solidFill>
            <a:srgbClr val="E11D48"/>
          </a:solidFill>
          <a:ln/>
        </p:spPr>
        <p:txBody>
          <a:bodyPr wrap="square" lIns="0" tIns="0" rIns="0" bIns="0" rtlCol="0" anchor="ct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CRITICAL</a:t>
            </a:r>
            <a:endParaRPr lang="en-US" sz="1050" dirty="0"/>
          </a:p>
        </p:txBody>
      </p:sp>
      <p:sp>
        <p:nvSpPr>
          <p:cNvPr id="7" name="Text 5"/>
          <p:cNvSpPr/>
          <p:nvPr/>
        </p:nvSpPr>
        <p:spPr>
          <a:xfrm>
            <a:off x="2148840" y="2423160"/>
            <a:ext cx="2286000" cy="329184"/>
          </a:xfrm>
          <a:prstGeom prst="rect">
            <a:avLst/>
          </a:prstGeom>
          <a:noFill/>
          <a:ln/>
        </p:spPr>
        <p:txBody>
          <a:bodyPr wrap="square" lIns="0" tIns="0" rIns="0" bIns="0" rtlCol="0" anchor="ctr"/>
          <a:lstStyle/>
          <a:p>
            <a:pPr indent="0" marL="0">
              <a:buNone/>
            </a:pPr>
            <a:r>
              <a:rPr lang="en-US" sz="1150" dirty="0">
                <a:solidFill>
                  <a:srgbClr val="ECEFF4"/>
                </a:solidFill>
                <a:latin typeface="Courier New" pitchFamily="34" charset="0"/>
                <a:ea typeface="Courier New" pitchFamily="34" charset="-122"/>
                <a:cs typeface="Courier New" pitchFamily="34" charset="-120"/>
              </a:rPr>
              <a:t>tek-public-data</a:t>
            </a:r>
            <a:endParaRPr lang="en-US" sz="1150" dirty="0"/>
          </a:p>
        </p:txBody>
      </p:sp>
      <p:sp>
        <p:nvSpPr>
          <p:cNvPr id="8" name="Text 6"/>
          <p:cNvSpPr/>
          <p:nvPr/>
        </p:nvSpPr>
        <p:spPr>
          <a:xfrm>
            <a:off x="4434840" y="2423160"/>
            <a:ext cx="1828800" cy="329184"/>
          </a:xfrm>
          <a:prstGeom prst="rect">
            <a:avLst/>
          </a:prstGeom>
          <a:noFill/>
          <a:ln/>
        </p:spPr>
        <p:txBody>
          <a:bodyPr wrap="square" lIns="0" tIns="0" rIns="0" bIns="0" rtlCol="0" anchor="ctr"/>
          <a:lstStyle/>
          <a:p>
            <a:pPr indent="0" marL="0">
              <a:buNone/>
            </a:pPr>
            <a:r>
              <a:rPr lang="en-US" sz="1150" dirty="0">
                <a:solidFill>
                  <a:srgbClr val="A7F3D0"/>
                </a:solidFill>
                <a:latin typeface="Courier New" pitchFamily="34" charset="0"/>
                <a:ea typeface="Courier New" pitchFamily="34" charset="-122"/>
                <a:cs typeface="Courier New" pitchFamily="34" charset="-120"/>
              </a:rPr>
              <a:t>public-access</a:t>
            </a:r>
            <a:endParaRPr lang="en-US" sz="1150" dirty="0"/>
          </a:p>
        </p:txBody>
      </p:sp>
      <p:sp>
        <p:nvSpPr>
          <p:cNvPr id="9" name="Text 7"/>
          <p:cNvSpPr/>
          <p:nvPr/>
        </p:nvSpPr>
        <p:spPr>
          <a:xfrm>
            <a:off x="6355080" y="2423160"/>
            <a:ext cx="5120640" cy="329184"/>
          </a:xfrm>
          <a:prstGeom prst="rect">
            <a:avLst/>
          </a:prstGeom>
          <a:noFill/>
          <a:ln/>
        </p:spPr>
        <p:txBody>
          <a:bodyPr wrap="square" lIns="0" tIns="0" rIns="0" bIns="0" rtlCol="0" anchor="ctr"/>
          <a:lstStyle/>
          <a:p>
            <a:pPr indent="0" marL="0">
              <a:buNone/>
            </a:pPr>
            <a:r>
              <a:rPr lang="en-US" sz="1100" dirty="0">
                <a:solidFill>
                  <a:srgbClr val="CBD5E1"/>
                </a:solidFill>
                <a:latin typeface="Courier New" pitchFamily="34" charset="0"/>
                <a:ea typeface="Courier New" pitchFamily="34" charset="-122"/>
                <a:cs typeface="Courier New" pitchFamily="34" charset="-120"/>
              </a:rPr>
              <a:t>No Public Access Block - can be exposed publicly</a:t>
            </a:r>
            <a:endParaRPr lang="en-US" sz="1100" dirty="0"/>
          </a:p>
        </p:txBody>
      </p:sp>
      <p:sp>
        <p:nvSpPr>
          <p:cNvPr id="10" name="Text 8"/>
          <p:cNvSpPr/>
          <p:nvPr/>
        </p:nvSpPr>
        <p:spPr>
          <a:xfrm>
            <a:off x="868680" y="2834640"/>
            <a:ext cx="1143000" cy="329184"/>
          </a:xfrm>
          <a:prstGeom prst="rect">
            <a:avLst/>
          </a:prstGeom>
          <a:solidFill>
            <a:srgbClr val="F97316"/>
          </a:solidFill>
          <a:ln/>
        </p:spPr>
        <p:txBody>
          <a:bodyPr wrap="square" lIns="0" tIns="0" rIns="0" bIns="0" rtlCol="0" anchor="ct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HIGH</a:t>
            </a:r>
            <a:endParaRPr lang="en-US" sz="1050" dirty="0"/>
          </a:p>
        </p:txBody>
      </p:sp>
      <p:sp>
        <p:nvSpPr>
          <p:cNvPr id="11" name="Text 9"/>
          <p:cNvSpPr/>
          <p:nvPr/>
        </p:nvSpPr>
        <p:spPr>
          <a:xfrm>
            <a:off x="2148840" y="2834640"/>
            <a:ext cx="2286000" cy="329184"/>
          </a:xfrm>
          <a:prstGeom prst="rect">
            <a:avLst/>
          </a:prstGeom>
          <a:noFill/>
          <a:ln/>
        </p:spPr>
        <p:txBody>
          <a:bodyPr wrap="square" lIns="0" tIns="0" rIns="0" bIns="0" rtlCol="0" anchor="ctr"/>
          <a:lstStyle/>
          <a:p>
            <a:pPr indent="0" marL="0">
              <a:buNone/>
            </a:pPr>
            <a:r>
              <a:rPr lang="en-US" sz="1150" dirty="0">
                <a:solidFill>
                  <a:srgbClr val="ECEFF4"/>
                </a:solidFill>
                <a:latin typeface="Courier New" pitchFamily="34" charset="0"/>
                <a:ea typeface="Courier New" pitchFamily="34" charset="-122"/>
                <a:cs typeface="Courier New" pitchFamily="34" charset="-120"/>
              </a:rPr>
              <a:t>tek-public-data</a:t>
            </a:r>
            <a:endParaRPr lang="en-US" sz="1150" dirty="0"/>
          </a:p>
        </p:txBody>
      </p:sp>
      <p:sp>
        <p:nvSpPr>
          <p:cNvPr id="12" name="Text 10"/>
          <p:cNvSpPr/>
          <p:nvPr/>
        </p:nvSpPr>
        <p:spPr>
          <a:xfrm>
            <a:off x="4434840" y="2834640"/>
            <a:ext cx="1828800" cy="329184"/>
          </a:xfrm>
          <a:prstGeom prst="rect">
            <a:avLst/>
          </a:prstGeom>
          <a:noFill/>
          <a:ln/>
        </p:spPr>
        <p:txBody>
          <a:bodyPr wrap="square" lIns="0" tIns="0" rIns="0" bIns="0" rtlCol="0" anchor="ctr"/>
          <a:lstStyle/>
          <a:p>
            <a:pPr indent="0" marL="0">
              <a:buNone/>
            </a:pPr>
            <a:r>
              <a:rPr lang="en-US" sz="1150" dirty="0">
                <a:solidFill>
                  <a:srgbClr val="A7F3D0"/>
                </a:solidFill>
                <a:latin typeface="Courier New" pitchFamily="34" charset="0"/>
                <a:ea typeface="Courier New" pitchFamily="34" charset="-122"/>
                <a:cs typeface="Courier New" pitchFamily="34" charset="-120"/>
              </a:rPr>
              <a:t>encryption</a:t>
            </a:r>
            <a:endParaRPr lang="en-US" sz="1150" dirty="0"/>
          </a:p>
        </p:txBody>
      </p:sp>
      <p:sp>
        <p:nvSpPr>
          <p:cNvPr id="13" name="Text 11"/>
          <p:cNvSpPr/>
          <p:nvPr/>
        </p:nvSpPr>
        <p:spPr>
          <a:xfrm>
            <a:off x="6355080" y="2834640"/>
            <a:ext cx="5120640" cy="329184"/>
          </a:xfrm>
          <a:prstGeom prst="rect">
            <a:avLst/>
          </a:prstGeom>
          <a:noFill/>
          <a:ln/>
        </p:spPr>
        <p:txBody>
          <a:bodyPr wrap="square" lIns="0" tIns="0" rIns="0" bIns="0" rtlCol="0" anchor="ctr"/>
          <a:lstStyle/>
          <a:p>
            <a:pPr indent="0" marL="0">
              <a:buNone/>
            </a:pPr>
            <a:r>
              <a:rPr lang="en-US" sz="1100" dirty="0">
                <a:solidFill>
                  <a:srgbClr val="CBD5E1"/>
                </a:solidFill>
                <a:latin typeface="Courier New" pitchFamily="34" charset="0"/>
                <a:ea typeface="Courier New" pitchFamily="34" charset="-122"/>
                <a:cs typeface="Courier New" pitchFamily="34" charset="-120"/>
              </a:rPr>
              <a:t>No default encryption - data unencrypted at rest</a:t>
            </a:r>
            <a:endParaRPr lang="en-US" sz="1100" dirty="0"/>
          </a:p>
        </p:txBody>
      </p:sp>
      <p:sp>
        <p:nvSpPr>
          <p:cNvPr id="14" name="Text 12"/>
          <p:cNvSpPr/>
          <p:nvPr/>
        </p:nvSpPr>
        <p:spPr>
          <a:xfrm>
            <a:off x="868680" y="3246120"/>
            <a:ext cx="1143000" cy="329184"/>
          </a:xfrm>
          <a:prstGeom prst="rect">
            <a:avLst/>
          </a:prstGeom>
          <a:solidFill>
            <a:srgbClr val="F59E0B"/>
          </a:solidFill>
          <a:ln/>
        </p:spPr>
        <p:txBody>
          <a:bodyPr wrap="square" lIns="0" tIns="0" rIns="0" bIns="0" rtlCol="0" anchor="ct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MEDIUM</a:t>
            </a:r>
            <a:endParaRPr lang="en-US" sz="1050" dirty="0"/>
          </a:p>
        </p:txBody>
      </p:sp>
      <p:sp>
        <p:nvSpPr>
          <p:cNvPr id="15" name="Text 13"/>
          <p:cNvSpPr/>
          <p:nvPr/>
        </p:nvSpPr>
        <p:spPr>
          <a:xfrm>
            <a:off x="2148840" y="3246120"/>
            <a:ext cx="2286000" cy="329184"/>
          </a:xfrm>
          <a:prstGeom prst="rect">
            <a:avLst/>
          </a:prstGeom>
          <a:noFill/>
          <a:ln/>
        </p:spPr>
        <p:txBody>
          <a:bodyPr wrap="square" lIns="0" tIns="0" rIns="0" bIns="0" rtlCol="0" anchor="ctr"/>
          <a:lstStyle/>
          <a:p>
            <a:pPr indent="0" marL="0">
              <a:buNone/>
            </a:pPr>
            <a:r>
              <a:rPr lang="en-US" sz="1150" dirty="0">
                <a:solidFill>
                  <a:srgbClr val="ECEFF4"/>
                </a:solidFill>
                <a:latin typeface="Courier New" pitchFamily="34" charset="0"/>
                <a:ea typeface="Courier New" pitchFamily="34" charset="-122"/>
                <a:cs typeface="Courier New" pitchFamily="34" charset="-120"/>
              </a:rPr>
              <a:t>tek-logs-unsafe</a:t>
            </a:r>
            <a:endParaRPr lang="en-US" sz="1150" dirty="0"/>
          </a:p>
        </p:txBody>
      </p:sp>
      <p:sp>
        <p:nvSpPr>
          <p:cNvPr id="16" name="Text 14"/>
          <p:cNvSpPr/>
          <p:nvPr/>
        </p:nvSpPr>
        <p:spPr>
          <a:xfrm>
            <a:off x="4434840" y="3246120"/>
            <a:ext cx="1828800" cy="329184"/>
          </a:xfrm>
          <a:prstGeom prst="rect">
            <a:avLst/>
          </a:prstGeom>
          <a:noFill/>
          <a:ln/>
        </p:spPr>
        <p:txBody>
          <a:bodyPr wrap="square" lIns="0" tIns="0" rIns="0" bIns="0" rtlCol="0" anchor="ctr"/>
          <a:lstStyle/>
          <a:p>
            <a:pPr indent="0" marL="0">
              <a:buNone/>
            </a:pPr>
            <a:r>
              <a:rPr lang="en-US" sz="1150" dirty="0">
                <a:solidFill>
                  <a:srgbClr val="A7F3D0"/>
                </a:solidFill>
                <a:latin typeface="Courier New" pitchFamily="34" charset="0"/>
                <a:ea typeface="Courier New" pitchFamily="34" charset="-122"/>
                <a:cs typeface="Courier New" pitchFamily="34" charset="-120"/>
              </a:rPr>
              <a:t>versioning</a:t>
            </a:r>
            <a:endParaRPr lang="en-US" sz="1150" dirty="0"/>
          </a:p>
        </p:txBody>
      </p:sp>
      <p:sp>
        <p:nvSpPr>
          <p:cNvPr id="17" name="Text 15"/>
          <p:cNvSpPr/>
          <p:nvPr/>
        </p:nvSpPr>
        <p:spPr>
          <a:xfrm>
            <a:off x="6355080" y="3246120"/>
            <a:ext cx="5120640" cy="329184"/>
          </a:xfrm>
          <a:prstGeom prst="rect">
            <a:avLst/>
          </a:prstGeom>
          <a:noFill/>
          <a:ln/>
        </p:spPr>
        <p:txBody>
          <a:bodyPr wrap="square" lIns="0" tIns="0" rIns="0" bIns="0" rtlCol="0" anchor="ctr"/>
          <a:lstStyle/>
          <a:p>
            <a:pPr indent="0" marL="0">
              <a:buNone/>
            </a:pPr>
            <a:r>
              <a:rPr lang="en-US" sz="1100" dirty="0">
                <a:solidFill>
                  <a:srgbClr val="CBD5E1"/>
                </a:solidFill>
                <a:latin typeface="Courier New" pitchFamily="34" charset="0"/>
                <a:ea typeface="Courier New" pitchFamily="34" charset="-122"/>
                <a:cs typeface="Courier New" pitchFamily="34" charset="-120"/>
              </a:rPr>
              <a:t>Versioning off - overwrites/deletes unrecoverable</a:t>
            </a:r>
            <a:endParaRPr lang="en-US" sz="1100" dirty="0"/>
          </a:p>
        </p:txBody>
      </p:sp>
      <p:sp>
        <p:nvSpPr>
          <p:cNvPr id="18" name="Text 16"/>
          <p:cNvSpPr/>
          <p:nvPr/>
        </p:nvSpPr>
        <p:spPr>
          <a:xfrm>
            <a:off x="868680" y="3657600"/>
            <a:ext cx="1143000" cy="329184"/>
          </a:xfrm>
          <a:prstGeom prst="rect">
            <a:avLst/>
          </a:prstGeom>
          <a:solidFill>
            <a:srgbClr val="F59E0B"/>
          </a:solidFill>
          <a:ln/>
        </p:spPr>
        <p:txBody>
          <a:bodyPr wrap="square" lIns="0" tIns="0" rIns="0" bIns="0" rtlCol="0" anchor="ct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MEDIUM</a:t>
            </a:r>
            <a:endParaRPr lang="en-US" sz="1050" dirty="0"/>
          </a:p>
        </p:txBody>
      </p:sp>
      <p:sp>
        <p:nvSpPr>
          <p:cNvPr id="19" name="Text 17"/>
          <p:cNvSpPr/>
          <p:nvPr/>
        </p:nvSpPr>
        <p:spPr>
          <a:xfrm>
            <a:off x="2148840" y="3657600"/>
            <a:ext cx="2286000" cy="329184"/>
          </a:xfrm>
          <a:prstGeom prst="rect">
            <a:avLst/>
          </a:prstGeom>
          <a:noFill/>
          <a:ln/>
        </p:spPr>
        <p:txBody>
          <a:bodyPr wrap="square" lIns="0" tIns="0" rIns="0" bIns="0" rtlCol="0" anchor="ctr"/>
          <a:lstStyle/>
          <a:p>
            <a:pPr indent="0" marL="0">
              <a:buNone/>
            </a:pPr>
            <a:r>
              <a:rPr lang="en-US" sz="1150" dirty="0">
                <a:solidFill>
                  <a:srgbClr val="ECEFF4"/>
                </a:solidFill>
                <a:latin typeface="Courier New" pitchFamily="34" charset="0"/>
                <a:ea typeface="Courier New" pitchFamily="34" charset="-122"/>
                <a:cs typeface="Courier New" pitchFamily="34" charset="-120"/>
              </a:rPr>
              <a:t>tek-public-data</a:t>
            </a:r>
            <a:endParaRPr lang="en-US" sz="1150" dirty="0"/>
          </a:p>
        </p:txBody>
      </p:sp>
      <p:sp>
        <p:nvSpPr>
          <p:cNvPr id="20" name="Text 18"/>
          <p:cNvSpPr/>
          <p:nvPr/>
        </p:nvSpPr>
        <p:spPr>
          <a:xfrm>
            <a:off x="4434840" y="3657600"/>
            <a:ext cx="1828800" cy="329184"/>
          </a:xfrm>
          <a:prstGeom prst="rect">
            <a:avLst/>
          </a:prstGeom>
          <a:noFill/>
          <a:ln/>
        </p:spPr>
        <p:txBody>
          <a:bodyPr wrap="square" lIns="0" tIns="0" rIns="0" bIns="0" rtlCol="0" anchor="ctr"/>
          <a:lstStyle/>
          <a:p>
            <a:pPr indent="0" marL="0">
              <a:buNone/>
            </a:pPr>
            <a:r>
              <a:rPr lang="en-US" sz="1150" dirty="0">
                <a:solidFill>
                  <a:srgbClr val="A7F3D0"/>
                </a:solidFill>
                <a:latin typeface="Courier New" pitchFamily="34" charset="0"/>
                <a:ea typeface="Courier New" pitchFamily="34" charset="-122"/>
                <a:cs typeface="Courier New" pitchFamily="34" charset="-120"/>
              </a:rPr>
              <a:t>versioning</a:t>
            </a:r>
            <a:endParaRPr lang="en-US" sz="1150" dirty="0"/>
          </a:p>
        </p:txBody>
      </p:sp>
      <p:sp>
        <p:nvSpPr>
          <p:cNvPr id="21" name="Text 19"/>
          <p:cNvSpPr/>
          <p:nvPr/>
        </p:nvSpPr>
        <p:spPr>
          <a:xfrm>
            <a:off x="6355080" y="3657600"/>
            <a:ext cx="5120640" cy="329184"/>
          </a:xfrm>
          <a:prstGeom prst="rect">
            <a:avLst/>
          </a:prstGeom>
          <a:noFill/>
          <a:ln/>
        </p:spPr>
        <p:txBody>
          <a:bodyPr wrap="square" lIns="0" tIns="0" rIns="0" bIns="0" rtlCol="0" anchor="ctr"/>
          <a:lstStyle/>
          <a:p>
            <a:pPr indent="0" marL="0">
              <a:buNone/>
            </a:pPr>
            <a:r>
              <a:rPr lang="en-US" sz="1100" dirty="0">
                <a:solidFill>
                  <a:srgbClr val="CBD5E1"/>
                </a:solidFill>
                <a:latin typeface="Courier New" pitchFamily="34" charset="0"/>
                <a:ea typeface="Courier New" pitchFamily="34" charset="-122"/>
                <a:cs typeface="Courier New" pitchFamily="34" charset="-120"/>
              </a:rPr>
              <a:t>Versioning off - overwrites/deletes unrecoverable</a:t>
            </a:r>
            <a:endParaRPr lang="en-US" sz="1100" dirty="0"/>
          </a:p>
        </p:txBody>
      </p:sp>
      <p:sp>
        <p:nvSpPr>
          <p:cNvPr id="22" name="Text 20"/>
          <p:cNvSpPr/>
          <p:nvPr/>
        </p:nvSpPr>
        <p:spPr>
          <a:xfrm>
            <a:off x="868680" y="4069080"/>
            <a:ext cx="1143000" cy="329184"/>
          </a:xfrm>
          <a:prstGeom prst="rect">
            <a:avLst/>
          </a:prstGeom>
          <a:solidFill>
            <a:srgbClr val="14B8A6"/>
          </a:solidFill>
          <a:ln/>
        </p:spPr>
        <p:txBody>
          <a:bodyPr wrap="square" lIns="0" tIns="0" rIns="0" bIns="0" rtlCol="0" anchor="ct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LOW</a:t>
            </a:r>
            <a:endParaRPr lang="en-US" sz="1050" dirty="0"/>
          </a:p>
        </p:txBody>
      </p:sp>
      <p:sp>
        <p:nvSpPr>
          <p:cNvPr id="23" name="Text 21"/>
          <p:cNvSpPr/>
          <p:nvPr/>
        </p:nvSpPr>
        <p:spPr>
          <a:xfrm>
            <a:off x="2148840" y="4069080"/>
            <a:ext cx="2286000" cy="329184"/>
          </a:xfrm>
          <a:prstGeom prst="rect">
            <a:avLst/>
          </a:prstGeom>
          <a:noFill/>
          <a:ln/>
        </p:spPr>
        <p:txBody>
          <a:bodyPr wrap="square" lIns="0" tIns="0" rIns="0" bIns="0" rtlCol="0" anchor="ctr"/>
          <a:lstStyle/>
          <a:p>
            <a:pPr indent="0" marL="0">
              <a:buNone/>
            </a:pPr>
            <a:r>
              <a:rPr lang="en-US" sz="1150" dirty="0">
                <a:solidFill>
                  <a:srgbClr val="ECEFF4"/>
                </a:solidFill>
                <a:latin typeface="Courier New" pitchFamily="34" charset="0"/>
                <a:ea typeface="Courier New" pitchFamily="34" charset="-122"/>
                <a:cs typeface="Courier New" pitchFamily="34" charset="-120"/>
              </a:rPr>
              <a:t>tek-logs-unsafe</a:t>
            </a:r>
            <a:endParaRPr lang="en-US" sz="1150" dirty="0"/>
          </a:p>
        </p:txBody>
      </p:sp>
      <p:sp>
        <p:nvSpPr>
          <p:cNvPr id="24" name="Text 22"/>
          <p:cNvSpPr/>
          <p:nvPr/>
        </p:nvSpPr>
        <p:spPr>
          <a:xfrm>
            <a:off x="4434840" y="4069080"/>
            <a:ext cx="1828800" cy="329184"/>
          </a:xfrm>
          <a:prstGeom prst="rect">
            <a:avLst/>
          </a:prstGeom>
          <a:noFill/>
          <a:ln/>
        </p:spPr>
        <p:txBody>
          <a:bodyPr wrap="square" lIns="0" tIns="0" rIns="0" bIns="0" rtlCol="0" anchor="ctr"/>
          <a:lstStyle/>
          <a:p>
            <a:pPr indent="0" marL="0">
              <a:buNone/>
            </a:pPr>
            <a:r>
              <a:rPr lang="en-US" sz="1150" dirty="0">
                <a:solidFill>
                  <a:srgbClr val="A7F3D0"/>
                </a:solidFill>
                <a:latin typeface="Courier New" pitchFamily="34" charset="0"/>
                <a:ea typeface="Courier New" pitchFamily="34" charset="-122"/>
                <a:cs typeface="Courier New" pitchFamily="34" charset="-120"/>
              </a:rPr>
              <a:t>logging</a:t>
            </a:r>
            <a:endParaRPr lang="en-US" sz="1150" dirty="0"/>
          </a:p>
        </p:txBody>
      </p:sp>
      <p:sp>
        <p:nvSpPr>
          <p:cNvPr id="25" name="Text 23"/>
          <p:cNvSpPr/>
          <p:nvPr/>
        </p:nvSpPr>
        <p:spPr>
          <a:xfrm>
            <a:off x="6355080" y="4069080"/>
            <a:ext cx="5120640" cy="329184"/>
          </a:xfrm>
          <a:prstGeom prst="rect">
            <a:avLst/>
          </a:prstGeom>
          <a:noFill/>
          <a:ln/>
        </p:spPr>
        <p:txBody>
          <a:bodyPr wrap="square" lIns="0" tIns="0" rIns="0" bIns="0" rtlCol="0" anchor="ctr"/>
          <a:lstStyle/>
          <a:p>
            <a:pPr indent="0" marL="0">
              <a:buNone/>
            </a:pPr>
            <a:r>
              <a:rPr lang="en-US" sz="1100" dirty="0">
                <a:solidFill>
                  <a:srgbClr val="CBD5E1"/>
                </a:solidFill>
                <a:latin typeface="Courier New" pitchFamily="34" charset="0"/>
                <a:ea typeface="Courier New" pitchFamily="34" charset="-122"/>
                <a:cs typeface="Courier New" pitchFamily="34" charset="-120"/>
              </a:rPr>
              <a:t>No access logging - no audit trail</a:t>
            </a:r>
            <a:endParaRPr lang="en-US" sz="1100" dirty="0"/>
          </a:p>
        </p:txBody>
      </p:sp>
      <p:sp>
        <p:nvSpPr>
          <p:cNvPr id="26" name="Text 24"/>
          <p:cNvSpPr/>
          <p:nvPr/>
        </p:nvSpPr>
        <p:spPr>
          <a:xfrm>
            <a:off x="868680" y="4480560"/>
            <a:ext cx="1143000" cy="329184"/>
          </a:xfrm>
          <a:prstGeom prst="rect">
            <a:avLst/>
          </a:prstGeom>
          <a:solidFill>
            <a:srgbClr val="14B8A6"/>
          </a:solidFill>
          <a:ln/>
        </p:spPr>
        <p:txBody>
          <a:bodyPr wrap="square" lIns="0" tIns="0" rIns="0" bIns="0" rtlCol="0" anchor="ct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LOW</a:t>
            </a:r>
            <a:endParaRPr lang="en-US" sz="1050" dirty="0"/>
          </a:p>
        </p:txBody>
      </p:sp>
      <p:sp>
        <p:nvSpPr>
          <p:cNvPr id="27" name="Text 25"/>
          <p:cNvSpPr/>
          <p:nvPr/>
        </p:nvSpPr>
        <p:spPr>
          <a:xfrm>
            <a:off x="2148840" y="4480560"/>
            <a:ext cx="2286000" cy="329184"/>
          </a:xfrm>
          <a:prstGeom prst="rect">
            <a:avLst/>
          </a:prstGeom>
          <a:noFill/>
          <a:ln/>
        </p:spPr>
        <p:txBody>
          <a:bodyPr wrap="square" lIns="0" tIns="0" rIns="0" bIns="0" rtlCol="0" anchor="ctr"/>
          <a:lstStyle/>
          <a:p>
            <a:pPr indent="0" marL="0">
              <a:buNone/>
            </a:pPr>
            <a:r>
              <a:rPr lang="en-US" sz="1150" dirty="0">
                <a:solidFill>
                  <a:srgbClr val="ECEFF4"/>
                </a:solidFill>
                <a:latin typeface="Courier New" pitchFamily="34" charset="0"/>
                <a:ea typeface="Courier New" pitchFamily="34" charset="-122"/>
                <a:cs typeface="Courier New" pitchFamily="34" charset="-120"/>
              </a:rPr>
              <a:t>tek-public-data</a:t>
            </a:r>
            <a:endParaRPr lang="en-US" sz="1150" dirty="0"/>
          </a:p>
        </p:txBody>
      </p:sp>
      <p:sp>
        <p:nvSpPr>
          <p:cNvPr id="28" name="Text 26"/>
          <p:cNvSpPr/>
          <p:nvPr/>
        </p:nvSpPr>
        <p:spPr>
          <a:xfrm>
            <a:off x="4434840" y="4480560"/>
            <a:ext cx="1828800" cy="329184"/>
          </a:xfrm>
          <a:prstGeom prst="rect">
            <a:avLst/>
          </a:prstGeom>
          <a:noFill/>
          <a:ln/>
        </p:spPr>
        <p:txBody>
          <a:bodyPr wrap="square" lIns="0" tIns="0" rIns="0" bIns="0" rtlCol="0" anchor="ctr"/>
          <a:lstStyle/>
          <a:p>
            <a:pPr indent="0" marL="0">
              <a:buNone/>
            </a:pPr>
            <a:r>
              <a:rPr lang="en-US" sz="1150" dirty="0">
                <a:solidFill>
                  <a:srgbClr val="A7F3D0"/>
                </a:solidFill>
                <a:latin typeface="Courier New" pitchFamily="34" charset="0"/>
                <a:ea typeface="Courier New" pitchFamily="34" charset="-122"/>
                <a:cs typeface="Courier New" pitchFamily="34" charset="-120"/>
              </a:rPr>
              <a:t>logging</a:t>
            </a:r>
            <a:endParaRPr lang="en-US" sz="1150" dirty="0"/>
          </a:p>
        </p:txBody>
      </p:sp>
      <p:sp>
        <p:nvSpPr>
          <p:cNvPr id="29" name="Text 27"/>
          <p:cNvSpPr/>
          <p:nvPr/>
        </p:nvSpPr>
        <p:spPr>
          <a:xfrm>
            <a:off x="6355080" y="4480560"/>
            <a:ext cx="5120640" cy="329184"/>
          </a:xfrm>
          <a:prstGeom prst="rect">
            <a:avLst/>
          </a:prstGeom>
          <a:noFill/>
          <a:ln/>
        </p:spPr>
        <p:txBody>
          <a:bodyPr wrap="square" lIns="0" tIns="0" rIns="0" bIns="0" rtlCol="0" anchor="ctr"/>
          <a:lstStyle/>
          <a:p>
            <a:pPr indent="0" marL="0">
              <a:buNone/>
            </a:pPr>
            <a:r>
              <a:rPr lang="en-US" sz="1100" dirty="0">
                <a:solidFill>
                  <a:srgbClr val="CBD5E1"/>
                </a:solidFill>
                <a:latin typeface="Courier New" pitchFamily="34" charset="0"/>
                <a:ea typeface="Courier New" pitchFamily="34" charset="-122"/>
                <a:cs typeface="Courier New" pitchFamily="34" charset="-120"/>
              </a:rPr>
              <a:t>No access logging - no audit trail</a:t>
            </a:r>
            <a:endParaRPr lang="en-US" sz="1100" dirty="0"/>
          </a:p>
        </p:txBody>
      </p:sp>
      <p:sp>
        <p:nvSpPr>
          <p:cNvPr id="30" name="Text 28"/>
          <p:cNvSpPr/>
          <p:nvPr/>
        </p:nvSpPr>
        <p:spPr>
          <a:xfrm>
            <a:off x="868680" y="4983480"/>
            <a:ext cx="10515600" cy="365760"/>
          </a:xfrm>
          <a:prstGeom prst="rect">
            <a:avLst/>
          </a:prstGeom>
          <a:noFill/>
          <a:ln/>
        </p:spPr>
        <p:txBody>
          <a:bodyPr wrap="square" lIns="0" tIns="0" rIns="0" bIns="0" rtlCol="0" anchor="ctr"/>
          <a:lstStyle/>
          <a:p>
            <a:pPr indent="0" marL="0">
              <a:buNone/>
            </a:pPr>
            <a:r>
              <a:rPr lang="en-US" sz="1250" b="1" dirty="0">
                <a:solidFill>
                  <a:srgbClr val="FDE68A"/>
                </a:solidFill>
                <a:latin typeface="Courier New" pitchFamily="34" charset="0"/>
                <a:ea typeface="Courier New" pitchFamily="34" charset="-122"/>
                <a:cs typeface="Courier New" pitchFamily="34" charset="-120"/>
              </a:rPr>
              <a:t>Summary:  1 critical · 1 high · 2 medium · 2 low        exit code 1</a:t>
            </a:r>
            <a:endParaRPr lang="en-US" sz="1250" dirty="0"/>
          </a:p>
        </p:txBody>
      </p:sp>
      <p:sp>
        <p:nvSpPr>
          <p:cNvPr id="31" name="Text 29"/>
          <p:cNvSpPr/>
          <p:nvPr/>
        </p:nvSpPr>
        <p:spPr>
          <a:xfrm>
            <a:off x="548640" y="5532120"/>
            <a:ext cx="11064240" cy="457200"/>
          </a:xfrm>
          <a:prstGeom prst="rect">
            <a:avLst/>
          </a:prstGeom>
          <a:noFill/>
          <a:ln/>
        </p:spPr>
        <p:txBody>
          <a:bodyPr wrap="square" lIns="0" tIns="0" rIns="0" bIns="0" rtlCol="0" anchor="ctr"/>
          <a:lstStyle/>
          <a:p>
            <a:pPr algn="ctr" indent="0" marL="0">
              <a:buNone/>
            </a:pPr>
            <a:r>
              <a:rPr lang="en-US" sz="1450" i="1" dirty="0">
                <a:solidFill>
                  <a:srgbClr val="0D9488"/>
                </a:solidFill>
                <a:latin typeface="Calibri" pitchFamily="34" charset="0"/>
                <a:ea typeface="Calibri" pitchFamily="34" charset="-122"/>
                <a:cs typeface="Calibri" pitchFamily="34" charset="-120"/>
              </a:rPr>
              <a:t>Real findings, on real (fake) infrastructure — this is the moment they become a creator.</a:t>
            </a:r>
            <a:endParaRPr lang="en-US" sz="1450" dirty="0"/>
          </a:p>
        </p:txBody>
      </p:sp>
      <p:sp>
        <p:nvSpPr>
          <p:cNvPr id="33" name="Text 30"/>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From User to Creator  •  Cloud Webinar</a:t>
            </a:r>
            <a:endParaRPr lang="en-US" sz="900" dirty="0"/>
          </a:p>
        </p:txBody>
      </p:sp>
      <p:sp>
        <p:nvSpPr>
          <p:cNvPr id="34" name="Text 31"/>
          <p:cNvSpPr/>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320040"/>
          </a:xfrm>
          <a:prstGeom prst="rect">
            <a:avLst/>
          </a:prstGeom>
          <a:noFill/>
          <a:ln/>
        </p:spPr>
        <p:txBody>
          <a:bodyPr wrap="square" lIns="0" tIns="0" rIns="0" bIns="0" rtlCol="0" anchor="ctr"/>
          <a:lstStyle/>
          <a:p>
            <a:pPr indent="0" marL="0">
              <a:buNone/>
            </a:pPr>
            <a:r>
              <a:rPr lang="en-US" sz="1300" b="1" spc="200" kern="0" dirty="0">
                <a:solidFill>
                  <a:srgbClr val="0D9488"/>
                </a:solidFill>
                <a:latin typeface="Calibri" pitchFamily="34" charset="0"/>
                <a:ea typeface="Calibri" pitchFamily="34" charset="-122"/>
                <a:cs typeface="Calibri" pitchFamily="34" charset="-120"/>
              </a:rPr>
              <a:t>MAKE IT REAL</a:t>
            </a:r>
            <a:endParaRPr lang="en-US" sz="1300" dirty="0"/>
          </a:p>
        </p:txBody>
      </p:sp>
      <p:sp>
        <p:nvSpPr>
          <p:cNvPr id="3" name="Text 1"/>
          <p:cNvSpPr/>
          <p:nvPr/>
        </p:nvSpPr>
        <p:spPr>
          <a:xfrm>
            <a:off x="548640" y="713232"/>
            <a:ext cx="11064240" cy="868680"/>
          </a:xfrm>
          <a:prstGeom prst="rect">
            <a:avLst/>
          </a:prstGeom>
          <a:noFill/>
          <a:ln/>
        </p:spPr>
        <p:txBody>
          <a:bodyPr wrap="square" lIns="0" tIns="0" rIns="0" bIns="0" rtlCol="0" anchor="ctr"/>
          <a:lstStyle/>
          <a:p>
            <a:pPr indent="0" marL="0">
              <a:buNone/>
            </a:pPr>
            <a:r>
              <a:rPr lang="en-US" sz="3100" b="1" dirty="0">
                <a:solidFill>
                  <a:srgbClr val="16233A"/>
                </a:solidFill>
                <a:latin typeface="Calibri" pitchFamily="34" charset="0"/>
                <a:ea typeface="Calibri" pitchFamily="34" charset="-122"/>
                <a:cs typeface="Calibri" pitchFamily="34" charset="-120"/>
              </a:rPr>
              <a:t>Extend it live — then break it</a:t>
            </a:r>
            <a:endParaRPr lang="en-US" sz="3100" dirty="0"/>
          </a:p>
        </p:txBody>
      </p:sp>
      <p:sp>
        <p:nvSpPr>
          <p:cNvPr id="4" name="Shape 2"/>
          <p:cNvSpPr/>
          <p:nvPr/>
        </p:nvSpPr>
        <p:spPr>
          <a:xfrm>
            <a:off x="548640" y="1828800"/>
            <a:ext cx="5394960" cy="3931920"/>
          </a:xfrm>
          <a:prstGeom prst="roundRect">
            <a:avLst>
              <a:gd name="adj" fmla="val 2093"/>
            </a:avLst>
          </a:prstGeom>
          <a:solidFill>
            <a:srgbClr val="ECFDF5"/>
          </a:solidFill>
          <a:ln/>
          <a:effectLst>
            <a:outerShdw sx="100000" sy="100000" kx="0" ky="0" algn="bl" rotWithShape="0" blurRad="114300" dist="38100" dir="5400000">
              <a:srgbClr val="0A1F3C">
                <a:alpha val="16000"/>
              </a:srgbClr>
            </a:outerShdw>
          </a:effectLst>
        </p:spPr>
      </p:sp>
      <p:sp>
        <p:nvSpPr>
          <p:cNvPr id="5" name="Shape 3"/>
          <p:cNvSpPr/>
          <p:nvPr/>
        </p:nvSpPr>
        <p:spPr>
          <a:xfrm>
            <a:off x="868680" y="2103120"/>
            <a:ext cx="731520" cy="731520"/>
          </a:xfrm>
          <a:prstGeom prst="ellipse">
            <a:avLst/>
          </a:prstGeom>
          <a:solidFill>
            <a:srgbClr val="0D9488"/>
          </a:solidFill>
          <a:ln/>
        </p:spPr>
      </p:sp>
      <p:sp>
        <p:nvSpPr>
          <p:cNvPr id="6" name="Text 4"/>
          <p:cNvSpPr/>
          <p:nvPr/>
        </p:nvSpPr>
        <p:spPr>
          <a:xfrm>
            <a:off x="868680" y="2103120"/>
            <a:ext cx="731520"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7" name="Text 5"/>
          <p:cNvSpPr/>
          <p:nvPr/>
        </p:nvSpPr>
        <p:spPr>
          <a:xfrm>
            <a:off x="1783080" y="2194560"/>
            <a:ext cx="3931920" cy="548640"/>
          </a:xfrm>
          <a:prstGeom prst="rect">
            <a:avLst/>
          </a:prstGeom>
          <a:noFill/>
          <a:ln/>
        </p:spPr>
        <p:txBody>
          <a:bodyPr wrap="square" lIns="0" tIns="0" rIns="0" bIns="0" rtlCol="0" anchor="ctr"/>
          <a:lstStyle/>
          <a:p>
            <a:pPr indent="0" marL="0">
              <a:buNone/>
            </a:pPr>
            <a:r>
              <a:rPr lang="en-US" sz="1800" b="1" dirty="0">
                <a:solidFill>
                  <a:srgbClr val="16233A"/>
                </a:solidFill>
                <a:latin typeface="Calibri" pitchFamily="34" charset="0"/>
                <a:ea typeface="Calibri" pitchFamily="34" charset="-122"/>
                <a:cs typeface="Calibri" pitchFamily="34" charset="-120"/>
              </a:rPr>
              <a:t>Add a check in 10 lines</a:t>
            </a:r>
            <a:endParaRPr lang="en-US" sz="1800" dirty="0"/>
          </a:p>
        </p:txBody>
      </p:sp>
      <p:sp>
        <p:nvSpPr>
          <p:cNvPr id="8" name="Text 6"/>
          <p:cNvSpPr/>
          <p:nvPr/>
        </p:nvSpPr>
        <p:spPr>
          <a:xfrm>
            <a:off x="914400" y="3017520"/>
            <a:ext cx="4754880" cy="2651760"/>
          </a:xfrm>
          <a:prstGeom prst="rect">
            <a:avLst/>
          </a:prstGeom>
          <a:noFill/>
          <a:ln/>
        </p:spPr>
        <p:txBody>
          <a:bodyPr wrap="square" lIns="0" tIns="0" rIns="0" bIns="0" rtlCol="0" anchor="ctr"/>
          <a:lstStyle/>
          <a:p>
            <a:pPr marL="342900" indent="-342900">
              <a:spcAft>
                <a:spcPts val="1100"/>
              </a:spcAft>
              <a:buSzPct val="100000"/>
              <a:buChar char="•"/>
            </a:pPr>
            <a:r>
              <a:rPr lang="en-US" sz="1450" dirty="0">
                <a:solidFill>
                  <a:srgbClr val="334155"/>
                </a:solidFill>
                <a:latin typeface="Calibri" pitchFamily="34" charset="0"/>
                <a:ea typeface="Calibri" pitchFamily="34" charset="-122"/>
                <a:cs typeface="Calibri" pitchFamily="34" charset="-120"/>
              </a:rPr>
              <a:t>Write a new function in checks.py</a:t>
            </a:r>
            <a:endParaRPr lang="en-US" sz="1450" dirty="0"/>
          </a:p>
          <a:p>
            <a:pPr marL="342900" indent="-342900">
              <a:spcAft>
                <a:spcPts val="1100"/>
              </a:spcAft>
              <a:buSzPct val="100000"/>
              <a:buChar char="•"/>
            </a:pPr>
            <a:r>
              <a:rPr lang="en-US" sz="1450" dirty="0">
                <a:solidFill>
                  <a:srgbClr val="334155"/>
                </a:solidFill>
                <a:latin typeface="Calibri" pitchFamily="34" charset="0"/>
                <a:ea typeface="Calibri" pitchFamily="34" charset="-122"/>
                <a:cs typeface="Calibri" pitchFamily="34" charset="-120"/>
              </a:rPr>
              <a:t>Add it to the ALL_CHECKS list</a:t>
            </a:r>
            <a:endParaRPr lang="en-US" sz="1450" dirty="0"/>
          </a:p>
          <a:p>
            <a:pPr marL="342900" indent="-342900">
              <a:spcAft>
                <a:spcPts val="1100"/>
              </a:spcAft>
              <a:buSzPct val="100000"/>
              <a:buChar char="•"/>
            </a:pPr>
            <a:r>
              <a:rPr lang="en-US" sz="1450" dirty="0">
                <a:solidFill>
                  <a:srgbClr val="334155"/>
                </a:solidFill>
                <a:latin typeface="Calibri" pitchFamily="34" charset="0"/>
                <a:ea typeface="Calibri" pitchFamily="34" charset="-122"/>
                <a:cs typeface="Calibri" pitchFamily="34" charset="-120"/>
              </a:rPr>
              <a:t>Re-run the scan</a:t>
            </a:r>
            <a:endParaRPr lang="en-US" sz="1450" dirty="0"/>
          </a:p>
          <a:p>
            <a:pPr marL="342900" indent="-342900">
              <a:spcAft>
                <a:spcPts val="1100"/>
              </a:spcAft>
              <a:buSzPct val="100000"/>
              <a:buChar char="•"/>
            </a:pPr>
            <a:r>
              <a:rPr lang="en-US" sz="1450" dirty="0">
                <a:solidFill>
                  <a:srgbClr val="334155"/>
                </a:solidFill>
                <a:latin typeface="Calibri" pitchFamily="34" charset="0"/>
                <a:ea typeface="Calibri" pitchFamily="34" charset="-122"/>
                <a:cs typeface="Calibri" pitchFamily="34" charset="-120"/>
              </a:rPr>
              <a:t>A new finding appears — "we just shipped a feature"</a:t>
            </a:r>
            <a:endParaRPr lang="en-US" sz="1450" dirty="0"/>
          </a:p>
        </p:txBody>
      </p:sp>
      <p:sp>
        <p:nvSpPr>
          <p:cNvPr id="9" name="Shape 7"/>
          <p:cNvSpPr/>
          <p:nvPr/>
        </p:nvSpPr>
        <p:spPr>
          <a:xfrm>
            <a:off x="6172200" y="1828800"/>
            <a:ext cx="5440680" cy="3931920"/>
          </a:xfrm>
          <a:prstGeom prst="roundRect">
            <a:avLst>
              <a:gd name="adj" fmla="val 2093"/>
            </a:avLst>
          </a:prstGeom>
          <a:solidFill>
            <a:srgbClr val="FFF7ED"/>
          </a:solidFill>
          <a:ln/>
          <a:effectLst>
            <a:outerShdw sx="100000" sy="100000" kx="0" ky="0" algn="bl" rotWithShape="0" blurRad="114300" dist="38100" dir="5400000">
              <a:srgbClr val="0A1F3C">
                <a:alpha val="16000"/>
              </a:srgbClr>
            </a:outerShdw>
          </a:effectLst>
        </p:spPr>
      </p:sp>
      <p:sp>
        <p:nvSpPr>
          <p:cNvPr id="10" name="Shape 8"/>
          <p:cNvSpPr/>
          <p:nvPr/>
        </p:nvSpPr>
        <p:spPr>
          <a:xfrm>
            <a:off x="6492240" y="2103120"/>
            <a:ext cx="731520" cy="731520"/>
          </a:xfrm>
          <a:prstGeom prst="ellipse">
            <a:avLst/>
          </a:prstGeom>
          <a:solidFill>
            <a:srgbClr val="F97316"/>
          </a:solidFill>
          <a:ln/>
        </p:spPr>
      </p:sp>
      <p:sp>
        <p:nvSpPr>
          <p:cNvPr id="11" name="Text 9"/>
          <p:cNvSpPr/>
          <p:nvPr/>
        </p:nvSpPr>
        <p:spPr>
          <a:xfrm>
            <a:off x="6492240" y="2103120"/>
            <a:ext cx="731520"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12" name="Text 10"/>
          <p:cNvSpPr/>
          <p:nvPr/>
        </p:nvSpPr>
        <p:spPr>
          <a:xfrm>
            <a:off x="7406640" y="2194560"/>
            <a:ext cx="3931920" cy="548640"/>
          </a:xfrm>
          <a:prstGeom prst="rect">
            <a:avLst/>
          </a:prstGeom>
          <a:noFill/>
          <a:ln/>
        </p:spPr>
        <p:txBody>
          <a:bodyPr wrap="square" lIns="0" tIns="0" rIns="0" bIns="0" rtlCol="0" anchor="ctr"/>
          <a:lstStyle/>
          <a:p>
            <a:pPr indent="0" marL="0">
              <a:buNone/>
            </a:pPr>
            <a:r>
              <a:rPr lang="en-US" sz="1800" b="1" dirty="0">
                <a:solidFill>
                  <a:srgbClr val="16233A"/>
                </a:solidFill>
                <a:latin typeface="Calibri" pitchFamily="34" charset="0"/>
                <a:ea typeface="Calibri" pitchFamily="34" charset="-122"/>
                <a:cs typeface="Calibri" pitchFamily="34" charset="-120"/>
              </a:rPr>
              <a:t>Break it on purpose</a:t>
            </a:r>
            <a:endParaRPr lang="en-US" sz="1800" dirty="0"/>
          </a:p>
        </p:txBody>
      </p:sp>
      <p:sp>
        <p:nvSpPr>
          <p:cNvPr id="13" name="Text 11"/>
          <p:cNvSpPr/>
          <p:nvPr/>
        </p:nvSpPr>
        <p:spPr>
          <a:xfrm>
            <a:off x="6537960" y="3017520"/>
            <a:ext cx="4846320" cy="2651760"/>
          </a:xfrm>
          <a:prstGeom prst="rect">
            <a:avLst/>
          </a:prstGeom>
          <a:noFill/>
          <a:ln/>
        </p:spPr>
        <p:txBody>
          <a:bodyPr wrap="square" lIns="0" tIns="0" rIns="0" bIns="0" rtlCol="0" anchor="ctr"/>
          <a:lstStyle/>
          <a:p>
            <a:pPr marL="342900" indent="-342900">
              <a:spcAft>
                <a:spcPts val="1100"/>
              </a:spcAft>
              <a:buSzPct val="100000"/>
              <a:buChar char="•"/>
            </a:pPr>
            <a:r>
              <a:rPr lang="en-US" sz="1450" dirty="0">
                <a:solidFill>
                  <a:srgbClr val="334155"/>
                </a:solidFill>
                <a:latin typeface="Calibri" pitchFamily="34" charset="0"/>
                <a:ea typeface="Calibri" pitchFamily="34" charset="-122"/>
                <a:cs typeface="Calibri" pitchFamily="34" charset="-120"/>
              </a:rPr>
              <a:t>Introduce a typo in a check</a:t>
            </a:r>
            <a:endParaRPr lang="en-US" sz="1450" dirty="0"/>
          </a:p>
          <a:p>
            <a:pPr marL="342900" indent="-342900">
              <a:spcAft>
                <a:spcPts val="1100"/>
              </a:spcAft>
              <a:buSzPct val="100000"/>
              <a:buChar char="•"/>
            </a:pPr>
            <a:r>
              <a:rPr lang="en-US" sz="1450" dirty="0">
                <a:solidFill>
                  <a:srgbClr val="334155"/>
                </a:solidFill>
                <a:latin typeface="Calibri" pitchFamily="34" charset="0"/>
                <a:ea typeface="Calibri" pitchFamily="34" charset="-122"/>
                <a:cs typeface="Calibri" pitchFamily="34" charset="-120"/>
              </a:rPr>
              <a:t>Run it — read the traceback together</a:t>
            </a:r>
            <a:endParaRPr lang="en-US" sz="1450" dirty="0"/>
          </a:p>
          <a:p>
            <a:pPr marL="342900" indent="-342900">
              <a:spcAft>
                <a:spcPts val="1100"/>
              </a:spcAft>
              <a:buSzPct val="100000"/>
              <a:buChar char="•"/>
            </a:pPr>
            <a:r>
              <a:rPr lang="en-US" sz="1450" dirty="0">
                <a:solidFill>
                  <a:srgbClr val="334155"/>
                </a:solidFill>
                <a:latin typeface="Calibri" pitchFamily="34" charset="0"/>
                <a:ea typeface="Calibri" pitchFamily="34" charset="-122"/>
                <a:cs typeface="Calibri" pitchFamily="34" charset="-120"/>
              </a:rPr>
              <a:t>Debug calmly; fix the line</a:t>
            </a:r>
            <a:endParaRPr lang="en-US" sz="1450" dirty="0"/>
          </a:p>
          <a:p>
            <a:pPr marL="342900" indent="-342900">
              <a:spcAft>
                <a:spcPts val="1100"/>
              </a:spcAft>
              <a:buSzPct val="100000"/>
              <a:buChar char="•"/>
            </a:pPr>
            <a:r>
              <a:rPr lang="en-US" sz="1450" dirty="0">
                <a:solidFill>
                  <a:srgbClr val="334155"/>
                </a:solidFill>
                <a:latin typeface="Calibri" pitchFamily="34" charset="0"/>
                <a:ea typeface="Calibri" pitchFamily="34" charset="-122"/>
                <a:cs typeface="Calibri" pitchFamily="34" charset="-120"/>
              </a:rPr>
              <a:t>Lesson: errors are normal, not failure</a:t>
            </a:r>
            <a:endParaRPr lang="en-US" sz="1450" dirty="0"/>
          </a:p>
        </p:txBody>
      </p:sp>
      <p:sp>
        <p:nvSpPr>
          <p:cNvPr id="15" name="Text 12"/>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From User to Creator  •  Cloud Webinar</a:t>
            </a:r>
            <a:endParaRPr lang="en-US" sz="900" dirty="0"/>
          </a:p>
        </p:txBody>
      </p:sp>
      <p:sp>
        <p:nvSpPr>
          <p:cNvPr id="16" name="Text 13"/>
          <p:cNvSpPr/>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320040"/>
          </a:xfrm>
          <a:prstGeom prst="rect">
            <a:avLst/>
          </a:prstGeom>
          <a:noFill/>
          <a:ln/>
        </p:spPr>
        <p:txBody>
          <a:bodyPr wrap="square" lIns="0" tIns="0" rIns="0" bIns="0" rtlCol="0" anchor="ctr"/>
          <a:lstStyle/>
          <a:p>
            <a:pPr indent="0" marL="0">
              <a:buNone/>
            </a:pPr>
            <a:r>
              <a:rPr lang="en-US" sz="1300" b="1" spc="200" kern="0" dirty="0">
                <a:solidFill>
                  <a:srgbClr val="0D9488"/>
                </a:solidFill>
                <a:latin typeface="Calibri" pitchFamily="34" charset="0"/>
                <a:ea typeface="Calibri" pitchFamily="34" charset="-122"/>
                <a:cs typeface="Calibri" pitchFamily="34" charset="-120"/>
              </a:rPr>
              <a:t>FROM SCRIPT TO SAFEGUARD</a:t>
            </a:r>
            <a:endParaRPr lang="en-US" sz="1300" dirty="0"/>
          </a:p>
        </p:txBody>
      </p:sp>
      <p:sp>
        <p:nvSpPr>
          <p:cNvPr id="3" name="Text 1"/>
          <p:cNvSpPr/>
          <p:nvPr/>
        </p:nvSpPr>
        <p:spPr>
          <a:xfrm>
            <a:off x="548640" y="713232"/>
            <a:ext cx="11064240" cy="868680"/>
          </a:xfrm>
          <a:prstGeom prst="rect">
            <a:avLst/>
          </a:prstGeom>
          <a:noFill/>
          <a:ln/>
        </p:spPr>
        <p:txBody>
          <a:bodyPr wrap="square" lIns="0" tIns="0" rIns="0" bIns="0" rtlCol="0" anchor="ctr"/>
          <a:lstStyle/>
          <a:p>
            <a:pPr indent="0" marL="0">
              <a:buNone/>
            </a:pPr>
            <a:r>
              <a:rPr lang="en-US" sz="3100" b="1" dirty="0">
                <a:solidFill>
                  <a:srgbClr val="16233A"/>
                </a:solidFill>
                <a:latin typeface="Calibri" pitchFamily="34" charset="0"/>
                <a:ea typeface="Calibri" pitchFamily="34" charset="-122"/>
                <a:cs typeface="Calibri" pitchFamily="34" charset="-120"/>
              </a:rPr>
              <a:t>Wire it into CI/CD</a:t>
            </a:r>
            <a:endParaRPr lang="en-US" sz="3100" dirty="0"/>
          </a:p>
        </p:txBody>
      </p:sp>
      <p:sp>
        <p:nvSpPr>
          <p:cNvPr id="4" name="Text 2"/>
          <p:cNvSpPr/>
          <p:nvPr/>
        </p:nvSpPr>
        <p:spPr>
          <a:xfrm>
            <a:off x="548640" y="1600200"/>
            <a:ext cx="11064240" cy="548640"/>
          </a:xfrm>
          <a:prstGeom prst="rect">
            <a:avLst/>
          </a:prstGeom>
          <a:noFill/>
          <a:ln/>
        </p:spPr>
        <p:txBody>
          <a:bodyPr wrap="square" lIns="0" tIns="0" rIns="0" bIns="0" rtlCol="0" anchor="ctr"/>
          <a:lstStyle/>
          <a:p>
            <a:pPr indent="0" marL="0">
              <a:buNone/>
            </a:pPr>
            <a:r>
              <a:rPr lang="en-US" sz="1500" dirty="0">
                <a:solidFill>
                  <a:srgbClr val="334155"/>
                </a:solidFill>
                <a:latin typeface="Calibri" pitchFamily="34" charset="0"/>
                <a:ea typeface="Calibri" pitchFamily="34" charset="-122"/>
                <a:cs typeface="Calibri" pitchFamily="34" charset="-120"/>
              </a:rPr>
              <a:t>Because s3-guard exits non-zero on risk, it can fail a pipeline before bad infrastructure ships.</a:t>
            </a:r>
            <a:endParaRPr lang="en-US" sz="1500" dirty="0"/>
          </a:p>
        </p:txBody>
      </p:sp>
      <p:sp>
        <p:nvSpPr>
          <p:cNvPr id="5" name="Shape 3"/>
          <p:cNvSpPr/>
          <p:nvPr/>
        </p:nvSpPr>
        <p:spPr>
          <a:xfrm>
            <a:off x="548640" y="2331720"/>
            <a:ext cx="11064240" cy="2240280"/>
          </a:xfrm>
          <a:prstGeom prst="roundRect">
            <a:avLst>
              <a:gd name="adj" fmla="val 3673"/>
            </a:avLst>
          </a:prstGeom>
          <a:solidFill>
            <a:srgbClr val="0F2747"/>
          </a:solidFill>
          <a:ln/>
          <a:effectLst>
            <a:outerShdw sx="100000" sy="100000" kx="0" ky="0" algn="bl" rotWithShape="0" blurRad="114300" dist="38100" dir="5400000">
              <a:srgbClr val="0A1F3C">
                <a:alpha val="16000"/>
              </a:srgbClr>
            </a:outerShdw>
          </a:effectLst>
        </p:spPr>
      </p:sp>
      <p:sp>
        <p:nvSpPr>
          <p:cNvPr id="6" name="Text 4"/>
          <p:cNvSpPr/>
          <p:nvPr/>
        </p:nvSpPr>
        <p:spPr>
          <a:xfrm>
            <a:off x="868680" y="2560320"/>
            <a:ext cx="10424160" cy="1737360"/>
          </a:xfrm>
          <a:prstGeom prst="rect">
            <a:avLst/>
          </a:prstGeom>
          <a:noFill/>
          <a:ln/>
        </p:spPr>
        <p:txBody>
          <a:bodyPr wrap="square" lIns="0" tIns="0" rIns="0" bIns="0" rtlCol="0" anchor="ctr"/>
          <a:lstStyle/>
          <a:p>
            <a:pPr indent="0" marL="0">
              <a:lnSpc>
                <a:spcPct val="120000"/>
              </a:lnSpc>
              <a:buNone/>
            </a:pPr>
            <a:r>
              <a:rPr lang="en-US" sz="1400" dirty="0">
                <a:solidFill>
                  <a:srgbClr val="7DD3FC"/>
                </a:solidFill>
                <a:latin typeface="Courier New" pitchFamily="34" charset="0"/>
                <a:ea typeface="Courier New" pitchFamily="34" charset="-122"/>
                <a:cs typeface="Courier New" pitchFamily="34" charset="-120"/>
              </a:rPr>
              <a:t># .github/workflows/security.yml</a:t>
            </a:r>
            <a:endParaRPr lang="en-US" sz="1400" dirty="0"/>
          </a:p>
          <a:p>
            <a:pPr indent="0" marL="0">
              <a:lnSpc>
                <a:spcPct val="120000"/>
              </a:lnSpc>
              <a:buNone/>
            </a:pPr>
            <a:r>
              <a:rPr lang="en-US" sz="1400" dirty="0">
                <a:solidFill>
                  <a:srgbClr val="ECEFF4"/>
                </a:solidFill>
                <a:latin typeface="Courier New" pitchFamily="34" charset="0"/>
                <a:ea typeface="Courier New" pitchFamily="34" charset="-122"/>
                <a:cs typeface="Courier New" pitchFamily="34" charset="-120"/>
              </a:rPr>
              <a:t>- run: pip install s3-guard</a:t>
            </a:r>
            <a:endParaRPr lang="en-US" sz="1400" dirty="0"/>
          </a:p>
          <a:p>
            <a:pPr indent="0" marL="0">
              <a:lnSpc>
                <a:spcPct val="120000"/>
              </a:lnSpc>
              <a:buNone/>
            </a:pPr>
            <a:r>
              <a:rPr lang="en-US" sz="1400" dirty="0">
                <a:solidFill>
                  <a:srgbClr val="FDE68A"/>
                </a:solidFill>
                <a:latin typeface="Courier New" pitchFamily="34" charset="0"/>
                <a:ea typeface="Courier New" pitchFamily="34" charset="-122"/>
                <a:cs typeface="Courier New" pitchFamily="34" charset="-120"/>
              </a:rPr>
              <a:t>- run: s3-guard scan --fail-level CRITICAL</a:t>
            </a:r>
            <a:endParaRPr lang="en-US" sz="1400" dirty="0"/>
          </a:p>
          <a:p>
            <a:pPr indent="0" marL="0">
              <a:lnSpc>
                <a:spcPct val="120000"/>
              </a:lnSpc>
              <a:buNone/>
            </a:pPr>
            <a:r>
              <a:rPr lang="en-US" sz="1400" dirty="0">
                <a:solidFill>
                  <a:srgbClr val="000000"/>
                </a:solidFill>
                <a:latin typeface="Courier New" pitchFamily="34" charset="0"/>
                <a:ea typeface="Courier New" pitchFamily="34" charset="-122"/>
                <a:cs typeface="Courier New" pitchFamily="34" charset="-120"/>
              </a:rPr>
              <a:t>                                  </a:t>
            </a:r>
            <a:endParaRPr lang="en-US" sz="1400" dirty="0"/>
          </a:p>
          <a:p>
            <a:pPr indent="0" marL="0">
              <a:lnSpc>
                <a:spcPct val="120000"/>
              </a:lnSpc>
              <a:buNone/>
            </a:pPr>
            <a:r>
              <a:rPr lang="en-US" sz="1400" dirty="0">
                <a:solidFill>
                  <a:srgbClr val="A7F3D0"/>
                </a:solidFill>
                <a:latin typeface="Courier New" pitchFamily="34" charset="0"/>
                <a:ea typeface="Courier New" pitchFamily="34" charset="-122"/>
                <a:cs typeface="Courier New" pitchFamily="34" charset="-120"/>
              </a:rPr>
              <a:t># build fails if any CRITICAL bucket is found  →  exit 1</a:t>
            </a:r>
            <a:endParaRPr lang="en-US" sz="1400" dirty="0"/>
          </a:p>
        </p:txBody>
      </p:sp>
      <p:sp>
        <p:nvSpPr>
          <p:cNvPr id="7" name="Text 5"/>
          <p:cNvSpPr/>
          <p:nvPr/>
        </p:nvSpPr>
        <p:spPr>
          <a:xfrm>
            <a:off x="548640" y="4892040"/>
            <a:ext cx="11064240" cy="457200"/>
          </a:xfrm>
          <a:prstGeom prst="rect">
            <a:avLst/>
          </a:prstGeom>
          <a:noFill/>
          <a:ln/>
        </p:spPr>
        <p:txBody>
          <a:bodyPr wrap="square" lIns="0" tIns="0" rIns="0" bIns="0" rtlCol="0" anchor="ctr"/>
          <a:lstStyle/>
          <a:p>
            <a:pPr algn="ctr" indent="0" marL="0">
              <a:buNone/>
            </a:pPr>
            <a:r>
              <a:rPr lang="en-US" sz="1500" b="1" i="1" dirty="0">
                <a:solidFill>
                  <a:srgbClr val="0D9488"/>
                </a:solidFill>
                <a:latin typeface="Calibri" pitchFamily="34" charset="0"/>
                <a:ea typeface="Calibri" pitchFamily="34" charset="-122"/>
                <a:cs typeface="Calibri" pitchFamily="34" charset="-120"/>
              </a:rPr>
              <a:t>This is how a 100-line tool becomes part of a real team's safety net.</a:t>
            </a:r>
            <a:endParaRPr lang="en-US" sz="1500" dirty="0"/>
          </a:p>
        </p:txBody>
      </p:sp>
      <p:sp>
        <p:nvSpPr>
          <p:cNvPr id="9" name="Text 6"/>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From User to Creator  •  Cloud Webinar</a:t>
            </a:r>
            <a:endParaRPr lang="en-US" sz="900" dirty="0"/>
          </a:p>
        </p:txBody>
      </p:sp>
      <p:sp>
        <p:nvSpPr>
          <p:cNvPr id="10" name="Text 7"/>
          <p:cNvSpPr/>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F3C"/>
        </a:solidFill>
      </p:bgPr>
    </p:bg>
    <p:spTree>
      <p:nvGrpSpPr>
        <p:cNvPr id="1" name=""/>
        <p:cNvGrpSpPr/>
        <p:nvPr/>
      </p:nvGrpSpPr>
      <p:grpSpPr>
        <a:xfrm>
          <a:off x="0" y="0"/>
          <a:ext cx="0" cy="0"/>
          <a:chOff x="0" y="0"/>
          <a:chExt cx="0" cy="0"/>
        </a:xfrm>
      </p:grpSpPr>
      <p:sp>
        <p:nvSpPr>
          <p:cNvPr id="2" name="Shape 0"/>
          <p:cNvSpPr/>
          <p:nvPr/>
        </p:nvSpPr>
        <p:spPr>
          <a:xfrm>
            <a:off x="-1463040" y="3291840"/>
            <a:ext cx="4754880" cy="4754880"/>
          </a:xfrm>
          <a:prstGeom prst="ellipse">
            <a:avLst/>
          </a:prstGeom>
          <a:solidFill>
            <a:srgbClr val="12284B"/>
          </a:solidFill>
          <a:ln/>
        </p:spPr>
      </p:sp>
      <p:sp>
        <p:nvSpPr>
          <p:cNvPr id="3" name="Shape 1"/>
          <p:cNvSpPr/>
          <p:nvPr/>
        </p:nvSpPr>
        <p:spPr>
          <a:xfrm>
            <a:off x="9692640" y="-2011680"/>
            <a:ext cx="4937760" cy="4937760"/>
          </a:xfrm>
          <a:prstGeom prst="ellipse">
            <a:avLst/>
          </a:prstGeom>
          <a:solidFill>
            <a:srgbClr val="12284B"/>
          </a:solidFill>
          <a:ln/>
        </p:spPr>
      </p:sp>
      <p:sp>
        <p:nvSpPr>
          <p:cNvPr id="4" name="Shape 2"/>
          <p:cNvSpPr/>
          <p:nvPr/>
        </p:nvSpPr>
        <p:spPr>
          <a:xfrm>
            <a:off x="822960" y="2286000"/>
            <a:ext cx="1280160" cy="1280160"/>
          </a:xfrm>
          <a:prstGeom prst="ellipse">
            <a:avLst/>
          </a:prstGeom>
          <a:solidFill>
            <a:srgbClr val="14B8A6"/>
          </a:solidFill>
          <a:ln/>
        </p:spPr>
      </p:sp>
      <p:sp>
        <p:nvSpPr>
          <p:cNvPr id="5" name="Text 3"/>
          <p:cNvSpPr/>
          <p:nvPr/>
        </p:nvSpPr>
        <p:spPr>
          <a:xfrm>
            <a:off x="822960" y="2286000"/>
            <a:ext cx="1280160" cy="1280160"/>
          </a:xfrm>
          <a:prstGeom prst="rect">
            <a:avLst/>
          </a:prstGeom>
          <a:noFill/>
          <a:ln/>
        </p:spPr>
        <p:txBody>
          <a:bodyPr wrap="square" lIns="0" tIns="0" rIns="0" bIns="0" rtlCol="0" anchor="ctr"/>
          <a:lstStyle/>
          <a:p>
            <a:pPr algn="ctr" indent="0" marL="0">
              <a:buNone/>
            </a:pPr>
            <a:r>
              <a:rPr lang="en-US" sz="4000" b="1" dirty="0">
                <a:solidFill>
                  <a:srgbClr val="0A1F3C"/>
                </a:solidFill>
                <a:latin typeface="Calibri" pitchFamily="34" charset="0"/>
                <a:ea typeface="Calibri" pitchFamily="34" charset="-122"/>
                <a:cs typeface="Calibri" pitchFamily="34" charset="-120"/>
              </a:rPr>
              <a:t>5</a:t>
            </a:r>
            <a:endParaRPr lang="en-US" sz="4000" dirty="0"/>
          </a:p>
        </p:txBody>
      </p:sp>
      <p:sp>
        <p:nvSpPr>
          <p:cNvPr id="6" name="Text 4"/>
          <p:cNvSpPr/>
          <p:nvPr/>
        </p:nvSpPr>
        <p:spPr>
          <a:xfrm>
            <a:off x="2468880" y="2331720"/>
            <a:ext cx="8229600" cy="365760"/>
          </a:xfrm>
          <a:prstGeom prst="rect">
            <a:avLst/>
          </a:prstGeom>
          <a:noFill/>
          <a:ln/>
        </p:spPr>
        <p:txBody>
          <a:bodyPr wrap="square" lIns="0" tIns="0" rIns="0" bIns="0" rtlCol="0" anchor="ctr"/>
          <a:lstStyle/>
          <a:p>
            <a:pPr indent="0" marL="0">
              <a:buNone/>
            </a:pPr>
            <a:r>
              <a:rPr lang="en-US" sz="1400" b="1" spc="200" kern="0" dirty="0">
                <a:solidFill>
                  <a:srgbClr val="14B8A6"/>
                </a:solidFill>
                <a:latin typeface="Calibri" pitchFamily="34" charset="0"/>
                <a:ea typeface="Calibri" pitchFamily="34" charset="-122"/>
                <a:cs typeface="Calibri" pitchFamily="34" charset="-120"/>
              </a:rPr>
              <a:t>SHIP IT</a:t>
            </a:r>
            <a:endParaRPr lang="en-US" sz="1400" dirty="0"/>
          </a:p>
        </p:txBody>
      </p:sp>
      <p:sp>
        <p:nvSpPr>
          <p:cNvPr id="7" name="Text 5"/>
          <p:cNvSpPr/>
          <p:nvPr/>
        </p:nvSpPr>
        <p:spPr>
          <a:xfrm>
            <a:off x="2468880" y="2697480"/>
            <a:ext cx="8961120" cy="128016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From code to community</a:t>
            </a:r>
            <a:endParaRPr lang="en-US" sz="4000" dirty="0"/>
          </a:p>
        </p:txBody>
      </p:sp>
      <p:sp>
        <p:nvSpPr>
          <p:cNvPr id="8" name="Text 6"/>
          <p:cNvSpPr/>
          <p:nvPr/>
        </p:nvSpPr>
        <p:spPr>
          <a:xfrm>
            <a:off x="2487168" y="3977640"/>
            <a:ext cx="8778240" cy="73152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A tool nobody can find helps nobody. Let's launch it properly.</a:t>
            </a:r>
            <a:endParaRPr lang="en-US" sz="1600" dirty="0"/>
          </a:p>
        </p:txBody>
      </p:sp>
      <p:sp>
        <p:nvSpPr>
          <p:cNvPr id="10" name="Text 7"/>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CADCFC"/>
                </a:solidFill>
                <a:latin typeface="Calibri" pitchFamily="34" charset="0"/>
                <a:ea typeface="Calibri" pitchFamily="34" charset="-122"/>
                <a:cs typeface="Calibri" pitchFamily="34" charset="-120"/>
              </a:rPr>
              <a:t>From User to Creator  •  Cloud Webinar</a:t>
            </a:r>
            <a:endParaRPr lang="en-US" sz="900" dirty="0"/>
          </a:p>
        </p:txBody>
      </p:sp>
      <p:sp>
        <p:nvSpPr>
          <p:cNvPr id="11" name="Text 8"/>
          <p:cNvSpPr/>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CADCFC"/>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320040"/>
          </a:xfrm>
          <a:prstGeom prst="rect">
            <a:avLst/>
          </a:prstGeom>
          <a:noFill/>
          <a:ln/>
        </p:spPr>
        <p:txBody>
          <a:bodyPr wrap="square" lIns="0" tIns="0" rIns="0" bIns="0" rtlCol="0" anchor="ctr"/>
          <a:lstStyle/>
          <a:p>
            <a:pPr indent="0" marL="0">
              <a:buNone/>
            </a:pPr>
            <a:r>
              <a:rPr lang="en-US" sz="1300" b="1" spc="200" kern="0" dirty="0">
                <a:solidFill>
                  <a:srgbClr val="0D9488"/>
                </a:solidFill>
                <a:latin typeface="Calibri" pitchFamily="34" charset="0"/>
                <a:ea typeface="Calibri" pitchFamily="34" charset="-122"/>
                <a:cs typeface="Calibri" pitchFamily="34" charset="-120"/>
              </a:rPr>
              <a:t>MAKE IT INSTALLABLE</a:t>
            </a:r>
            <a:endParaRPr lang="en-US" sz="1300" dirty="0"/>
          </a:p>
        </p:txBody>
      </p:sp>
      <p:sp>
        <p:nvSpPr>
          <p:cNvPr id="3" name="Text 1"/>
          <p:cNvSpPr/>
          <p:nvPr/>
        </p:nvSpPr>
        <p:spPr>
          <a:xfrm>
            <a:off x="548640" y="713232"/>
            <a:ext cx="11064240" cy="868680"/>
          </a:xfrm>
          <a:prstGeom prst="rect">
            <a:avLst/>
          </a:prstGeom>
          <a:noFill/>
          <a:ln/>
        </p:spPr>
        <p:txBody>
          <a:bodyPr wrap="square" lIns="0" tIns="0" rIns="0" bIns="0" rtlCol="0" anchor="ctr"/>
          <a:lstStyle/>
          <a:p>
            <a:pPr indent="0" marL="0">
              <a:buNone/>
            </a:pPr>
            <a:r>
              <a:rPr lang="en-US" sz="3100" b="1" dirty="0">
                <a:solidFill>
                  <a:srgbClr val="16233A"/>
                </a:solidFill>
                <a:latin typeface="Calibri" pitchFamily="34" charset="0"/>
                <a:ea typeface="Calibri" pitchFamily="34" charset="-122"/>
                <a:cs typeface="Calibri" pitchFamily="34" charset="-120"/>
              </a:rPr>
              <a:t>The launch checklist</a:t>
            </a:r>
            <a:endParaRPr lang="en-US" sz="3100" dirty="0"/>
          </a:p>
        </p:txBody>
      </p:sp>
      <p:sp>
        <p:nvSpPr>
          <p:cNvPr id="4" name="Shape 2"/>
          <p:cNvSpPr/>
          <p:nvPr/>
        </p:nvSpPr>
        <p:spPr>
          <a:xfrm>
            <a:off x="548640" y="1828800"/>
            <a:ext cx="3566160" cy="1783080"/>
          </a:xfrm>
          <a:prstGeom prst="roundRect">
            <a:avLst>
              <a:gd name="adj" fmla="val 4615"/>
            </a:avLst>
          </a:prstGeom>
          <a:solidFill>
            <a:srgbClr val="ECFDF5"/>
          </a:solidFill>
          <a:ln/>
          <a:effectLst>
            <a:outerShdw sx="100000" sy="100000" kx="0" ky="0" algn="bl" rotWithShape="0" blurRad="114300" dist="38100" dir="5400000">
              <a:srgbClr val="0A1F3C">
                <a:alpha val="16000"/>
              </a:srgbClr>
            </a:outerShdw>
          </a:effectLst>
        </p:spPr>
      </p:sp>
      <p:sp>
        <p:nvSpPr>
          <p:cNvPr id="5" name="Shape 3"/>
          <p:cNvSpPr/>
          <p:nvPr/>
        </p:nvSpPr>
        <p:spPr>
          <a:xfrm>
            <a:off x="822960" y="2121408"/>
            <a:ext cx="640080" cy="640080"/>
          </a:xfrm>
          <a:prstGeom prst="ellipse">
            <a:avLst/>
          </a:prstGeom>
          <a:solidFill>
            <a:srgbClr val="0D9488"/>
          </a:solidFill>
          <a:ln/>
        </p:spPr>
      </p:sp>
      <p:sp>
        <p:nvSpPr>
          <p:cNvPr id="6" name="Text 4"/>
          <p:cNvSpPr/>
          <p:nvPr/>
        </p:nvSpPr>
        <p:spPr>
          <a:xfrm>
            <a:off x="822960" y="2121408"/>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7" name="Text 5"/>
          <p:cNvSpPr/>
          <p:nvPr/>
        </p:nvSpPr>
        <p:spPr>
          <a:xfrm>
            <a:off x="1600200" y="2139696"/>
            <a:ext cx="2377440" cy="457200"/>
          </a:xfrm>
          <a:prstGeom prst="rect">
            <a:avLst/>
          </a:prstGeom>
          <a:noFill/>
          <a:ln/>
        </p:spPr>
        <p:txBody>
          <a:bodyPr wrap="square" lIns="0" tIns="0" rIns="0" bIns="0" rtlCol="0" anchor="ctr"/>
          <a:lstStyle/>
          <a:p>
            <a:pPr indent="0" marL="0">
              <a:buNone/>
            </a:pPr>
            <a:r>
              <a:rPr lang="en-US" sz="1650" b="1" dirty="0">
                <a:solidFill>
                  <a:srgbClr val="16233A"/>
                </a:solidFill>
                <a:latin typeface="Calibri" pitchFamily="34" charset="0"/>
                <a:ea typeface="Calibri" pitchFamily="34" charset="-122"/>
                <a:cs typeface="Calibri" pitchFamily="34" charset="-120"/>
              </a:rPr>
              <a:t>Push to GitHub</a:t>
            </a:r>
            <a:endParaRPr lang="en-US" sz="1650" dirty="0"/>
          </a:p>
        </p:txBody>
      </p:sp>
      <p:sp>
        <p:nvSpPr>
          <p:cNvPr id="8" name="Text 6"/>
          <p:cNvSpPr/>
          <p:nvPr/>
        </p:nvSpPr>
        <p:spPr>
          <a:xfrm>
            <a:off x="822960" y="2788920"/>
            <a:ext cx="3063240" cy="731520"/>
          </a:xfrm>
          <a:prstGeom prst="rect">
            <a:avLst/>
          </a:prstGeom>
          <a:noFill/>
          <a:ln/>
        </p:spPr>
        <p:txBody>
          <a:bodyPr wrap="square" lIns="0" tIns="0" rIns="0" bIns="0" rtlCol="0" anchor="ctr"/>
          <a:lstStyle/>
          <a:p>
            <a:pPr indent="0" marL="0">
              <a:buNone/>
            </a:pPr>
            <a:r>
              <a:rPr lang="en-US" sz="1250" dirty="0">
                <a:solidFill>
                  <a:srgbClr val="334155"/>
                </a:solidFill>
                <a:latin typeface="Calibri" pitchFamily="34" charset="0"/>
                <a:ea typeface="Calibri" pitchFamily="34" charset="-122"/>
                <a:cs typeface="Calibri" pitchFamily="34" charset="-120"/>
              </a:rPr>
              <a:t>Public repo, clear name, descriptive topics.</a:t>
            </a:r>
            <a:endParaRPr lang="en-US" sz="1250" dirty="0"/>
          </a:p>
        </p:txBody>
      </p:sp>
      <p:sp>
        <p:nvSpPr>
          <p:cNvPr id="9" name="Shape 7"/>
          <p:cNvSpPr/>
          <p:nvPr/>
        </p:nvSpPr>
        <p:spPr>
          <a:xfrm>
            <a:off x="4343400" y="1828800"/>
            <a:ext cx="3566160" cy="1783080"/>
          </a:xfrm>
          <a:prstGeom prst="roundRect">
            <a:avLst>
              <a:gd name="adj" fmla="val 4615"/>
            </a:avLst>
          </a:prstGeom>
          <a:solidFill>
            <a:srgbClr val="F1F5F9"/>
          </a:solidFill>
          <a:ln/>
          <a:effectLst>
            <a:outerShdw sx="100000" sy="100000" kx="0" ky="0" algn="bl" rotWithShape="0" blurRad="114300" dist="38100" dir="5400000">
              <a:srgbClr val="0A1F3C">
                <a:alpha val="16000"/>
              </a:srgbClr>
            </a:outerShdw>
          </a:effectLst>
        </p:spPr>
      </p:sp>
      <p:sp>
        <p:nvSpPr>
          <p:cNvPr id="10" name="Shape 8"/>
          <p:cNvSpPr/>
          <p:nvPr/>
        </p:nvSpPr>
        <p:spPr>
          <a:xfrm>
            <a:off x="4617720" y="2121408"/>
            <a:ext cx="640080" cy="640080"/>
          </a:xfrm>
          <a:prstGeom prst="ellipse">
            <a:avLst/>
          </a:prstGeom>
          <a:solidFill>
            <a:srgbClr val="0D9488"/>
          </a:solidFill>
          <a:ln/>
        </p:spPr>
      </p:sp>
      <p:sp>
        <p:nvSpPr>
          <p:cNvPr id="11" name="Text 9"/>
          <p:cNvSpPr/>
          <p:nvPr/>
        </p:nvSpPr>
        <p:spPr>
          <a:xfrm>
            <a:off x="4617720" y="2121408"/>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2" name="Text 10"/>
          <p:cNvSpPr/>
          <p:nvPr/>
        </p:nvSpPr>
        <p:spPr>
          <a:xfrm>
            <a:off x="5394960" y="2139696"/>
            <a:ext cx="2377440" cy="457200"/>
          </a:xfrm>
          <a:prstGeom prst="rect">
            <a:avLst/>
          </a:prstGeom>
          <a:noFill/>
          <a:ln/>
        </p:spPr>
        <p:txBody>
          <a:bodyPr wrap="square" lIns="0" tIns="0" rIns="0" bIns="0" rtlCol="0" anchor="ctr"/>
          <a:lstStyle/>
          <a:p>
            <a:pPr indent="0" marL="0">
              <a:buNone/>
            </a:pPr>
            <a:r>
              <a:rPr lang="en-US" sz="1650" b="1" dirty="0">
                <a:solidFill>
                  <a:srgbClr val="16233A"/>
                </a:solidFill>
                <a:latin typeface="Calibri" pitchFamily="34" charset="0"/>
                <a:ea typeface="Calibri" pitchFamily="34" charset="-122"/>
                <a:cs typeface="Calibri" pitchFamily="34" charset="-120"/>
              </a:rPr>
              <a:t>Add a LICENSE</a:t>
            </a:r>
            <a:endParaRPr lang="en-US" sz="1650" dirty="0"/>
          </a:p>
        </p:txBody>
      </p:sp>
      <p:sp>
        <p:nvSpPr>
          <p:cNvPr id="13" name="Text 11"/>
          <p:cNvSpPr/>
          <p:nvPr/>
        </p:nvSpPr>
        <p:spPr>
          <a:xfrm>
            <a:off x="4617720" y="2788920"/>
            <a:ext cx="3063240" cy="731520"/>
          </a:xfrm>
          <a:prstGeom prst="rect">
            <a:avLst/>
          </a:prstGeom>
          <a:noFill/>
          <a:ln/>
        </p:spPr>
        <p:txBody>
          <a:bodyPr wrap="square" lIns="0" tIns="0" rIns="0" bIns="0" rtlCol="0" anchor="ctr"/>
          <a:lstStyle/>
          <a:p>
            <a:pPr indent="0" marL="0">
              <a:buNone/>
            </a:pPr>
            <a:r>
              <a:rPr lang="en-US" sz="1250" dirty="0">
                <a:solidFill>
                  <a:srgbClr val="334155"/>
                </a:solidFill>
                <a:latin typeface="Calibri" pitchFamily="34" charset="0"/>
                <a:ea typeface="Calibri" pitchFamily="34" charset="-122"/>
                <a:cs typeface="Calibri" pitchFamily="34" charset="-120"/>
              </a:rPr>
              <a:t>MIT keeps it simple and adoption-friendly.</a:t>
            </a:r>
            <a:endParaRPr lang="en-US" sz="1250" dirty="0"/>
          </a:p>
        </p:txBody>
      </p:sp>
      <p:sp>
        <p:nvSpPr>
          <p:cNvPr id="14" name="Shape 12"/>
          <p:cNvSpPr/>
          <p:nvPr/>
        </p:nvSpPr>
        <p:spPr>
          <a:xfrm>
            <a:off x="8138160" y="1828800"/>
            <a:ext cx="3566160" cy="1783080"/>
          </a:xfrm>
          <a:prstGeom prst="roundRect">
            <a:avLst>
              <a:gd name="adj" fmla="val 4615"/>
            </a:avLst>
          </a:prstGeom>
          <a:solidFill>
            <a:srgbClr val="ECFDF5"/>
          </a:solidFill>
          <a:ln/>
          <a:effectLst>
            <a:outerShdw sx="100000" sy="100000" kx="0" ky="0" algn="bl" rotWithShape="0" blurRad="114300" dist="38100" dir="5400000">
              <a:srgbClr val="0A1F3C">
                <a:alpha val="16000"/>
              </a:srgbClr>
            </a:outerShdw>
          </a:effectLst>
        </p:spPr>
      </p:sp>
      <p:sp>
        <p:nvSpPr>
          <p:cNvPr id="15" name="Shape 13"/>
          <p:cNvSpPr/>
          <p:nvPr/>
        </p:nvSpPr>
        <p:spPr>
          <a:xfrm>
            <a:off x="8412480" y="2121408"/>
            <a:ext cx="640080" cy="640080"/>
          </a:xfrm>
          <a:prstGeom prst="ellipse">
            <a:avLst/>
          </a:prstGeom>
          <a:solidFill>
            <a:srgbClr val="0D9488"/>
          </a:solidFill>
          <a:ln/>
        </p:spPr>
      </p:sp>
      <p:sp>
        <p:nvSpPr>
          <p:cNvPr id="16" name="Text 14"/>
          <p:cNvSpPr/>
          <p:nvPr/>
        </p:nvSpPr>
        <p:spPr>
          <a:xfrm>
            <a:off x="8412480" y="2121408"/>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7" name="Text 15"/>
          <p:cNvSpPr/>
          <p:nvPr/>
        </p:nvSpPr>
        <p:spPr>
          <a:xfrm>
            <a:off x="9189720" y="2139696"/>
            <a:ext cx="2377440" cy="457200"/>
          </a:xfrm>
          <a:prstGeom prst="rect">
            <a:avLst/>
          </a:prstGeom>
          <a:noFill/>
          <a:ln/>
        </p:spPr>
        <p:txBody>
          <a:bodyPr wrap="square" lIns="0" tIns="0" rIns="0" bIns="0" rtlCol="0" anchor="ctr"/>
          <a:lstStyle/>
          <a:p>
            <a:pPr indent="0" marL="0">
              <a:buNone/>
            </a:pPr>
            <a:r>
              <a:rPr lang="en-US" sz="1650" b="1" dirty="0">
                <a:solidFill>
                  <a:srgbClr val="16233A"/>
                </a:solidFill>
                <a:latin typeface="Calibri" pitchFamily="34" charset="0"/>
                <a:ea typeface="Calibri" pitchFamily="34" charset="-122"/>
                <a:cs typeface="Calibri" pitchFamily="34" charset="-120"/>
              </a:rPr>
              <a:t>Write the README</a:t>
            </a:r>
            <a:endParaRPr lang="en-US" sz="1650" dirty="0"/>
          </a:p>
        </p:txBody>
      </p:sp>
      <p:sp>
        <p:nvSpPr>
          <p:cNvPr id="18" name="Text 16"/>
          <p:cNvSpPr/>
          <p:nvPr/>
        </p:nvSpPr>
        <p:spPr>
          <a:xfrm>
            <a:off x="8412480" y="2788920"/>
            <a:ext cx="3063240" cy="731520"/>
          </a:xfrm>
          <a:prstGeom prst="rect">
            <a:avLst/>
          </a:prstGeom>
          <a:noFill/>
          <a:ln/>
        </p:spPr>
        <p:txBody>
          <a:bodyPr wrap="square" lIns="0" tIns="0" rIns="0" bIns="0" rtlCol="0" anchor="ctr"/>
          <a:lstStyle/>
          <a:p>
            <a:pPr indent="0" marL="0">
              <a:buNone/>
            </a:pPr>
            <a:r>
              <a:rPr lang="en-US" sz="1250" dirty="0">
                <a:solidFill>
                  <a:srgbClr val="334155"/>
                </a:solidFill>
                <a:latin typeface="Calibri" pitchFamily="34" charset="0"/>
                <a:ea typeface="Calibri" pitchFamily="34" charset="-122"/>
                <a:cs typeface="Calibri" pitchFamily="34" charset="-120"/>
              </a:rPr>
              <a:t>What, why, install, usage, a screenshot.</a:t>
            </a:r>
            <a:endParaRPr lang="en-US" sz="1250" dirty="0"/>
          </a:p>
        </p:txBody>
      </p:sp>
      <p:sp>
        <p:nvSpPr>
          <p:cNvPr id="19" name="Shape 17"/>
          <p:cNvSpPr/>
          <p:nvPr/>
        </p:nvSpPr>
        <p:spPr>
          <a:xfrm>
            <a:off x="548640" y="3886200"/>
            <a:ext cx="3566160" cy="1783080"/>
          </a:xfrm>
          <a:prstGeom prst="roundRect">
            <a:avLst>
              <a:gd name="adj" fmla="val 4615"/>
            </a:avLst>
          </a:prstGeom>
          <a:solidFill>
            <a:srgbClr val="F1F5F9"/>
          </a:solidFill>
          <a:ln/>
          <a:effectLst>
            <a:outerShdw sx="100000" sy="100000" kx="0" ky="0" algn="bl" rotWithShape="0" blurRad="114300" dist="38100" dir="5400000">
              <a:srgbClr val="0A1F3C">
                <a:alpha val="16000"/>
              </a:srgbClr>
            </a:outerShdw>
          </a:effectLst>
        </p:spPr>
      </p:sp>
      <p:sp>
        <p:nvSpPr>
          <p:cNvPr id="20" name="Shape 18"/>
          <p:cNvSpPr/>
          <p:nvPr/>
        </p:nvSpPr>
        <p:spPr>
          <a:xfrm>
            <a:off x="822960" y="4178808"/>
            <a:ext cx="640080" cy="640080"/>
          </a:xfrm>
          <a:prstGeom prst="ellipse">
            <a:avLst/>
          </a:prstGeom>
          <a:solidFill>
            <a:srgbClr val="0D9488"/>
          </a:solidFill>
          <a:ln/>
        </p:spPr>
      </p:sp>
      <p:sp>
        <p:nvSpPr>
          <p:cNvPr id="21" name="Text 19"/>
          <p:cNvSpPr/>
          <p:nvPr/>
        </p:nvSpPr>
        <p:spPr>
          <a:xfrm>
            <a:off x="822960" y="4178808"/>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2" name="Text 20"/>
          <p:cNvSpPr/>
          <p:nvPr/>
        </p:nvSpPr>
        <p:spPr>
          <a:xfrm>
            <a:off x="1600200" y="4197096"/>
            <a:ext cx="2377440" cy="457200"/>
          </a:xfrm>
          <a:prstGeom prst="rect">
            <a:avLst/>
          </a:prstGeom>
          <a:noFill/>
          <a:ln/>
        </p:spPr>
        <p:txBody>
          <a:bodyPr wrap="square" lIns="0" tIns="0" rIns="0" bIns="0" rtlCol="0" anchor="ctr"/>
          <a:lstStyle/>
          <a:p>
            <a:pPr indent="0" marL="0">
              <a:buNone/>
            </a:pPr>
            <a:r>
              <a:rPr lang="en-US" sz="1650" b="1" dirty="0">
                <a:solidFill>
                  <a:srgbClr val="16233A"/>
                </a:solidFill>
                <a:latin typeface="Calibri" pitchFamily="34" charset="0"/>
                <a:ea typeface="Calibri" pitchFamily="34" charset="-122"/>
                <a:cs typeface="Calibri" pitchFamily="34" charset="-120"/>
              </a:rPr>
              <a:t>Package it</a:t>
            </a:r>
            <a:endParaRPr lang="en-US" sz="1650" dirty="0"/>
          </a:p>
        </p:txBody>
      </p:sp>
      <p:sp>
        <p:nvSpPr>
          <p:cNvPr id="23" name="Text 21"/>
          <p:cNvSpPr/>
          <p:nvPr/>
        </p:nvSpPr>
        <p:spPr>
          <a:xfrm>
            <a:off x="822960" y="4846320"/>
            <a:ext cx="3063240" cy="731520"/>
          </a:xfrm>
          <a:prstGeom prst="rect">
            <a:avLst/>
          </a:prstGeom>
          <a:noFill/>
          <a:ln/>
        </p:spPr>
        <p:txBody>
          <a:bodyPr wrap="square" lIns="0" tIns="0" rIns="0" bIns="0" rtlCol="0" anchor="ctr"/>
          <a:lstStyle/>
          <a:p>
            <a:pPr indent="0" marL="0">
              <a:buNone/>
            </a:pPr>
            <a:r>
              <a:rPr lang="en-US" sz="1250" dirty="0">
                <a:solidFill>
                  <a:srgbClr val="334155"/>
                </a:solidFill>
                <a:latin typeface="Calibri" pitchFamily="34" charset="0"/>
                <a:ea typeface="Calibri" pitchFamily="34" charset="-122"/>
                <a:cs typeface="Calibri" pitchFamily="34" charset="-120"/>
              </a:rPr>
              <a:t>pyproject.toml → pip install your-tool.</a:t>
            </a:r>
            <a:endParaRPr lang="en-US" sz="1250" dirty="0"/>
          </a:p>
        </p:txBody>
      </p:sp>
      <p:sp>
        <p:nvSpPr>
          <p:cNvPr id="24" name="Shape 22"/>
          <p:cNvSpPr/>
          <p:nvPr/>
        </p:nvSpPr>
        <p:spPr>
          <a:xfrm>
            <a:off x="4343400" y="3886200"/>
            <a:ext cx="3566160" cy="1783080"/>
          </a:xfrm>
          <a:prstGeom prst="roundRect">
            <a:avLst>
              <a:gd name="adj" fmla="val 4615"/>
            </a:avLst>
          </a:prstGeom>
          <a:solidFill>
            <a:srgbClr val="ECFDF5"/>
          </a:solidFill>
          <a:ln/>
          <a:effectLst>
            <a:outerShdw sx="100000" sy="100000" kx="0" ky="0" algn="bl" rotWithShape="0" blurRad="114300" dist="38100" dir="5400000">
              <a:srgbClr val="0A1F3C">
                <a:alpha val="16000"/>
              </a:srgbClr>
            </a:outerShdw>
          </a:effectLst>
        </p:spPr>
      </p:sp>
      <p:sp>
        <p:nvSpPr>
          <p:cNvPr id="25" name="Shape 23"/>
          <p:cNvSpPr/>
          <p:nvPr/>
        </p:nvSpPr>
        <p:spPr>
          <a:xfrm>
            <a:off x="4617720" y="4178808"/>
            <a:ext cx="640080" cy="640080"/>
          </a:xfrm>
          <a:prstGeom prst="ellipse">
            <a:avLst/>
          </a:prstGeom>
          <a:solidFill>
            <a:srgbClr val="0D9488"/>
          </a:solidFill>
          <a:ln/>
        </p:spPr>
      </p:sp>
      <p:sp>
        <p:nvSpPr>
          <p:cNvPr id="26" name="Text 24"/>
          <p:cNvSpPr/>
          <p:nvPr/>
        </p:nvSpPr>
        <p:spPr>
          <a:xfrm>
            <a:off x="4617720" y="4178808"/>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27" name="Text 25"/>
          <p:cNvSpPr/>
          <p:nvPr/>
        </p:nvSpPr>
        <p:spPr>
          <a:xfrm>
            <a:off x="5394960" y="4197096"/>
            <a:ext cx="2377440" cy="457200"/>
          </a:xfrm>
          <a:prstGeom prst="rect">
            <a:avLst/>
          </a:prstGeom>
          <a:noFill/>
          <a:ln/>
        </p:spPr>
        <p:txBody>
          <a:bodyPr wrap="square" lIns="0" tIns="0" rIns="0" bIns="0" rtlCol="0" anchor="ctr"/>
          <a:lstStyle/>
          <a:p>
            <a:pPr indent="0" marL="0">
              <a:buNone/>
            </a:pPr>
            <a:r>
              <a:rPr lang="en-US" sz="1650" b="1" dirty="0">
                <a:solidFill>
                  <a:srgbClr val="16233A"/>
                </a:solidFill>
                <a:latin typeface="Calibri" pitchFamily="34" charset="0"/>
                <a:ea typeface="Calibri" pitchFamily="34" charset="-122"/>
                <a:cs typeface="Calibri" pitchFamily="34" charset="-120"/>
              </a:rPr>
              <a:t>Add CI</a:t>
            </a:r>
            <a:endParaRPr lang="en-US" sz="1650" dirty="0"/>
          </a:p>
        </p:txBody>
      </p:sp>
      <p:sp>
        <p:nvSpPr>
          <p:cNvPr id="28" name="Text 26"/>
          <p:cNvSpPr/>
          <p:nvPr/>
        </p:nvSpPr>
        <p:spPr>
          <a:xfrm>
            <a:off x="4617720" y="4846320"/>
            <a:ext cx="3063240" cy="731520"/>
          </a:xfrm>
          <a:prstGeom prst="rect">
            <a:avLst/>
          </a:prstGeom>
          <a:noFill/>
          <a:ln/>
        </p:spPr>
        <p:txBody>
          <a:bodyPr wrap="square" lIns="0" tIns="0" rIns="0" bIns="0" rtlCol="0" anchor="ctr"/>
          <a:lstStyle/>
          <a:p>
            <a:pPr indent="0" marL="0">
              <a:buNone/>
            </a:pPr>
            <a:r>
              <a:rPr lang="en-US" sz="1250" dirty="0">
                <a:solidFill>
                  <a:srgbClr val="334155"/>
                </a:solidFill>
                <a:latin typeface="Calibri" pitchFamily="34" charset="0"/>
                <a:ea typeface="Calibri" pitchFamily="34" charset="-122"/>
                <a:cs typeface="Calibri" pitchFamily="34" charset="-120"/>
              </a:rPr>
              <a:t>Tests on every push build trust.</a:t>
            </a:r>
            <a:endParaRPr lang="en-US" sz="1250" dirty="0"/>
          </a:p>
        </p:txBody>
      </p:sp>
      <p:sp>
        <p:nvSpPr>
          <p:cNvPr id="29" name="Shape 27"/>
          <p:cNvSpPr/>
          <p:nvPr/>
        </p:nvSpPr>
        <p:spPr>
          <a:xfrm>
            <a:off x="8138160" y="3886200"/>
            <a:ext cx="3566160" cy="1783080"/>
          </a:xfrm>
          <a:prstGeom prst="roundRect">
            <a:avLst>
              <a:gd name="adj" fmla="val 4615"/>
            </a:avLst>
          </a:prstGeom>
          <a:solidFill>
            <a:srgbClr val="F1F5F9"/>
          </a:solidFill>
          <a:ln/>
          <a:effectLst>
            <a:outerShdw sx="100000" sy="100000" kx="0" ky="0" algn="bl" rotWithShape="0" blurRad="114300" dist="38100" dir="5400000">
              <a:srgbClr val="0A1F3C">
                <a:alpha val="16000"/>
              </a:srgbClr>
            </a:outerShdw>
          </a:effectLst>
        </p:spPr>
      </p:sp>
      <p:sp>
        <p:nvSpPr>
          <p:cNvPr id="30" name="Shape 28"/>
          <p:cNvSpPr/>
          <p:nvPr/>
        </p:nvSpPr>
        <p:spPr>
          <a:xfrm>
            <a:off x="8412480" y="4178808"/>
            <a:ext cx="640080" cy="640080"/>
          </a:xfrm>
          <a:prstGeom prst="ellipse">
            <a:avLst/>
          </a:prstGeom>
          <a:solidFill>
            <a:srgbClr val="0D9488"/>
          </a:solidFill>
          <a:ln/>
        </p:spPr>
      </p:sp>
      <p:sp>
        <p:nvSpPr>
          <p:cNvPr id="31" name="Text 29"/>
          <p:cNvSpPr/>
          <p:nvPr/>
        </p:nvSpPr>
        <p:spPr>
          <a:xfrm>
            <a:off x="8412480" y="4178808"/>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6</a:t>
            </a:r>
            <a:endParaRPr lang="en-US" sz="2000" dirty="0"/>
          </a:p>
        </p:txBody>
      </p:sp>
      <p:sp>
        <p:nvSpPr>
          <p:cNvPr id="32" name="Text 30"/>
          <p:cNvSpPr/>
          <p:nvPr/>
        </p:nvSpPr>
        <p:spPr>
          <a:xfrm>
            <a:off x="9189720" y="4197096"/>
            <a:ext cx="2377440" cy="457200"/>
          </a:xfrm>
          <a:prstGeom prst="rect">
            <a:avLst/>
          </a:prstGeom>
          <a:noFill/>
          <a:ln/>
        </p:spPr>
        <p:txBody>
          <a:bodyPr wrap="square" lIns="0" tIns="0" rIns="0" bIns="0" rtlCol="0" anchor="ctr"/>
          <a:lstStyle/>
          <a:p>
            <a:pPr indent="0" marL="0">
              <a:buNone/>
            </a:pPr>
            <a:r>
              <a:rPr lang="en-US" sz="1650" b="1" dirty="0">
                <a:solidFill>
                  <a:srgbClr val="16233A"/>
                </a:solidFill>
                <a:latin typeface="Calibri" pitchFamily="34" charset="0"/>
                <a:ea typeface="Calibri" pitchFamily="34" charset="-122"/>
                <a:cs typeface="Calibri" pitchFamily="34" charset="-120"/>
              </a:rPr>
              <a:t>Announce it</a:t>
            </a:r>
            <a:endParaRPr lang="en-US" sz="1650" dirty="0"/>
          </a:p>
        </p:txBody>
      </p:sp>
      <p:sp>
        <p:nvSpPr>
          <p:cNvPr id="33" name="Text 31"/>
          <p:cNvSpPr/>
          <p:nvPr/>
        </p:nvSpPr>
        <p:spPr>
          <a:xfrm>
            <a:off x="8412480" y="4846320"/>
            <a:ext cx="3063240" cy="731520"/>
          </a:xfrm>
          <a:prstGeom prst="rect">
            <a:avLst/>
          </a:prstGeom>
          <a:noFill/>
          <a:ln/>
        </p:spPr>
        <p:txBody>
          <a:bodyPr wrap="square" lIns="0" tIns="0" rIns="0" bIns="0" rtlCol="0" anchor="ctr"/>
          <a:lstStyle/>
          <a:p>
            <a:pPr indent="0" marL="0">
              <a:buNone/>
            </a:pPr>
            <a:r>
              <a:rPr lang="en-US" sz="1250" dirty="0">
                <a:solidFill>
                  <a:srgbClr val="334155"/>
                </a:solidFill>
                <a:latin typeface="Calibri" pitchFamily="34" charset="0"/>
                <a:ea typeface="Calibri" pitchFamily="34" charset="-122"/>
                <a:cs typeface="Calibri" pitchFamily="34" charset="-120"/>
              </a:rPr>
              <a:t>LinkedIn, X, communities — invite contributors.</a:t>
            </a:r>
            <a:endParaRPr lang="en-US" sz="1250" dirty="0"/>
          </a:p>
        </p:txBody>
      </p:sp>
      <p:sp>
        <p:nvSpPr>
          <p:cNvPr id="35" name="Text 32"/>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From User to Creator  •  Cloud Webinar</a:t>
            </a:r>
            <a:endParaRPr lang="en-US" sz="900" dirty="0"/>
          </a:p>
        </p:txBody>
      </p:sp>
      <p:sp>
        <p:nvSpPr>
          <p:cNvPr id="36" name="Text 33"/>
          <p:cNvSpPr/>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320040"/>
          </a:xfrm>
          <a:prstGeom prst="rect">
            <a:avLst/>
          </a:prstGeom>
          <a:noFill/>
          <a:ln/>
        </p:spPr>
        <p:txBody>
          <a:bodyPr wrap="square" lIns="0" tIns="0" rIns="0" bIns="0" rtlCol="0" anchor="ctr"/>
          <a:lstStyle/>
          <a:p>
            <a:pPr indent="0" marL="0">
              <a:buNone/>
            </a:pPr>
            <a:r>
              <a:rPr lang="en-US" sz="1300" b="1" spc="200" kern="0" dirty="0">
                <a:solidFill>
                  <a:srgbClr val="0D9488"/>
                </a:solidFill>
                <a:latin typeface="Calibri" pitchFamily="34" charset="0"/>
                <a:ea typeface="Calibri" pitchFamily="34" charset="-122"/>
                <a:cs typeface="Calibri" pitchFamily="34" charset="-120"/>
              </a:rPr>
              <a:t>YOUR MOST IMPORTANT FILE</a:t>
            </a:r>
            <a:endParaRPr lang="en-US" sz="1300" dirty="0"/>
          </a:p>
        </p:txBody>
      </p:sp>
      <p:sp>
        <p:nvSpPr>
          <p:cNvPr id="3" name="Text 1"/>
          <p:cNvSpPr/>
          <p:nvPr/>
        </p:nvSpPr>
        <p:spPr>
          <a:xfrm>
            <a:off x="548640" y="713232"/>
            <a:ext cx="11064240" cy="868680"/>
          </a:xfrm>
          <a:prstGeom prst="rect">
            <a:avLst/>
          </a:prstGeom>
          <a:noFill/>
          <a:ln/>
        </p:spPr>
        <p:txBody>
          <a:bodyPr wrap="square" lIns="0" tIns="0" rIns="0" bIns="0" rtlCol="0" anchor="ctr"/>
          <a:lstStyle/>
          <a:p>
            <a:pPr indent="0" marL="0">
              <a:buNone/>
            </a:pPr>
            <a:r>
              <a:rPr lang="en-US" sz="3100" b="1" dirty="0">
                <a:solidFill>
                  <a:srgbClr val="16233A"/>
                </a:solidFill>
                <a:latin typeface="Calibri" pitchFamily="34" charset="0"/>
                <a:ea typeface="Calibri" pitchFamily="34" charset="-122"/>
                <a:cs typeface="Calibri" pitchFamily="34" charset="-120"/>
              </a:rPr>
              <a:t>The README is ~50% of adoption</a:t>
            </a:r>
            <a:endParaRPr lang="en-US" sz="3100" dirty="0"/>
          </a:p>
        </p:txBody>
      </p:sp>
      <p:sp>
        <p:nvSpPr>
          <p:cNvPr id="4" name="Shape 2"/>
          <p:cNvSpPr/>
          <p:nvPr/>
        </p:nvSpPr>
        <p:spPr>
          <a:xfrm>
            <a:off x="548640" y="1828800"/>
            <a:ext cx="5394960" cy="3931920"/>
          </a:xfrm>
          <a:prstGeom prst="roundRect">
            <a:avLst>
              <a:gd name="adj" fmla="val 2093"/>
            </a:avLst>
          </a:prstGeom>
          <a:solidFill>
            <a:srgbClr val="F1F5F9"/>
          </a:solidFill>
          <a:ln/>
          <a:effectLst>
            <a:outerShdw sx="100000" sy="100000" kx="0" ky="0" algn="bl" rotWithShape="0" blurRad="114300" dist="38100" dir="5400000">
              <a:srgbClr val="0A1F3C">
                <a:alpha val="16000"/>
              </a:srgbClr>
            </a:outerShdw>
          </a:effectLst>
        </p:spPr>
      </p:sp>
      <p:sp>
        <p:nvSpPr>
          <p:cNvPr id="5" name="Text 3"/>
          <p:cNvSpPr/>
          <p:nvPr/>
        </p:nvSpPr>
        <p:spPr>
          <a:xfrm>
            <a:off x="868680" y="2103120"/>
            <a:ext cx="4754880" cy="457200"/>
          </a:xfrm>
          <a:prstGeom prst="rect">
            <a:avLst/>
          </a:prstGeom>
          <a:noFill/>
          <a:ln/>
        </p:spPr>
        <p:txBody>
          <a:bodyPr wrap="square" lIns="0" tIns="0" rIns="0" bIns="0" rtlCol="0" anchor="ctr"/>
          <a:lstStyle/>
          <a:p>
            <a:pPr indent="0" marL="0">
              <a:buNone/>
            </a:pPr>
            <a:r>
              <a:rPr lang="en-US" sz="1700" b="1" dirty="0">
                <a:solidFill>
                  <a:srgbClr val="16233A"/>
                </a:solidFill>
                <a:latin typeface="Calibri" pitchFamily="34" charset="0"/>
                <a:ea typeface="Calibri" pitchFamily="34" charset="-122"/>
                <a:cs typeface="Calibri" pitchFamily="34" charset="-120"/>
              </a:rPr>
              <a:t>A great README answers, fast:</a:t>
            </a:r>
            <a:endParaRPr lang="en-US" sz="1700" dirty="0"/>
          </a:p>
        </p:txBody>
      </p:sp>
      <p:sp>
        <p:nvSpPr>
          <p:cNvPr id="6" name="Text 4"/>
          <p:cNvSpPr/>
          <p:nvPr/>
        </p:nvSpPr>
        <p:spPr>
          <a:xfrm>
            <a:off x="914400" y="2697480"/>
            <a:ext cx="4846320" cy="2926080"/>
          </a:xfrm>
          <a:prstGeom prst="rect">
            <a:avLst/>
          </a:prstGeom>
          <a:noFill/>
          <a:ln/>
        </p:spPr>
        <p:txBody>
          <a:bodyPr wrap="square" lIns="0" tIns="0" rIns="0" bIns="0" rtlCol="0" anchor="ctr"/>
          <a:lstStyle/>
          <a:p>
            <a:pPr marL="342900" indent="-342900">
              <a:spcAft>
                <a:spcPts val="1200"/>
              </a:spcAft>
              <a:buSzPct val="100000"/>
              <a:buChar char="•"/>
            </a:pPr>
            <a:r>
              <a:rPr lang="en-US" sz="1450" dirty="0">
                <a:solidFill>
                  <a:srgbClr val="334155"/>
                </a:solidFill>
                <a:latin typeface="Calibri" pitchFamily="34" charset="0"/>
                <a:ea typeface="Calibri" pitchFamily="34" charset="-122"/>
                <a:cs typeface="Calibri" pitchFamily="34" charset="-120"/>
              </a:rPr>
              <a:t>What is this? (one sentence)</a:t>
            </a:r>
            <a:endParaRPr lang="en-US" sz="1450" dirty="0"/>
          </a:p>
          <a:p>
            <a:pPr marL="342900" indent="-342900">
              <a:spcAft>
                <a:spcPts val="1200"/>
              </a:spcAft>
              <a:buSzPct val="100000"/>
              <a:buChar char="•"/>
            </a:pPr>
            <a:r>
              <a:rPr lang="en-US" sz="1450" dirty="0">
                <a:solidFill>
                  <a:srgbClr val="334155"/>
                </a:solidFill>
                <a:latin typeface="Calibri" pitchFamily="34" charset="0"/>
                <a:ea typeface="Calibri" pitchFamily="34" charset="-122"/>
                <a:cs typeface="Calibri" pitchFamily="34" charset="-120"/>
              </a:rPr>
              <a:t>Why should I care? (the pain)</a:t>
            </a:r>
            <a:endParaRPr lang="en-US" sz="1450" dirty="0"/>
          </a:p>
          <a:p>
            <a:pPr marL="342900" indent="-342900">
              <a:spcAft>
                <a:spcPts val="1200"/>
              </a:spcAft>
              <a:buSzPct val="100000"/>
              <a:buChar char="•"/>
            </a:pPr>
            <a:r>
              <a:rPr lang="en-US" sz="1450" dirty="0">
                <a:solidFill>
                  <a:srgbClr val="334155"/>
                </a:solidFill>
                <a:latin typeface="Calibri" pitchFamily="34" charset="0"/>
                <a:ea typeface="Calibri" pitchFamily="34" charset="-122"/>
                <a:cs typeface="Calibri" pitchFamily="34" charset="-120"/>
              </a:rPr>
              <a:t>How do I install it? (one command)</a:t>
            </a:r>
            <a:endParaRPr lang="en-US" sz="1450" dirty="0"/>
          </a:p>
          <a:p>
            <a:pPr marL="342900" indent="-342900">
              <a:spcAft>
                <a:spcPts val="1200"/>
              </a:spcAft>
              <a:buSzPct val="100000"/>
              <a:buChar char="•"/>
            </a:pPr>
            <a:r>
              <a:rPr lang="en-US" sz="1450" dirty="0">
                <a:solidFill>
                  <a:srgbClr val="334155"/>
                </a:solidFill>
                <a:latin typeface="Calibri" pitchFamily="34" charset="0"/>
                <a:ea typeface="Calibri" pitchFamily="34" charset="-122"/>
                <a:cs typeface="Calibri" pitchFamily="34" charset="-120"/>
              </a:rPr>
              <a:t>How do I use it? (copy-paste example)</a:t>
            </a:r>
            <a:endParaRPr lang="en-US" sz="1450" dirty="0"/>
          </a:p>
          <a:p>
            <a:pPr marL="342900" indent="-342900">
              <a:spcAft>
                <a:spcPts val="1200"/>
              </a:spcAft>
              <a:buSzPct val="100000"/>
              <a:buChar char="•"/>
            </a:pPr>
            <a:r>
              <a:rPr lang="en-US" sz="1450" dirty="0">
                <a:solidFill>
                  <a:srgbClr val="334155"/>
                </a:solidFill>
                <a:latin typeface="Calibri" pitchFamily="34" charset="0"/>
                <a:ea typeface="Calibri" pitchFamily="34" charset="-122"/>
                <a:cs typeface="Calibri" pitchFamily="34" charset="-120"/>
              </a:rPr>
              <a:t>Show me. (a screenshot or output)</a:t>
            </a:r>
            <a:endParaRPr lang="en-US" sz="1450" dirty="0"/>
          </a:p>
        </p:txBody>
      </p:sp>
      <p:sp>
        <p:nvSpPr>
          <p:cNvPr id="7" name="Shape 5"/>
          <p:cNvSpPr/>
          <p:nvPr/>
        </p:nvSpPr>
        <p:spPr>
          <a:xfrm>
            <a:off x="6172200" y="1828800"/>
            <a:ext cx="5440680" cy="3931920"/>
          </a:xfrm>
          <a:prstGeom prst="roundRect">
            <a:avLst>
              <a:gd name="adj" fmla="val 2093"/>
            </a:avLst>
          </a:prstGeom>
          <a:solidFill>
            <a:srgbClr val="ECFDF5"/>
          </a:solidFill>
          <a:ln/>
          <a:effectLst>
            <a:outerShdw sx="100000" sy="100000" kx="0" ky="0" algn="bl" rotWithShape="0" blurRad="114300" dist="38100" dir="5400000">
              <a:srgbClr val="0A1F3C">
                <a:alpha val="16000"/>
              </a:srgbClr>
            </a:outerShdw>
          </a:effectLst>
        </p:spPr>
      </p:sp>
      <p:sp>
        <p:nvSpPr>
          <p:cNvPr id="8" name="Text 6"/>
          <p:cNvSpPr/>
          <p:nvPr/>
        </p:nvSpPr>
        <p:spPr>
          <a:xfrm>
            <a:off x="6492240" y="2103120"/>
            <a:ext cx="4846320" cy="457200"/>
          </a:xfrm>
          <a:prstGeom prst="rect">
            <a:avLst/>
          </a:prstGeom>
          <a:noFill/>
          <a:ln/>
        </p:spPr>
        <p:txBody>
          <a:bodyPr wrap="square" lIns="0" tIns="0" rIns="0" bIns="0" rtlCol="0" anchor="ctr"/>
          <a:lstStyle/>
          <a:p>
            <a:pPr indent="0" marL="0">
              <a:buNone/>
            </a:pPr>
            <a:r>
              <a:rPr lang="en-US" sz="1700" b="1" dirty="0">
                <a:solidFill>
                  <a:srgbClr val="16233A"/>
                </a:solidFill>
                <a:latin typeface="Calibri" pitchFamily="34" charset="0"/>
                <a:ea typeface="Calibri" pitchFamily="34" charset="-122"/>
                <a:cs typeface="Calibri" pitchFamily="34" charset="-120"/>
              </a:rPr>
              <a:t>Why it decides everything</a:t>
            </a:r>
            <a:endParaRPr lang="en-US" sz="1700" dirty="0"/>
          </a:p>
        </p:txBody>
      </p:sp>
      <p:sp>
        <p:nvSpPr>
          <p:cNvPr id="9" name="Text 7"/>
          <p:cNvSpPr/>
          <p:nvPr/>
        </p:nvSpPr>
        <p:spPr>
          <a:xfrm>
            <a:off x="6537960" y="2697480"/>
            <a:ext cx="4846320" cy="2926080"/>
          </a:xfrm>
          <a:prstGeom prst="rect">
            <a:avLst/>
          </a:prstGeom>
          <a:noFill/>
          <a:ln/>
        </p:spPr>
        <p:txBody>
          <a:bodyPr wrap="square" lIns="0" tIns="0" rIns="0" bIns="0" rtlCol="0" anchor="ctr"/>
          <a:lstStyle/>
          <a:p>
            <a:pPr marL="342900" indent="-342900">
              <a:spcAft>
                <a:spcPts val="1200"/>
              </a:spcAft>
              <a:buSzPct val="100000"/>
              <a:buChar char="•"/>
            </a:pPr>
            <a:r>
              <a:rPr lang="en-US" sz="1450" dirty="0">
                <a:solidFill>
                  <a:srgbClr val="334155"/>
                </a:solidFill>
                <a:latin typeface="Calibri" pitchFamily="34" charset="0"/>
                <a:ea typeface="Calibri" pitchFamily="34" charset="-122"/>
                <a:cs typeface="Calibri" pitchFamily="34" charset="-120"/>
              </a:rPr>
              <a:t>It's the first — often only — thing people read</a:t>
            </a:r>
            <a:endParaRPr lang="en-US" sz="1450" dirty="0"/>
          </a:p>
          <a:p>
            <a:pPr marL="342900" indent="-342900">
              <a:spcAft>
                <a:spcPts val="1200"/>
              </a:spcAft>
              <a:buSzPct val="100000"/>
              <a:buChar char="•"/>
            </a:pPr>
            <a:r>
              <a:rPr lang="en-US" sz="1450" dirty="0">
                <a:solidFill>
                  <a:srgbClr val="334155"/>
                </a:solidFill>
                <a:latin typeface="Calibri" pitchFamily="34" charset="0"/>
                <a:ea typeface="Calibri" pitchFamily="34" charset="-122"/>
                <a:cs typeface="Calibri" pitchFamily="34" charset="-120"/>
              </a:rPr>
              <a:t>A screenshot earns trust in 2 seconds</a:t>
            </a:r>
            <a:endParaRPr lang="en-US" sz="1450" dirty="0"/>
          </a:p>
          <a:p>
            <a:pPr marL="342900" indent="-342900">
              <a:spcAft>
                <a:spcPts val="1200"/>
              </a:spcAft>
              <a:buSzPct val="100000"/>
              <a:buChar char="•"/>
            </a:pPr>
            <a:r>
              <a:rPr lang="en-US" sz="1450" dirty="0">
                <a:solidFill>
                  <a:srgbClr val="334155"/>
                </a:solidFill>
                <a:latin typeface="Calibri" pitchFamily="34" charset="0"/>
                <a:ea typeface="Calibri" pitchFamily="34" charset="-122"/>
                <a:cs typeface="Calibri" pitchFamily="34" charset="-120"/>
              </a:rPr>
              <a:t>Clear install = the difference between a star and a bounce</a:t>
            </a:r>
            <a:endParaRPr lang="en-US" sz="1450" dirty="0"/>
          </a:p>
          <a:p>
            <a:pPr marL="342900" indent="-342900">
              <a:spcAft>
                <a:spcPts val="1200"/>
              </a:spcAft>
              <a:buSzPct val="100000"/>
              <a:buChar char="•"/>
            </a:pPr>
            <a:r>
              <a:rPr lang="en-US" sz="1450" dirty="0">
                <a:solidFill>
                  <a:srgbClr val="334155"/>
                </a:solidFill>
                <a:latin typeface="Calibri" pitchFamily="34" charset="0"/>
                <a:ea typeface="Calibri" pitchFamily="34" charset="-122"/>
                <a:cs typeface="Calibri" pitchFamily="34" charset="-120"/>
              </a:rPr>
              <a:t>It's also YOUR portfolio piece — recruiters read it</a:t>
            </a:r>
            <a:endParaRPr lang="en-US" sz="1450" dirty="0"/>
          </a:p>
        </p:txBody>
      </p:sp>
      <p:sp>
        <p:nvSpPr>
          <p:cNvPr id="11" name="Text 8"/>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From User to Creator  •  Cloud Webinar</a:t>
            </a:r>
            <a:endParaRPr lang="en-US" sz="900" dirty="0"/>
          </a:p>
        </p:txBody>
      </p:sp>
      <p:sp>
        <p:nvSpPr>
          <p:cNvPr id="12" name="Text 9"/>
          <p:cNvSpPr/>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320040"/>
          </a:xfrm>
          <a:prstGeom prst="rect">
            <a:avLst/>
          </a:prstGeom>
          <a:noFill/>
          <a:ln/>
        </p:spPr>
        <p:txBody>
          <a:bodyPr wrap="square" lIns="0" tIns="0" rIns="0" bIns="0" rtlCol="0" anchor="ctr"/>
          <a:lstStyle/>
          <a:p>
            <a:pPr indent="0" marL="0">
              <a:buNone/>
            </a:pPr>
            <a:r>
              <a:rPr lang="en-US" sz="1300" b="1" spc="200" kern="0" dirty="0">
                <a:solidFill>
                  <a:srgbClr val="0D9488"/>
                </a:solidFill>
                <a:latin typeface="Calibri" pitchFamily="34" charset="0"/>
                <a:ea typeface="Calibri" pitchFamily="34" charset="-122"/>
                <a:cs typeface="Calibri" pitchFamily="34" charset="-120"/>
              </a:rPr>
              <a:t>TURN IT INTO MOMENTUM</a:t>
            </a:r>
            <a:endParaRPr lang="en-US" sz="1300" dirty="0"/>
          </a:p>
        </p:txBody>
      </p:sp>
      <p:sp>
        <p:nvSpPr>
          <p:cNvPr id="3" name="Text 1"/>
          <p:cNvSpPr/>
          <p:nvPr/>
        </p:nvSpPr>
        <p:spPr>
          <a:xfrm>
            <a:off x="548640" y="713232"/>
            <a:ext cx="11064240" cy="868680"/>
          </a:xfrm>
          <a:prstGeom prst="rect">
            <a:avLst/>
          </a:prstGeom>
          <a:noFill/>
          <a:ln/>
        </p:spPr>
        <p:txBody>
          <a:bodyPr wrap="square" lIns="0" tIns="0" rIns="0" bIns="0" rtlCol="0" anchor="ctr"/>
          <a:lstStyle/>
          <a:p>
            <a:pPr indent="0" marL="0">
              <a:buNone/>
            </a:pPr>
            <a:r>
              <a:rPr lang="en-US" sz="3100" b="1" dirty="0">
                <a:solidFill>
                  <a:srgbClr val="16233A"/>
                </a:solidFill>
                <a:latin typeface="Calibri" pitchFamily="34" charset="0"/>
                <a:ea typeface="Calibri" pitchFamily="34" charset="-122"/>
                <a:cs typeface="Calibri" pitchFamily="34" charset="-120"/>
              </a:rPr>
              <a:t>First users, contributors &amp; your CV</a:t>
            </a:r>
            <a:endParaRPr lang="en-US" sz="3100" dirty="0"/>
          </a:p>
        </p:txBody>
      </p:sp>
      <p:sp>
        <p:nvSpPr>
          <p:cNvPr id="4" name="Shape 2"/>
          <p:cNvSpPr/>
          <p:nvPr/>
        </p:nvSpPr>
        <p:spPr>
          <a:xfrm>
            <a:off x="548640" y="1828800"/>
            <a:ext cx="5394960" cy="1737360"/>
          </a:xfrm>
          <a:prstGeom prst="roundRect">
            <a:avLst>
              <a:gd name="adj" fmla="val 4737"/>
            </a:avLst>
          </a:prstGeom>
          <a:solidFill>
            <a:srgbClr val="F1F5F9"/>
          </a:solidFill>
          <a:ln/>
          <a:effectLst>
            <a:outerShdw sx="100000" sy="100000" kx="0" ky="0" algn="bl" rotWithShape="0" blurRad="114300" dist="38100" dir="5400000">
              <a:srgbClr val="0A1F3C">
                <a:alpha val="16000"/>
              </a:srgbClr>
            </a:outerShdw>
          </a:effectLst>
        </p:spPr>
      </p:sp>
      <p:sp>
        <p:nvSpPr>
          <p:cNvPr id="5" name="Shape 3"/>
          <p:cNvSpPr/>
          <p:nvPr/>
        </p:nvSpPr>
        <p:spPr>
          <a:xfrm>
            <a:off x="868680" y="2286000"/>
            <a:ext cx="822960" cy="822960"/>
          </a:xfrm>
          <a:prstGeom prst="ellipse">
            <a:avLst/>
          </a:prstGeom>
          <a:solidFill>
            <a:srgbClr val="0D9488"/>
          </a:solidFill>
          <a:ln/>
        </p:spPr>
      </p:sp>
      <p:sp>
        <p:nvSpPr>
          <p:cNvPr id="6" name="Text 4"/>
          <p:cNvSpPr/>
          <p:nvPr/>
        </p:nvSpPr>
        <p:spPr>
          <a:xfrm>
            <a:off x="868680" y="2286000"/>
            <a:ext cx="82296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7" name="Text 5"/>
          <p:cNvSpPr/>
          <p:nvPr/>
        </p:nvSpPr>
        <p:spPr>
          <a:xfrm>
            <a:off x="1920240" y="2148840"/>
            <a:ext cx="3749040" cy="502920"/>
          </a:xfrm>
          <a:prstGeom prst="rect">
            <a:avLst/>
          </a:prstGeom>
          <a:noFill/>
          <a:ln/>
        </p:spPr>
        <p:txBody>
          <a:bodyPr wrap="square" lIns="0" tIns="0" rIns="0" bIns="0" rtlCol="0" anchor="ctr"/>
          <a:lstStyle/>
          <a:p>
            <a:pPr indent="0" marL="0">
              <a:buNone/>
            </a:pPr>
            <a:r>
              <a:rPr lang="en-US" sz="1700" b="1" dirty="0">
                <a:solidFill>
                  <a:srgbClr val="16233A"/>
                </a:solidFill>
                <a:latin typeface="Calibri" pitchFamily="34" charset="0"/>
                <a:ea typeface="Calibri" pitchFamily="34" charset="-122"/>
                <a:cs typeface="Calibri" pitchFamily="34" charset="-120"/>
              </a:rPr>
              <a:t>Share the story</a:t>
            </a:r>
            <a:endParaRPr lang="en-US" sz="1700" dirty="0"/>
          </a:p>
        </p:txBody>
      </p:sp>
      <p:sp>
        <p:nvSpPr>
          <p:cNvPr id="8" name="Text 6"/>
          <p:cNvSpPr/>
          <p:nvPr/>
        </p:nvSpPr>
        <p:spPr>
          <a:xfrm>
            <a:off x="1920240" y="2697480"/>
            <a:ext cx="3749040" cy="73152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Post the problem and the fix — not just the link.</a:t>
            </a:r>
            <a:endParaRPr lang="en-US" sz="1300" dirty="0"/>
          </a:p>
        </p:txBody>
      </p:sp>
      <p:sp>
        <p:nvSpPr>
          <p:cNvPr id="9" name="Shape 7"/>
          <p:cNvSpPr/>
          <p:nvPr/>
        </p:nvSpPr>
        <p:spPr>
          <a:xfrm>
            <a:off x="6172200" y="1828800"/>
            <a:ext cx="5394960" cy="1737360"/>
          </a:xfrm>
          <a:prstGeom prst="roundRect">
            <a:avLst>
              <a:gd name="adj" fmla="val 4737"/>
            </a:avLst>
          </a:prstGeom>
          <a:solidFill>
            <a:srgbClr val="ECFDF5"/>
          </a:solidFill>
          <a:ln/>
          <a:effectLst>
            <a:outerShdw sx="100000" sy="100000" kx="0" ky="0" algn="bl" rotWithShape="0" blurRad="114300" dist="38100" dir="5400000">
              <a:srgbClr val="0A1F3C">
                <a:alpha val="16000"/>
              </a:srgbClr>
            </a:outerShdw>
          </a:effectLst>
        </p:spPr>
      </p:sp>
      <p:sp>
        <p:nvSpPr>
          <p:cNvPr id="10" name="Shape 8"/>
          <p:cNvSpPr/>
          <p:nvPr/>
        </p:nvSpPr>
        <p:spPr>
          <a:xfrm>
            <a:off x="6492240" y="2286000"/>
            <a:ext cx="822960" cy="822960"/>
          </a:xfrm>
          <a:prstGeom prst="ellipse">
            <a:avLst/>
          </a:prstGeom>
          <a:solidFill>
            <a:srgbClr val="14B8A6"/>
          </a:solidFill>
          <a:ln/>
        </p:spPr>
      </p:sp>
      <p:sp>
        <p:nvSpPr>
          <p:cNvPr id="11" name="Text 9"/>
          <p:cNvSpPr/>
          <p:nvPr/>
        </p:nvSpPr>
        <p:spPr>
          <a:xfrm>
            <a:off x="6492240" y="2286000"/>
            <a:ext cx="82296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2" name="Text 10"/>
          <p:cNvSpPr/>
          <p:nvPr/>
        </p:nvSpPr>
        <p:spPr>
          <a:xfrm>
            <a:off x="7543800" y="2148840"/>
            <a:ext cx="3749040" cy="502920"/>
          </a:xfrm>
          <a:prstGeom prst="rect">
            <a:avLst/>
          </a:prstGeom>
          <a:noFill/>
          <a:ln/>
        </p:spPr>
        <p:txBody>
          <a:bodyPr wrap="square" lIns="0" tIns="0" rIns="0" bIns="0" rtlCol="0" anchor="ctr"/>
          <a:lstStyle/>
          <a:p>
            <a:pPr indent="0" marL="0">
              <a:buNone/>
            </a:pPr>
            <a:r>
              <a:rPr lang="en-US" sz="1700" b="1" dirty="0">
                <a:solidFill>
                  <a:srgbClr val="16233A"/>
                </a:solidFill>
                <a:latin typeface="Calibri" pitchFamily="34" charset="0"/>
                <a:ea typeface="Calibri" pitchFamily="34" charset="-122"/>
                <a:cs typeface="Calibri" pitchFamily="34" charset="-120"/>
              </a:rPr>
              <a:t>Invite contributions</a:t>
            </a:r>
            <a:endParaRPr lang="en-US" sz="1700" dirty="0"/>
          </a:p>
        </p:txBody>
      </p:sp>
      <p:sp>
        <p:nvSpPr>
          <p:cNvPr id="13" name="Text 11"/>
          <p:cNvSpPr/>
          <p:nvPr/>
        </p:nvSpPr>
        <p:spPr>
          <a:xfrm>
            <a:off x="7543800" y="2697480"/>
            <a:ext cx="3749040" cy="73152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Add a few "good first issue" tasks for newcomers.</a:t>
            </a:r>
            <a:endParaRPr lang="en-US" sz="1300" dirty="0"/>
          </a:p>
        </p:txBody>
      </p:sp>
      <p:sp>
        <p:nvSpPr>
          <p:cNvPr id="14" name="Shape 12"/>
          <p:cNvSpPr/>
          <p:nvPr/>
        </p:nvSpPr>
        <p:spPr>
          <a:xfrm>
            <a:off x="548640" y="3840480"/>
            <a:ext cx="5394960" cy="1737360"/>
          </a:xfrm>
          <a:prstGeom prst="roundRect">
            <a:avLst>
              <a:gd name="adj" fmla="val 4737"/>
            </a:avLst>
          </a:prstGeom>
          <a:solidFill>
            <a:srgbClr val="F1F5F9"/>
          </a:solidFill>
          <a:ln/>
          <a:effectLst>
            <a:outerShdw sx="100000" sy="100000" kx="0" ky="0" algn="bl" rotWithShape="0" blurRad="114300" dist="38100" dir="5400000">
              <a:srgbClr val="0A1F3C">
                <a:alpha val="16000"/>
              </a:srgbClr>
            </a:outerShdw>
          </a:effectLst>
        </p:spPr>
      </p:sp>
      <p:sp>
        <p:nvSpPr>
          <p:cNvPr id="15" name="Shape 13"/>
          <p:cNvSpPr/>
          <p:nvPr/>
        </p:nvSpPr>
        <p:spPr>
          <a:xfrm>
            <a:off x="868680" y="4297680"/>
            <a:ext cx="822960" cy="822960"/>
          </a:xfrm>
          <a:prstGeom prst="ellipse">
            <a:avLst/>
          </a:prstGeom>
          <a:solidFill>
            <a:srgbClr val="F59E0B"/>
          </a:solidFill>
          <a:ln/>
        </p:spPr>
      </p:sp>
      <p:sp>
        <p:nvSpPr>
          <p:cNvPr id="16" name="Text 14"/>
          <p:cNvSpPr/>
          <p:nvPr/>
        </p:nvSpPr>
        <p:spPr>
          <a:xfrm>
            <a:off x="868680" y="4297680"/>
            <a:ext cx="82296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7" name="Text 15"/>
          <p:cNvSpPr/>
          <p:nvPr/>
        </p:nvSpPr>
        <p:spPr>
          <a:xfrm>
            <a:off x="1920240" y="4160520"/>
            <a:ext cx="3749040" cy="502920"/>
          </a:xfrm>
          <a:prstGeom prst="rect">
            <a:avLst/>
          </a:prstGeom>
          <a:noFill/>
          <a:ln/>
        </p:spPr>
        <p:txBody>
          <a:bodyPr wrap="square" lIns="0" tIns="0" rIns="0" bIns="0" rtlCol="0" anchor="ctr"/>
          <a:lstStyle/>
          <a:p>
            <a:pPr indent="0" marL="0">
              <a:buNone/>
            </a:pPr>
            <a:r>
              <a:rPr lang="en-US" sz="1700" b="1" dirty="0">
                <a:solidFill>
                  <a:srgbClr val="16233A"/>
                </a:solidFill>
                <a:latin typeface="Calibri" pitchFamily="34" charset="0"/>
                <a:ea typeface="Calibri" pitchFamily="34" charset="-122"/>
                <a:cs typeface="Calibri" pitchFamily="34" charset="-120"/>
              </a:rPr>
              <a:t>Engage communities</a:t>
            </a:r>
            <a:endParaRPr lang="en-US" sz="1700" dirty="0"/>
          </a:p>
        </p:txBody>
      </p:sp>
      <p:sp>
        <p:nvSpPr>
          <p:cNvPr id="18" name="Text 16"/>
          <p:cNvSpPr/>
          <p:nvPr/>
        </p:nvSpPr>
        <p:spPr>
          <a:xfrm>
            <a:off x="1920240" y="4709160"/>
            <a:ext cx="3749040" cy="73152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Cloud Native, KCD, AWS &amp; university groups.</a:t>
            </a:r>
            <a:endParaRPr lang="en-US" sz="1300" dirty="0"/>
          </a:p>
        </p:txBody>
      </p:sp>
      <p:sp>
        <p:nvSpPr>
          <p:cNvPr id="19" name="Shape 17"/>
          <p:cNvSpPr/>
          <p:nvPr/>
        </p:nvSpPr>
        <p:spPr>
          <a:xfrm>
            <a:off x="6172200" y="3840480"/>
            <a:ext cx="5394960" cy="1737360"/>
          </a:xfrm>
          <a:prstGeom prst="roundRect">
            <a:avLst>
              <a:gd name="adj" fmla="val 4737"/>
            </a:avLst>
          </a:prstGeom>
          <a:solidFill>
            <a:srgbClr val="ECFDF5"/>
          </a:solidFill>
          <a:ln/>
          <a:effectLst>
            <a:outerShdw sx="100000" sy="100000" kx="0" ky="0" algn="bl" rotWithShape="0" blurRad="114300" dist="38100" dir="5400000">
              <a:srgbClr val="0A1F3C">
                <a:alpha val="16000"/>
              </a:srgbClr>
            </a:outerShdw>
          </a:effectLst>
        </p:spPr>
      </p:sp>
      <p:sp>
        <p:nvSpPr>
          <p:cNvPr id="20" name="Shape 18"/>
          <p:cNvSpPr/>
          <p:nvPr/>
        </p:nvSpPr>
        <p:spPr>
          <a:xfrm>
            <a:off x="6492240" y="4297680"/>
            <a:ext cx="822960" cy="822960"/>
          </a:xfrm>
          <a:prstGeom prst="ellipse">
            <a:avLst/>
          </a:prstGeom>
          <a:solidFill>
            <a:srgbClr val="F97316"/>
          </a:solidFill>
          <a:ln/>
        </p:spPr>
      </p:sp>
      <p:sp>
        <p:nvSpPr>
          <p:cNvPr id="21" name="Text 19"/>
          <p:cNvSpPr/>
          <p:nvPr/>
        </p:nvSpPr>
        <p:spPr>
          <a:xfrm>
            <a:off x="6492240" y="4297680"/>
            <a:ext cx="82296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22" name="Text 20"/>
          <p:cNvSpPr/>
          <p:nvPr/>
        </p:nvSpPr>
        <p:spPr>
          <a:xfrm>
            <a:off x="7543800" y="4160520"/>
            <a:ext cx="3749040" cy="502920"/>
          </a:xfrm>
          <a:prstGeom prst="rect">
            <a:avLst/>
          </a:prstGeom>
          <a:noFill/>
          <a:ln/>
        </p:spPr>
        <p:txBody>
          <a:bodyPr wrap="square" lIns="0" tIns="0" rIns="0" bIns="0" rtlCol="0" anchor="ctr"/>
          <a:lstStyle/>
          <a:p>
            <a:pPr indent="0" marL="0">
              <a:buNone/>
            </a:pPr>
            <a:r>
              <a:rPr lang="en-US" sz="1700" b="1" dirty="0">
                <a:solidFill>
                  <a:srgbClr val="16233A"/>
                </a:solidFill>
                <a:latin typeface="Calibri" pitchFamily="34" charset="0"/>
                <a:ea typeface="Calibri" pitchFamily="34" charset="-122"/>
                <a:cs typeface="Calibri" pitchFamily="34" charset="-120"/>
              </a:rPr>
              <a:t>Put it on your CV</a:t>
            </a:r>
            <a:endParaRPr lang="en-US" sz="1700" dirty="0"/>
          </a:p>
        </p:txBody>
      </p:sp>
      <p:sp>
        <p:nvSpPr>
          <p:cNvPr id="23" name="Text 21"/>
          <p:cNvSpPr/>
          <p:nvPr/>
        </p:nvSpPr>
        <p:spPr>
          <a:xfrm>
            <a:off x="7543800" y="4709160"/>
            <a:ext cx="3749040" cy="73152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Link the repo on LinkedIn and your résumé.</a:t>
            </a:r>
            <a:endParaRPr lang="en-US" sz="1300" dirty="0"/>
          </a:p>
        </p:txBody>
      </p:sp>
      <p:sp>
        <p:nvSpPr>
          <p:cNvPr id="25" name="Text 22"/>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From User to Creator  •  Cloud Webinar</a:t>
            </a:r>
            <a:endParaRPr lang="en-US" sz="900" dirty="0"/>
          </a:p>
        </p:txBody>
      </p:sp>
      <p:sp>
        <p:nvSpPr>
          <p:cNvPr id="26" name="Text 23"/>
          <p:cNvSpPr/>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320040"/>
          </a:xfrm>
          <a:prstGeom prst="rect">
            <a:avLst/>
          </a:prstGeom>
          <a:noFill/>
          <a:ln/>
        </p:spPr>
        <p:txBody>
          <a:bodyPr wrap="square" lIns="0" tIns="0" rIns="0" bIns="0" rtlCol="0" anchor="ctr"/>
          <a:lstStyle/>
          <a:p>
            <a:pPr indent="0" marL="0">
              <a:buNone/>
            </a:pPr>
            <a:r>
              <a:rPr lang="en-US" sz="1300" b="1" spc="200" kern="0" dirty="0">
                <a:solidFill>
                  <a:srgbClr val="0D9488"/>
                </a:solidFill>
                <a:latin typeface="Calibri" pitchFamily="34" charset="0"/>
                <a:ea typeface="Calibri" pitchFamily="34" charset="-122"/>
                <a:cs typeface="Calibri" pitchFamily="34" charset="-120"/>
              </a:rPr>
              <a:t>KEEP GOING</a:t>
            </a:r>
            <a:endParaRPr lang="en-US" sz="1300" dirty="0"/>
          </a:p>
        </p:txBody>
      </p:sp>
      <p:sp>
        <p:nvSpPr>
          <p:cNvPr id="3" name="Text 1"/>
          <p:cNvSpPr/>
          <p:nvPr/>
        </p:nvSpPr>
        <p:spPr>
          <a:xfrm>
            <a:off x="548640" y="713232"/>
            <a:ext cx="11064240" cy="868680"/>
          </a:xfrm>
          <a:prstGeom prst="rect">
            <a:avLst/>
          </a:prstGeom>
          <a:noFill/>
          <a:ln/>
        </p:spPr>
        <p:txBody>
          <a:bodyPr wrap="square" lIns="0" tIns="0" rIns="0" bIns="0" rtlCol="0" anchor="ctr"/>
          <a:lstStyle/>
          <a:p>
            <a:pPr indent="0" marL="0">
              <a:buNone/>
            </a:pPr>
            <a:r>
              <a:rPr lang="en-US" sz="3100" b="1" dirty="0">
                <a:solidFill>
                  <a:srgbClr val="16233A"/>
                </a:solidFill>
                <a:latin typeface="Calibri" pitchFamily="34" charset="0"/>
                <a:ea typeface="Calibri" pitchFamily="34" charset="-122"/>
                <a:cs typeface="Calibri" pitchFamily="34" charset="-120"/>
              </a:rPr>
              <a:t>Your 30-day creator roadmap</a:t>
            </a:r>
            <a:endParaRPr lang="en-US" sz="3100" dirty="0"/>
          </a:p>
        </p:txBody>
      </p:sp>
      <p:sp>
        <p:nvSpPr>
          <p:cNvPr id="4" name="Shape 2"/>
          <p:cNvSpPr/>
          <p:nvPr/>
        </p:nvSpPr>
        <p:spPr>
          <a:xfrm>
            <a:off x="548640" y="1874520"/>
            <a:ext cx="11064240" cy="914400"/>
          </a:xfrm>
          <a:prstGeom prst="roundRect">
            <a:avLst>
              <a:gd name="adj" fmla="val 9000"/>
            </a:avLst>
          </a:prstGeom>
          <a:solidFill>
            <a:srgbClr val="ECFDF5"/>
          </a:solidFill>
          <a:ln/>
          <a:effectLst>
            <a:outerShdw sx="100000" sy="100000" kx="0" ky="0" algn="bl" rotWithShape="0" blurRad="114300" dist="38100" dir="5400000">
              <a:srgbClr val="0A1F3C">
                <a:alpha val="16000"/>
              </a:srgbClr>
            </a:outerShdw>
          </a:effectLst>
        </p:spPr>
      </p:sp>
      <p:sp>
        <p:nvSpPr>
          <p:cNvPr id="5" name="Text 3"/>
          <p:cNvSpPr/>
          <p:nvPr/>
        </p:nvSpPr>
        <p:spPr>
          <a:xfrm>
            <a:off x="868680" y="1874520"/>
            <a:ext cx="2377440" cy="914400"/>
          </a:xfrm>
          <a:prstGeom prst="rect">
            <a:avLst/>
          </a:prstGeom>
          <a:noFill/>
          <a:ln/>
        </p:spPr>
        <p:txBody>
          <a:bodyPr wrap="square" lIns="0" tIns="0" rIns="0" bIns="0" rtlCol="0" anchor="ctr"/>
          <a:lstStyle/>
          <a:p>
            <a:pPr indent="0" marL="0">
              <a:buNone/>
            </a:pPr>
            <a:r>
              <a:rPr lang="en-US" sz="1700" b="1" dirty="0">
                <a:solidFill>
                  <a:srgbClr val="0D9488"/>
                </a:solidFill>
                <a:latin typeface="Calibri" pitchFamily="34" charset="0"/>
                <a:ea typeface="Calibri" pitchFamily="34" charset="-122"/>
                <a:cs typeface="Calibri" pitchFamily="34" charset="-120"/>
              </a:rPr>
              <a:t>This week</a:t>
            </a:r>
            <a:endParaRPr lang="en-US" sz="1700" dirty="0"/>
          </a:p>
        </p:txBody>
      </p:sp>
      <p:sp>
        <p:nvSpPr>
          <p:cNvPr id="6" name="Text 4"/>
          <p:cNvSpPr/>
          <p:nvPr/>
        </p:nvSpPr>
        <p:spPr>
          <a:xfrm>
            <a:off x="3474720" y="1874520"/>
            <a:ext cx="7863840" cy="914400"/>
          </a:xfrm>
          <a:prstGeom prst="rect">
            <a:avLst/>
          </a:prstGeom>
          <a:noFill/>
          <a:ln/>
        </p:spPr>
        <p:txBody>
          <a:bodyPr wrap="square" lIns="0" tIns="0" rIns="0" bIns="0" rtlCol="0" anchor="ctr"/>
          <a:lstStyle/>
          <a:p>
            <a:pPr indent="0" marL="0">
              <a:buNone/>
            </a:pPr>
            <a:r>
              <a:rPr lang="en-US" sz="1450" dirty="0">
                <a:solidFill>
                  <a:srgbClr val="334155"/>
                </a:solidFill>
                <a:latin typeface="Calibri" pitchFamily="34" charset="0"/>
                <a:ea typeface="Calibri" pitchFamily="34" charset="-122"/>
                <a:cs typeface="Calibri" pitchFamily="34" charset="-120"/>
              </a:rPr>
              <a:t>Ship s3-guard (or your own idea). Make the repo public.</a:t>
            </a:r>
            <a:endParaRPr lang="en-US" sz="1450" dirty="0"/>
          </a:p>
        </p:txBody>
      </p:sp>
      <p:sp>
        <p:nvSpPr>
          <p:cNvPr id="7" name="Shape 5"/>
          <p:cNvSpPr/>
          <p:nvPr/>
        </p:nvSpPr>
        <p:spPr>
          <a:xfrm>
            <a:off x="548640" y="2926080"/>
            <a:ext cx="11064240" cy="914400"/>
          </a:xfrm>
          <a:prstGeom prst="roundRect">
            <a:avLst>
              <a:gd name="adj" fmla="val 9000"/>
            </a:avLst>
          </a:prstGeom>
          <a:solidFill>
            <a:srgbClr val="F1F5F9"/>
          </a:solidFill>
          <a:ln/>
          <a:effectLst>
            <a:outerShdw sx="100000" sy="100000" kx="0" ky="0" algn="bl" rotWithShape="0" blurRad="114300" dist="38100" dir="5400000">
              <a:srgbClr val="0A1F3C">
                <a:alpha val="16000"/>
              </a:srgbClr>
            </a:outerShdw>
          </a:effectLst>
        </p:spPr>
      </p:sp>
      <p:sp>
        <p:nvSpPr>
          <p:cNvPr id="8" name="Text 6"/>
          <p:cNvSpPr/>
          <p:nvPr/>
        </p:nvSpPr>
        <p:spPr>
          <a:xfrm>
            <a:off x="868680" y="2926080"/>
            <a:ext cx="2377440" cy="914400"/>
          </a:xfrm>
          <a:prstGeom prst="rect">
            <a:avLst/>
          </a:prstGeom>
          <a:noFill/>
          <a:ln/>
        </p:spPr>
        <p:txBody>
          <a:bodyPr wrap="square" lIns="0" tIns="0" rIns="0" bIns="0" rtlCol="0" anchor="ctr"/>
          <a:lstStyle/>
          <a:p>
            <a:pPr indent="0" marL="0">
              <a:buNone/>
            </a:pPr>
            <a:r>
              <a:rPr lang="en-US" sz="1700" b="1" dirty="0">
                <a:solidFill>
                  <a:srgbClr val="14B8A6"/>
                </a:solidFill>
                <a:latin typeface="Calibri" pitchFamily="34" charset="0"/>
                <a:ea typeface="Calibri" pitchFamily="34" charset="-122"/>
                <a:cs typeface="Calibri" pitchFamily="34" charset="-120"/>
              </a:rPr>
              <a:t>Week 2</a:t>
            </a:r>
            <a:endParaRPr lang="en-US" sz="1700" dirty="0"/>
          </a:p>
        </p:txBody>
      </p:sp>
      <p:sp>
        <p:nvSpPr>
          <p:cNvPr id="9" name="Text 7"/>
          <p:cNvSpPr/>
          <p:nvPr/>
        </p:nvSpPr>
        <p:spPr>
          <a:xfrm>
            <a:off x="3474720" y="2926080"/>
            <a:ext cx="7863840" cy="914400"/>
          </a:xfrm>
          <a:prstGeom prst="rect">
            <a:avLst/>
          </a:prstGeom>
          <a:noFill/>
          <a:ln/>
        </p:spPr>
        <p:txBody>
          <a:bodyPr wrap="square" lIns="0" tIns="0" rIns="0" bIns="0" rtlCol="0" anchor="ctr"/>
          <a:lstStyle/>
          <a:p>
            <a:pPr indent="0" marL="0">
              <a:buNone/>
            </a:pPr>
            <a:r>
              <a:rPr lang="en-US" sz="1450" dirty="0">
                <a:solidFill>
                  <a:srgbClr val="334155"/>
                </a:solidFill>
                <a:latin typeface="Calibri" pitchFamily="34" charset="0"/>
                <a:ea typeface="Calibri" pitchFamily="34" charset="-122"/>
                <a:cs typeface="Calibri" pitchFamily="34" charset="-120"/>
              </a:rPr>
              <a:t>Add one feature + one test. Write the README screenshot.</a:t>
            </a:r>
            <a:endParaRPr lang="en-US" sz="1450" dirty="0"/>
          </a:p>
        </p:txBody>
      </p:sp>
      <p:sp>
        <p:nvSpPr>
          <p:cNvPr id="10" name="Shape 8"/>
          <p:cNvSpPr/>
          <p:nvPr/>
        </p:nvSpPr>
        <p:spPr>
          <a:xfrm>
            <a:off x="548640" y="3977640"/>
            <a:ext cx="11064240" cy="914400"/>
          </a:xfrm>
          <a:prstGeom prst="roundRect">
            <a:avLst>
              <a:gd name="adj" fmla="val 9000"/>
            </a:avLst>
          </a:prstGeom>
          <a:solidFill>
            <a:srgbClr val="ECFDF5"/>
          </a:solidFill>
          <a:ln/>
          <a:effectLst>
            <a:outerShdw sx="100000" sy="100000" kx="0" ky="0" algn="bl" rotWithShape="0" blurRad="114300" dist="38100" dir="5400000">
              <a:srgbClr val="0A1F3C">
                <a:alpha val="16000"/>
              </a:srgbClr>
            </a:outerShdw>
          </a:effectLst>
        </p:spPr>
      </p:sp>
      <p:sp>
        <p:nvSpPr>
          <p:cNvPr id="11" name="Text 9"/>
          <p:cNvSpPr/>
          <p:nvPr/>
        </p:nvSpPr>
        <p:spPr>
          <a:xfrm>
            <a:off x="868680" y="3977640"/>
            <a:ext cx="2377440" cy="914400"/>
          </a:xfrm>
          <a:prstGeom prst="rect">
            <a:avLst/>
          </a:prstGeom>
          <a:noFill/>
          <a:ln/>
        </p:spPr>
        <p:txBody>
          <a:bodyPr wrap="square" lIns="0" tIns="0" rIns="0" bIns="0" rtlCol="0" anchor="ctr"/>
          <a:lstStyle/>
          <a:p>
            <a:pPr indent="0" marL="0">
              <a:buNone/>
            </a:pPr>
            <a:r>
              <a:rPr lang="en-US" sz="1700" b="1" dirty="0">
                <a:solidFill>
                  <a:srgbClr val="F59E0B"/>
                </a:solidFill>
                <a:latin typeface="Calibri" pitchFamily="34" charset="0"/>
                <a:ea typeface="Calibri" pitchFamily="34" charset="-122"/>
                <a:cs typeface="Calibri" pitchFamily="34" charset="-120"/>
              </a:rPr>
              <a:t>Week 3</a:t>
            </a:r>
            <a:endParaRPr lang="en-US" sz="1700" dirty="0"/>
          </a:p>
        </p:txBody>
      </p:sp>
      <p:sp>
        <p:nvSpPr>
          <p:cNvPr id="12" name="Text 10"/>
          <p:cNvSpPr/>
          <p:nvPr/>
        </p:nvSpPr>
        <p:spPr>
          <a:xfrm>
            <a:off x="3474720" y="3977640"/>
            <a:ext cx="7863840" cy="914400"/>
          </a:xfrm>
          <a:prstGeom prst="rect">
            <a:avLst/>
          </a:prstGeom>
          <a:noFill/>
          <a:ln/>
        </p:spPr>
        <p:txBody>
          <a:bodyPr wrap="square" lIns="0" tIns="0" rIns="0" bIns="0" rtlCol="0" anchor="ctr"/>
          <a:lstStyle/>
          <a:p>
            <a:pPr indent="0" marL="0">
              <a:buNone/>
            </a:pPr>
            <a:r>
              <a:rPr lang="en-US" sz="1450" dirty="0">
                <a:solidFill>
                  <a:srgbClr val="334155"/>
                </a:solidFill>
                <a:latin typeface="Calibri" pitchFamily="34" charset="0"/>
                <a:ea typeface="Calibri" pitchFamily="34" charset="-122"/>
                <a:cs typeface="Calibri" pitchFamily="34" charset="-120"/>
              </a:rPr>
              <a:t>Announce it. Open 2–3 "good first issues."</a:t>
            </a:r>
            <a:endParaRPr lang="en-US" sz="1450" dirty="0"/>
          </a:p>
        </p:txBody>
      </p:sp>
      <p:sp>
        <p:nvSpPr>
          <p:cNvPr id="13" name="Shape 11"/>
          <p:cNvSpPr/>
          <p:nvPr/>
        </p:nvSpPr>
        <p:spPr>
          <a:xfrm>
            <a:off x="548640" y="5029200"/>
            <a:ext cx="11064240" cy="914400"/>
          </a:xfrm>
          <a:prstGeom prst="roundRect">
            <a:avLst>
              <a:gd name="adj" fmla="val 9000"/>
            </a:avLst>
          </a:prstGeom>
          <a:solidFill>
            <a:srgbClr val="F1F5F9"/>
          </a:solidFill>
          <a:ln/>
          <a:effectLst>
            <a:outerShdw sx="100000" sy="100000" kx="0" ky="0" algn="bl" rotWithShape="0" blurRad="114300" dist="38100" dir="5400000">
              <a:srgbClr val="0A1F3C">
                <a:alpha val="16000"/>
              </a:srgbClr>
            </a:outerShdw>
          </a:effectLst>
        </p:spPr>
      </p:sp>
      <p:sp>
        <p:nvSpPr>
          <p:cNvPr id="14" name="Text 12"/>
          <p:cNvSpPr/>
          <p:nvPr/>
        </p:nvSpPr>
        <p:spPr>
          <a:xfrm>
            <a:off x="868680" y="5029200"/>
            <a:ext cx="2377440" cy="914400"/>
          </a:xfrm>
          <a:prstGeom prst="rect">
            <a:avLst/>
          </a:prstGeom>
          <a:noFill/>
          <a:ln/>
        </p:spPr>
        <p:txBody>
          <a:bodyPr wrap="square" lIns="0" tIns="0" rIns="0" bIns="0" rtlCol="0" anchor="ctr"/>
          <a:lstStyle/>
          <a:p>
            <a:pPr indent="0" marL="0">
              <a:buNone/>
            </a:pPr>
            <a:r>
              <a:rPr lang="en-US" sz="1700" b="1" dirty="0">
                <a:solidFill>
                  <a:srgbClr val="F97316"/>
                </a:solidFill>
                <a:latin typeface="Calibri" pitchFamily="34" charset="0"/>
                <a:ea typeface="Calibri" pitchFamily="34" charset="-122"/>
                <a:cs typeface="Calibri" pitchFamily="34" charset="-120"/>
              </a:rPr>
              <a:t>Week 4</a:t>
            </a:r>
            <a:endParaRPr lang="en-US" sz="1700" dirty="0"/>
          </a:p>
        </p:txBody>
      </p:sp>
      <p:sp>
        <p:nvSpPr>
          <p:cNvPr id="15" name="Text 13"/>
          <p:cNvSpPr/>
          <p:nvPr/>
        </p:nvSpPr>
        <p:spPr>
          <a:xfrm>
            <a:off x="3474720" y="5029200"/>
            <a:ext cx="7863840" cy="914400"/>
          </a:xfrm>
          <a:prstGeom prst="rect">
            <a:avLst/>
          </a:prstGeom>
          <a:noFill/>
          <a:ln/>
        </p:spPr>
        <p:txBody>
          <a:bodyPr wrap="square" lIns="0" tIns="0" rIns="0" bIns="0" rtlCol="0" anchor="ctr"/>
          <a:lstStyle/>
          <a:p>
            <a:pPr indent="0" marL="0">
              <a:buNone/>
            </a:pPr>
            <a:r>
              <a:rPr lang="en-US" sz="1450" dirty="0">
                <a:solidFill>
                  <a:srgbClr val="334155"/>
                </a:solidFill>
                <a:latin typeface="Calibri" pitchFamily="34" charset="0"/>
                <a:ea typeface="Calibri" pitchFamily="34" charset="-122"/>
                <a:cs typeface="Calibri" pitchFamily="34" charset="-120"/>
              </a:rPr>
              <a:t>Contribute to one OTHER project. Reply to an issue.</a:t>
            </a:r>
            <a:endParaRPr lang="en-US" sz="1450" dirty="0"/>
          </a:p>
        </p:txBody>
      </p:sp>
      <p:sp>
        <p:nvSpPr>
          <p:cNvPr id="16" name="Text 14"/>
          <p:cNvSpPr/>
          <p:nvPr/>
        </p:nvSpPr>
        <p:spPr>
          <a:xfrm>
            <a:off x="548640" y="6126480"/>
            <a:ext cx="11064240" cy="365760"/>
          </a:xfrm>
          <a:prstGeom prst="rect">
            <a:avLst/>
          </a:prstGeom>
          <a:noFill/>
          <a:ln/>
        </p:spPr>
        <p:txBody>
          <a:bodyPr wrap="square" lIns="0" tIns="0" rIns="0" bIns="0" rtlCol="0" anchor="ctr"/>
          <a:lstStyle/>
          <a:p>
            <a:pPr algn="ctr" indent="0" marL="0">
              <a:buNone/>
            </a:pPr>
            <a:r>
              <a:rPr lang="en-US" sz="1400" i="1" dirty="0">
                <a:solidFill>
                  <a:srgbClr val="0D9488"/>
                </a:solidFill>
                <a:latin typeface="Calibri" pitchFamily="34" charset="0"/>
                <a:ea typeface="Calibri" pitchFamily="34" charset="-122"/>
                <a:cs typeface="Calibri" pitchFamily="34" charset="-120"/>
              </a:rPr>
              <a:t>Consistency beats intensity. Four small weeks = a visible, living body of work.</a:t>
            </a:r>
            <a:endParaRPr lang="en-US" sz="1400" dirty="0"/>
          </a:p>
        </p:txBody>
      </p:sp>
      <p:sp>
        <p:nvSpPr>
          <p:cNvPr id="18" name="Text 15"/>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From User to Creator  •  Cloud Webinar</a:t>
            </a:r>
            <a:endParaRPr lang="en-US" sz="900" dirty="0"/>
          </a:p>
        </p:txBody>
      </p:sp>
      <p:sp>
        <p:nvSpPr>
          <p:cNvPr id="19" name="Text 16"/>
          <p:cNvSpPr/>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F3C"/>
        </a:solidFill>
      </p:bgPr>
    </p:bg>
    <p:spTree>
      <p:nvGrpSpPr>
        <p:cNvPr id="1" name=""/>
        <p:cNvGrpSpPr/>
        <p:nvPr/>
      </p:nvGrpSpPr>
      <p:grpSpPr>
        <a:xfrm>
          <a:off x="0" y="0"/>
          <a:ext cx="0" cy="0"/>
          <a:chOff x="0" y="0"/>
          <a:chExt cx="0" cy="0"/>
        </a:xfrm>
      </p:grpSpPr>
      <p:sp>
        <p:nvSpPr>
          <p:cNvPr id="2" name="Shape 0"/>
          <p:cNvSpPr/>
          <p:nvPr/>
        </p:nvSpPr>
        <p:spPr>
          <a:xfrm>
            <a:off x="8961120" y="3108960"/>
            <a:ext cx="5120640" cy="5120640"/>
          </a:xfrm>
          <a:prstGeom prst="ellipse">
            <a:avLst/>
          </a:prstGeom>
          <a:solidFill>
            <a:srgbClr val="12284B"/>
          </a:solidFill>
          <a:ln/>
        </p:spPr>
      </p:sp>
      <p:sp>
        <p:nvSpPr>
          <p:cNvPr id="3" name="Shape 1"/>
          <p:cNvSpPr/>
          <p:nvPr/>
        </p:nvSpPr>
        <p:spPr>
          <a:xfrm>
            <a:off x="822960" y="731520"/>
            <a:ext cx="822960" cy="822960"/>
          </a:xfrm>
          <a:prstGeom prst="ellipse">
            <a:avLst/>
          </a:prstGeom>
          <a:solidFill>
            <a:srgbClr val="F59E0B"/>
          </a:solidFill>
          <a:ln/>
        </p:spPr>
      </p:sp>
      <p:sp>
        <p:nvSpPr>
          <p:cNvPr id="4" name="Text 2"/>
          <p:cNvSpPr/>
          <p:nvPr/>
        </p:nvSpPr>
        <p:spPr>
          <a:xfrm>
            <a:off x="822960" y="731520"/>
            <a:ext cx="822960" cy="822960"/>
          </a:xfrm>
          <a:prstGeom prst="rect">
            <a:avLst/>
          </a:prstGeom>
          <a:noFill/>
          <a:ln/>
        </p:spPr>
        <p:txBody>
          <a:bodyPr wrap="square" lIns="0" tIns="0" rIns="0" bIns="0" rtlCol="0" anchor="ctr"/>
          <a:lstStyle/>
          <a:p>
            <a:pPr algn="ctr" indent="0" marL="0">
              <a:buNone/>
            </a:pPr>
            <a:r>
              <a:rPr lang="en-US" sz="2400" b="1" dirty="0">
                <a:solidFill>
                  <a:srgbClr val="0A1F3C"/>
                </a:solidFill>
                <a:latin typeface="Calibri" pitchFamily="34" charset="0"/>
                <a:ea typeface="Calibri" pitchFamily="34" charset="-122"/>
                <a:cs typeface="Calibri" pitchFamily="34" charset="-120"/>
              </a:rPr>
              <a:t>★</a:t>
            </a:r>
            <a:endParaRPr lang="en-US" sz="2400" dirty="0"/>
          </a:p>
        </p:txBody>
      </p:sp>
      <p:sp>
        <p:nvSpPr>
          <p:cNvPr id="5" name="Text 3"/>
          <p:cNvSpPr/>
          <p:nvPr/>
        </p:nvSpPr>
        <p:spPr>
          <a:xfrm>
            <a:off x="1828800" y="868680"/>
            <a:ext cx="8229600" cy="457200"/>
          </a:xfrm>
          <a:prstGeom prst="rect">
            <a:avLst/>
          </a:prstGeom>
          <a:noFill/>
          <a:ln/>
        </p:spPr>
        <p:txBody>
          <a:bodyPr wrap="square" lIns="0" tIns="0" rIns="0" bIns="0" rtlCol="0" anchor="ctr"/>
          <a:lstStyle/>
          <a:p>
            <a:pPr indent="0" marL="0">
              <a:buNone/>
            </a:pPr>
            <a:r>
              <a:rPr lang="en-US" sz="1500" b="1" spc="200" kern="0" dirty="0">
                <a:solidFill>
                  <a:srgbClr val="F59E0B"/>
                </a:solidFill>
                <a:latin typeface="Calibri" pitchFamily="34" charset="0"/>
                <a:ea typeface="Calibri" pitchFamily="34" charset="-122"/>
                <a:cs typeface="Calibri" pitchFamily="34" charset="-120"/>
              </a:rPr>
              <a:t>YOUR CHALLENGE</a:t>
            </a:r>
            <a:endParaRPr lang="en-US" sz="1500" dirty="0"/>
          </a:p>
        </p:txBody>
      </p:sp>
      <p:sp>
        <p:nvSpPr>
          <p:cNvPr id="6" name="Text 4"/>
          <p:cNvSpPr/>
          <p:nvPr/>
        </p:nvSpPr>
        <p:spPr>
          <a:xfrm>
            <a:off x="822960" y="1554480"/>
            <a:ext cx="10515600" cy="128016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Add one new feature to s3-guard this week — and tag us.</a:t>
            </a:r>
            <a:endParaRPr lang="en-US" sz="3200" dirty="0"/>
          </a:p>
        </p:txBody>
      </p:sp>
      <p:sp>
        <p:nvSpPr>
          <p:cNvPr id="7" name="Text 5"/>
          <p:cNvSpPr/>
          <p:nvPr/>
        </p:nvSpPr>
        <p:spPr>
          <a:xfrm>
            <a:off x="914400" y="2971800"/>
            <a:ext cx="6858000" cy="1828800"/>
          </a:xfrm>
          <a:prstGeom prst="rect">
            <a:avLst/>
          </a:prstGeom>
          <a:noFill/>
          <a:ln/>
        </p:spPr>
        <p:txBody>
          <a:bodyPr wrap="square" lIns="0" tIns="0" rIns="0" bIns="0" rtlCol="0" anchor="ctr"/>
          <a:lstStyle/>
          <a:p>
            <a:pPr marL="342900" indent="-342900">
              <a:spcAft>
                <a:spcPts val="1000"/>
              </a:spcAft>
              <a:buSzPct val="100000"/>
              <a:buChar char="•"/>
            </a:pPr>
            <a:r>
              <a:rPr lang="en-US" sz="1600" dirty="0">
                <a:solidFill>
                  <a:srgbClr val="CADCFC"/>
                </a:solidFill>
                <a:latin typeface="Calibri" pitchFamily="34" charset="0"/>
                <a:ea typeface="Calibri" pitchFamily="34" charset="-122"/>
                <a:cs typeface="Calibri" pitchFamily="34" charset="-120"/>
              </a:rPr>
              <a:t>A new check (MFA-delete? lifecycle policy?)</a:t>
            </a:r>
            <a:endParaRPr lang="en-US" sz="1600" dirty="0"/>
          </a:p>
          <a:p>
            <a:pPr marL="342900" indent="-342900">
              <a:spcAft>
                <a:spcPts val="1000"/>
              </a:spcAft>
              <a:buSzPct val="100000"/>
              <a:buChar char="•"/>
            </a:pPr>
            <a:r>
              <a:rPr lang="en-US" sz="1600" dirty="0">
                <a:solidFill>
                  <a:srgbClr val="CADCFC"/>
                </a:solidFill>
                <a:latin typeface="Calibri" pitchFamily="34" charset="0"/>
                <a:ea typeface="Calibri" pitchFamily="34" charset="-122"/>
                <a:cs typeface="Calibri" pitchFamily="34" charset="-120"/>
              </a:rPr>
              <a:t>An HTML report output</a:t>
            </a:r>
            <a:endParaRPr lang="en-US" sz="1600" dirty="0"/>
          </a:p>
          <a:p>
            <a:pPr marL="342900" indent="-342900">
              <a:spcAft>
                <a:spcPts val="1000"/>
              </a:spcAft>
              <a:buSzPct val="100000"/>
              <a:buChar char="•"/>
            </a:pPr>
            <a:r>
              <a:rPr lang="en-US" sz="1600" dirty="0">
                <a:solidFill>
                  <a:srgbClr val="CADCFC"/>
                </a:solidFill>
                <a:latin typeface="Calibri" pitchFamily="34" charset="0"/>
                <a:ea typeface="Calibri" pitchFamily="34" charset="-122"/>
                <a:cs typeface="Calibri" pitchFamily="34" charset="-120"/>
              </a:rPr>
              <a:t>Scan across multiple AWS profiles</a:t>
            </a:r>
            <a:endParaRPr lang="en-US" sz="1600" dirty="0"/>
          </a:p>
          <a:p>
            <a:pPr marL="342900" indent="-342900">
              <a:spcAft>
                <a:spcPts val="1000"/>
              </a:spcAft>
              <a:buSzPct val="100000"/>
              <a:buChar char="•"/>
            </a:pPr>
            <a:r>
              <a:rPr lang="en-US" sz="1600" dirty="0">
                <a:solidFill>
                  <a:srgbClr val="CADCFC"/>
                </a:solidFill>
                <a:latin typeface="Calibri" pitchFamily="34" charset="0"/>
                <a:ea typeface="Calibri" pitchFamily="34" charset="-122"/>
                <a:cs typeface="Calibri" pitchFamily="34" charset="-120"/>
              </a:rPr>
              <a:t>Your own idea from your own week</a:t>
            </a:r>
            <a:endParaRPr lang="en-US" sz="1600" dirty="0"/>
          </a:p>
        </p:txBody>
      </p:sp>
      <p:sp>
        <p:nvSpPr>
          <p:cNvPr id="8" name="Shape 6"/>
          <p:cNvSpPr/>
          <p:nvPr/>
        </p:nvSpPr>
        <p:spPr>
          <a:xfrm>
            <a:off x="7955280" y="2926080"/>
            <a:ext cx="3657600" cy="2011680"/>
          </a:xfrm>
          <a:prstGeom prst="roundRect">
            <a:avLst>
              <a:gd name="adj" fmla="val 4091"/>
            </a:avLst>
          </a:prstGeom>
          <a:solidFill>
            <a:srgbClr val="0F2747"/>
          </a:solidFill>
          <a:ln/>
          <a:effectLst>
            <a:outerShdw sx="100000" sy="100000" kx="0" ky="0" algn="bl" rotWithShape="0" blurRad="114300" dist="38100" dir="5400000">
              <a:srgbClr val="0A1F3C">
                <a:alpha val="16000"/>
              </a:srgbClr>
            </a:outerShdw>
          </a:effectLst>
        </p:spPr>
      </p:sp>
      <p:sp>
        <p:nvSpPr>
          <p:cNvPr id="9" name="Text 7"/>
          <p:cNvSpPr/>
          <p:nvPr/>
        </p:nvSpPr>
        <p:spPr>
          <a:xfrm>
            <a:off x="7955280" y="3200400"/>
            <a:ext cx="3657600" cy="731520"/>
          </a:xfrm>
          <a:prstGeom prst="rect">
            <a:avLst/>
          </a:prstGeom>
          <a:noFill/>
          <a:ln/>
        </p:spPr>
        <p:txBody>
          <a:bodyPr wrap="square" lIns="0" tIns="0" rIns="0" bIns="0" rtlCol="0" anchor="ctr"/>
          <a:lstStyle/>
          <a:p>
            <a:pPr algn="ctr" indent="0" marL="0">
              <a:buNone/>
            </a:pPr>
            <a:r>
              <a:rPr lang="en-US" sz="3000" b="1" dirty="0">
                <a:solidFill>
                  <a:srgbClr val="14B8A6"/>
                </a:solidFill>
                <a:latin typeface="Calibri" pitchFamily="34" charset="0"/>
                <a:ea typeface="Calibri" pitchFamily="34" charset="-122"/>
                <a:cs typeface="Calibri" pitchFamily="34" charset="-120"/>
              </a:rPr>
              <a:t>Q &amp; A</a:t>
            </a:r>
            <a:endParaRPr lang="en-US" sz="3000" dirty="0"/>
          </a:p>
        </p:txBody>
      </p:sp>
      <p:sp>
        <p:nvSpPr>
          <p:cNvPr id="10" name="Text 8"/>
          <p:cNvSpPr/>
          <p:nvPr/>
        </p:nvSpPr>
        <p:spPr>
          <a:xfrm>
            <a:off x="7955280" y="4023360"/>
            <a:ext cx="3657600" cy="731520"/>
          </a:xfrm>
          <a:prstGeom prst="rect">
            <a:avLst/>
          </a:prstGeom>
          <a:noFill/>
          <a:ln/>
        </p:spPr>
        <p:txBody>
          <a:bodyPr wrap="square" lIns="0" tIns="0" rIns="0" bIns="0" rtlCol="0" anchor="ctr"/>
          <a:lstStyle/>
          <a:p>
            <a:pPr algn="ctr" indent="0" marL="0">
              <a:buNone/>
            </a:pPr>
            <a:r>
              <a:rPr lang="en-US" sz="1400" dirty="0">
                <a:solidFill>
                  <a:srgbClr val="CADCFC"/>
                </a:solidFill>
                <a:latin typeface="Calibri" pitchFamily="34" charset="0"/>
                <a:ea typeface="Calibri" pitchFamily="34" charset="-122"/>
                <a:cs typeface="Calibri" pitchFamily="34" charset="-120"/>
              </a:rPr>
              <a:t>Ask us anything —</a:t>
            </a:r>
            <a:endParaRPr lang="en-US" sz="1400" dirty="0"/>
          </a:p>
          <a:p>
            <a:pPr algn="ctr" indent="0" marL="0">
              <a:buNone/>
            </a:pPr>
            <a:r>
              <a:rPr lang="en-US" sz="1400" dirty="0">
                <a:solidFill>
                  <a:srgbClr val="CADCFC"/>
                </a:solidFill>
                <a:latin typeface="Calibri" pitchFamily="34" charset="0"/>
                <a:ea typeface="Calibri" pitchFamily="34" charset="-122"/>
                <a:cs typeface="Calibri" pitchFamily="34" charset="-120"/>
              </a:rPr>
              <a:t>cloud, careers, or code.</a:t>
            </a:r>
            <a:endParaRPr lang="en-US" sz="1400" dirty="0"/>
          </a:p>
        </p:txBody>
      </p:sp>
      <p:sp>
        <p:nvSpPr>
          <p:cNvPr id="11" name="Text 9"/>
          <p:cNvSpPr/>
          <p:nvPr/>
        </p:nvSpPr>
        <p:spPr>
          <a:xfrm>
            <a:off x="822960" y="5943600"/>
            <a:ext cx="10515600" cy="457200"/>
          </a:xfrm>
          <a:prstGeom prst="rect">
            <a:avLst/>
          </a:prstGeom>
          <a:noFill/>
          <a:ln/>
        </p:spPr>
        <p:txBody>
          <a:bodyPr wrap="square" lIns="0" tIns="0" rIns="0" bIns="0" rtlCol="0" anchor="ctr"/>
          <a:lstStyle/>
          <a:p>
            <a:pPr indent="0" marL="0">
              <a:buNone/>
            </a:pPr>
            <a:r>
              <a:rPr lang="en-US" sz="1600" i="1" dirty="0">
                <a:solidFill>
                  <a:srgbClr val="14B8A6"/>
                </a:solidFill>
                <a:latin typeface="Calibri" pitchFamily="34" charset="0"/>
                <a:ea typeface="Calibri" pitchFamily="34" charset="-122"/>
                <a:cs typeface="Calibri" pitchFamily="34" charset="-120"/>
              </a:rPr>
              <a:t>From user to creator — you've now seen the whole loop. Go run it.</a:t>
            </a:r>
            <a:endParaRPr lang="en-US" sz="1600" dirty="0"/>
          </a:p>
        </p:txBody>
      </p:sp>
      <p:sp>
        <p:nvSpPr>
          <p:cNvPr id="13" name="Text 10"/>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CADCFC"/>
                </a:solidFill>
                <a:latin typeface="Calibri" pitchFamily="34" charset="0"/>
                <a:ea typeface="Calibri" pitchFamily="34" charset="-122"/>
                <a:cs typeface="Calibri" pitchFamily="34" charset="-120"/>
              </a:rPr>
              <a:t>From User to Creator  •  Cloud Webinar</a:t>
            </a:r>
            <a:endParaRPr lang="en-US" sz="900" dirty="0"/>
          </a:p>
        </p:txBody>
      </p:sp>
      <p:sp>
        <p:nvSpPr>
          <p:cNvPr id="14" name="Text 11"/>
          <p:cNvSpPr/>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CADCFC"/>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F3C"/>
        </a:solidFill>
      </p:bgPr>
    </p:bg>
    <p:spTree>
      <p:nvGrpSpPr>
        <p:cNvPr id="1" name=""/>
        <p:cNvGrpSpPr/>
        <p:nvPr/>
      </p:nvGrpSpPr>
      <p:grpSpPr>
        <a:xfrm>
          <a:off x="0" y="0"/>
          <a:ext cx="0" cy="0"/>
          <a:chOff x="0" y="0"/>
          <a:chExt cx="0" cy="0"/>
        </a:xfrm>
      </p:grpSpPr>
      <p:sp>
        <p:nvSpPr>
          <p:cNvPr id="2" name="Shape 0"/>
          <p:cNvSpPr/>
          <p:nvPr/>
        </p:nvSpPr>
        <p:spPr>
          <a:xfrm>
            <a:off x="-1645920" y="-1645920"/>
            <a:ext cx="4937760" cy="4937760"/>
          </a:xfrm>
          <a:prstGeom prst="ellipse">
            <a:avLst/>
          </a:prstGeom>
          <a:solidFill>
            <a:srgbClr val="12284B"/>
          </a:solidFill>
          <a:ln/>
        </p:spPr>
      </p:sp>
      <p:sp>
        <p:nvSpPr>
          <p:cNvPr id="3" name="Text 1"/>
          <p:cNvSpPr/>
          <p:nvPr/>
        </p:nvSpPr>
        <p:spPr>
          <a:xfrm>
            <a:off x="822960" y="777240"/>
            <a:ext cx="10058400" cy="91440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Thank you</a:t>
            </a:r>
            <a:endParaRPr lang="en-US" sz="4400" dirty="0"/>
          </a:p>
        </p:txBody>
      </p:sp>
      <p:sp>
        <p:nvSpPr>
          <p:cNvPr id="4" name="Text 2"/>
          <p:cNvSpPr/>
          <p:nvPr/>
        </p:nvSpPr>
        <p:spPr>
          <a:xfrm>
            <a:off x="841248" y="1691640"/>
            <a:ext cx="10058400" cy="548640"/>
          </a:xfrm>
          <a:prstGeom prst="rect">
            <a:avLst/>
          </a:prstGeom>
          <a:noFill/>
          <a:ln/>
        </p:spPr>
        <p:txBody>
          <a:bodyPr wrap="square" lIns="0" tIns="0" rIns="0" bIns="0" rtlCol="0" anchor="ctr"/>
          <a:lstStyle/>
          <a:p>
            <a:pPr indent="0" marL="0">
              <a:buNone/>
            </a:pPr>
            <a:r>
              <a:rPr lang="en-US" sz="1800" dirty="0">
                <a:solidFill>
                  <a:srgbClr val="14B8A6"/>
                </a:solidFill>
                <a:latin typeface="Calibri" pitchFamily="34" charset="0"/>
                <a:ea typeface="Calibri" pitchFamily="34" charset="-122"/>
                <a:cs typeface="Calibri" pitchFamily="34" charset="-120"/>
              </a:rPr>
              <a:t>Now go build the thing only you noticed.</a:t>
            </a:r>
            <a:endParaRPr lang="en-US" sz="1800" dirty="0"/>
          </a:p>
        </p:txBody>
      </p:sp>
      <p:sp>
        <p:nvSpPr>
          <p:cNvPr id="5" name="Shape 3"/>
          <p:cNvSpPr/>
          <p:nvPr/>
        </p:nvSpPr>
        <p:spPr>
          <a:xfrm>
            <a:off x="822960" y="2560320"/>
            <a:ext cx="5257800" cy="3108960"/>
          </a:xfrm>
          <a:prstGeom prst="roundRect">
            <a:avLst>
              <a:gd name="adj" fmla="val 2647"/>
            </a:avLst>
          </a:prstGeom>
          <a:solidFill>
            <a:srgbClr val="0F2747"/>
          </a:solidFill>
          <a:ln/>
          <a:effectLst>
            <a:outerShdw sx="100000" sy="100000" kx="0" ky="0" algn="bl" rotWithShape="0" blurRad="114300" dist="38100" dir="5400000">
              <a:srgbClr val="0A1F3C">
                <a:alpha val="16000"/>
              </a:srgbClr>
            </a:outerShdw>
          </a:effectLst>
        </p:spPr>
      </p:sp>
      <p:sp>
        <p:nvSpPr>
          <p:cNvPr id="6" name="Text 4"/>
          <p:cNvSpPr/>
          <p:nvPr/>
        </p:nvSpPr>
        <p:spPr>
          <a:xfrm>
            <a:off x="1097280" y="2788920"/>
            <a:ext cx="4572000" cy="457200"/>
          </a:xfrm>
          <a:prstGeom prst="rect">
            <a:avLst/>
          </a:prstGeom>
          <a:noFill/>
          <a:ln/>
        </p:spPr>
        <p:txBody>
          <a:bodyPr wrap="square" lIns="0" tIns="0" rIns="0" bIns="0" rtlCol="0" anchor="ctr"/>
          <a:lstStyle/>
          <a:p>
            <a:pPr indent="0" marL="0">
              <a:buNone/>
            </a:pPr>
            <a:r>
              <a:rPr lang="en-US" sz="1900" b="1" dirty="0">
                <a:solidFill>
                  <a:srgbClr val="14B8A6"/>
                </a:solidFill>
                <a:latin typeface="Calibri" pitchFamily="34" charset="0"/>
                <a:ea typeface="Calibri" pitchFamily="34" charset="-122"/>
                <a:cs typeface="Calibri" pitchFamily="34" charset="-120"/>
              </a:rPr>
              <a:t>Resources</a:t>
            </a:r>
            <a:endParaRPr lang="en-US" sz="1900" dirty="0"/>
          </a:p>
        </p:txBody>
      </p:sp>
      <p:sp>
        <p:nvSpPr>
          <p:cNvPr id="7" name="Text 5"/>
          <p:cNvSpPr/>
          <p:nvPr/>
        </p:nvSpPr>
        <p:spPr>
          <a:xfrm>
            <a:off x="1143000" y="3291840"/>
            <a:ext cx="4754880" cy="2286000"/>
          </a:xfrm>
          <a:prstGeom prst="rect">
            <a:avLst/>
          </a:prstGeom>
          <a:noFill/>
          <a:ln/>
        </p:spPr>
        <p:txBody>
          <a:bodyPr wrap="square" lIns="0" tIns="0" rIns="0" bIns="0" rtlCol="0" anchor="ctr"/>
          <a:lstStyle/>
          <a:p>
            <a:pPr marL="342900" indent="-342900">
              <a:spcAft>
                <a:spcPts val="800"/>
              </a:spcAft>
              <a:buSzPct val="100000"/>
              <a:buChar char="•"/>
            </a:pPr>
            <a:r>
              <a:rPr lang="en-US" sz="1350" dirty="0">
                <a:solidFill>
                  <a:srgbClr val="CADCFC"/>
                </a:solidFill>
                <a:latin typeface="Calibri" pitchFamily="34" charset="0"/>
                <a:ea typeface="Calibri" pitchFamily="34" charset="-122"/>
                <a:cs typeface="Calibri" pitchFamily="34" charset="-120"/>
              </a:rPr>
              <a:t>github.com/Mide69/s3-guard  (the tool)</a:t>
            </a:r>
            <a:endParaRPr lang="en-US" sz="1350" dirty="0"/>
          </a:p>
          <a:p>
            <a:pPr marL="342900" indent="-342900">
              <a:spcAft>
                <a:spcPts val="800"/>
              </a:spcAft>
              <a:buSzPct val="100000"/>
              <a:buChar char="•"/>
            </a:pPr>
            <a:r>
              <a:rPr lang="en-US" sz="1350" dirty="0">
                <a:solidFill>
                  <a:srgbClr val="CADCFC"/>
                </a:solidFill>
                <a:latin typeface="Calibri" pitchFamily="34" charset="0"/>
                <a:ea typeface="Calibri" pitchFamily="34" charset="-122"/>
                <a:cs typeface="Calibri" pitchFamily="34" charset="-120"/>
              </a:rPr>
              <a:t>Demo runbook + tests in the repo</a:t>
            </a:r>
            <a:endParaRPr lang="en-US" sz="1350" dirty="0"/>
          </a:p>
          <a:p>
            <a:pPr marL="342900" indent="-342900">
              <a:spcAft>
                <a:spcPts val="800"/>
              </a:spcAft>
              <a:buSzPct val="100000"/>
              <a:buChar char="•"/>
            </a:pPr>
            <a:r>
              <a:rPr lang="en-US" sz="1350" dirty="0">
                <a:solidFill>
                  <a:srgbClr val="CADCFC"/>
                </a:solidFill>
                <a:latin typeface="Calibri" pitchFamily="34" charset="0"/>
                <a:ea typeface="Calibri" pitchFamily="34" charset="-122"/>
                <a:cs typeface="Calibri" pitchFamily="34" charset="-120"/>
              </a:rPr>
              <a:t>moto: github.com/getmoto/moto</a:t>
            </a:r>
            <a:endParaRPr lang="en-US" sz="1350" dirty="0"/>
          </a:p>
          <a:p>
            <a:pPr marL="342900" indent="-342900">
              <a:spcAft>
                <a:spcPts val="800"/>
              </a:spcAft>
              <a:buSzPct val="100000"/>
              <a:buChar char="•"/>
            </a:pPr>
            <a:r>
              <a:rPr lang="en-US" sz="1350" dirty="0">
                <a:solidFill>
                  <a:srgbClr val="CADCFC"/>
                </a:solidFill>
                <a:latin typeface="Calibri" pitchFamily="34" charset="0"/>
                <a:ea typeface="Calibri" pitchFamily="34" charset="-122"/>
                <a:cs typeface="Calibri" pitchFamily="34" charset="-120"/>
              </a:rPr>
              <a:t>LocalStack: localstack.cloud</a:t>
            </a:r>
            <a:endParaRPr lang="en-US" sz="1350" dirty="0"/>
          </a:p>
          <a:p>
            <a:pPr marL="342900" indent="-342900">
              <a:spcAft>
                <a:spcPts val="800"/>
              </a:spcAft>
              <a:buSzPct val="100000"/>
              <a:buChar char="•"/>
            </a:pPr>
            <a:r>
              <a:rPr lang="en-US" sz="1350" dirty="0">
                <a:solidFill>
                  <a:srgbClr val="CADCFC"/>
                </a:solidFill>
                <a:latin typeface="Calibri" pitchFamily="34" charset="0"/>
                <a:ea typeface="Calibri" pitchFamily="34" charset="-122"/>
                <a:cs typeface="Calibri" pitchFamily="34" charset="-120"/>
              </a:rPr>
              <a:t>boto3 · Typer · Rich docs</a:t>
            </a:r>
            <a:endParaRPr lang="en-US" sz="1350" dirty="0"/>
          </a:p>
        </p:txBody>
      </p:sp>
      <p:sp>
        <p:nvSpPr>
          <p:cNvPr id="8" name="Shape 6"/>
          <p:cNvSpPr/>
          <p:nvPr/>
        </p:nvSpPr>
        <p:spPr>
          <a:xfrm>
            <a:off x="6309360" y="2560320"/>
            <a:ext cx="5303520" cy="3108960"/>
          </a:xfrm>
          <a:prstGeom prst="roundRect">
            <a:avLst>
              <a:gd name="adj" fmla="val 2647"/>
            </a:avLst>
          </a:prstGeom>
          <a:solidFill>
            <a:srgbClr val="0F2747"/>
          </a:solidFill>
          <a:ln/>
          <a:effectLst>
            <a:outerShdw sx="100000" sy="100000" kx="0" ky="0" algn="bl" rotWithShape="0" blurRad="114300" dist="38100" dir="5400000">
              <a:srgbClr val="0A1F3C">
                <a:alpha val="16000"/>
              </a:srgbClr>
            </a:outerShdw>
          </a:effectLst>
        </p:spPr>
      </p:sp>
      <p:sp>
        <p:nvSpPr>
          <p:cNvPr id="9" name="Text 7"/>
          <p:cNvSpPr/>
          <p:nvPr/>
        </p:nvSpPr>
        <p:spPr>
          <a:xfrm>
            <a:off x="6583680" y="2788920"/>
            <a:ext cx="4572000" cy="457200"/>
          </a:xfrm>
          <a:prstGeom prst="rect">
            <a:avLst/>
          </a:prstGeom>
          <a:noFill/>
          <a:ln/>
        </p:spPr>
        <p:txBody>
          <a:bodyPr wrap="square" lIns="0" tIns="0" rIns="0" bIns="0" rtlCol="0" anchor="ctr"/>
          <a:lstStyle/>
          <a:p>
            <a:pPr indent="0" marL="0">
              <a:buNone/>
            </a:pPr>
            <a:r>
              <a:rPr lang="en-US" sz="1900" b="1" dirty="0">
                <a:solidFill>
                  <a:srgbClr val="14B8A6"/>
                </a:solidFill>
                <a:latin typeface="Calibri" pitchFamily="34" charset="0"/>
                <a:ea typeface="Calibri" pitchFamily="34" charset="-122"/>
                <a:cs typeface="Calibri" pitchFamily="34" charset="-120"/>
              </a:rPr>
              <a:t>Connect with us</a:t>
            </a:r>
            <a:endParaRPr lang="en-US" sz="1900" dirty="0"/>
          </a:p>
        </p:txBody>
      </p:sp>
      <p:sp>
        <p:nvSpPr>
          <p:cNvPr id="10" name="Text 8"/>
          <p:cNvSpPr/>
          <p:nvPr/>
        </p:nvSpPr>
        <p:spPr>
          <a:xfrm>
            <a:off x="6629400" y="3291840"/>
            <a:ext cx="4846320" cy="2286000"/>
          </a:xfrm>
          <a:prstGeom prst="rect">
            <a:avLst/>
          </a:prstGeom>
          <a:noFill/>
          <a:ln/>
        </p:spPr>
        <p:txBody>
          <a:bodyPr wrap="square" lIns="0" tIns="0" rIns="0" bIns="0" rtlCol="0" anchor="ctr"/>
          <a:lstStyle/>
          <a:p>
            <a:pPr indent="0" marL="0">
              <a:lnSpc>
                <a:spcPct val="115000"/>
              </a:lnSpc>
              <a:buNone/>
            </a:pPr>
            <a:r>
              <a:rPr lang="en-US" sz="1500" b="1" dirty="0">
                <a:solidFill>
                  <a:srgbClr val="FFFFFF"/>
                </a:solidFill>
                <a:latin typeface="Calibri" pitchFamily="34" charset="0"/>
                <a:ea typeface="Calibri" pitchFamily="34" charset="-122"/>
                <a:cs typeface="Calibri" pitchFamily="34" charset="-120"/>
              </a:rPr>
              <a:t>Olamide Kosile</a:t>
            </a:r>
            <a:endParaRPr lang="en-US" sz="1500" dirty="0"/>
          </a:p>
          <a:p>
            <a:pPr indent="0" marL="0">
              <a:lnSpc>
                <a:spcPct val="115000"/>
              </a:lnSpc>
              <a:buNone/>
            </a:pPr>
            <a:r>
              <a:rPr lang="en-US" sz="1250" dirty="0">
                <a:solidFill>
                  <a:srgbClr val="CADCFC"/>
                </a:solidFill>
                <a:latin typeface="Calibri" pitchFamily="34" charset="0"/>
                <a:ea typeface="Calibri" pitchFamily="34" charset="-122"/>
                <a:cs typeface="Calibri" pitchFamily="34" charset="-120"/>
              </a:rPr>
              <a:t>linkedin.com/in/olamide-kosile-2b488baa</a:t>
            </a:r>
            <a:endParaRPr lang="en-US" sz="1500" dirty="0"/>
          </a:p>
          <a:p>
            <a:pPr indent="0" marL="0">
              <a:lnSpc>
                <a:spcPct val="115000"/>
              </a:lnSpc>
              <a:buNone/>
            </a:pPr>
            <a:r>
              <a:rPr lang="en-US" sz="1150" dirty="0">
                <a:solidFill>
                  <a:srgbClr val="64748B"/>
                </a:solidFill>
                <a:latin typeface="Calibri" pitchFamily="34" charset="0"/>
                <a:ea typeface="Calibri" pitchFamily="34" charset="-122"/>
                <a:cs typeface="Calibri" pitchFamily="34" charset="-120"/>
              </a:rPr>
              <a:t>Lead Speaker · Technical Session Lead</a:t>
            </a:r>
            <a:endParaRPr lang="en-US" sz="1500" dirty="0"/>
          </a:p>
          <a:p>
            <a:pPr indent="0" marL="0">
              <a:lnSpc>
                <a:spcPct val="115000"/>
              </a:lnSpc>
              <a:buNone/>
            </a:pPr>
            <a:r>
              <a:rPr lang="en-US" sz="800" dirty="0">
                <a:solidFill>
                  <a:srgbClr val="000000"/>
                </a:solidFill>
                <a:latin typeface="Calibri" pitchFamily="34" charset="0"/>
                <a:ea typeface="Calibri" pitchFamily="34" charset="-122"/>
                <a:cs typeface="Calibri" pitchFamily="34" charset="-120"/>
              </a:rPr>
              <a:t> </a:t>
            </a:r>
            <a:endParaRPr lang="en-US" sz="1500" dirty="0"/>
          </a:p>
          <a:p>
            <a:pPr indent="0" marL="0">
              <a:lnSpc>
                <a:spcPct val="115000"/>
              </a:lnSpc>
              <a:buNone/>
            </a:pPr>
            <a:r>
              <a:rPr lang="en-US" sz="1500" b="1" dirty="0">
                <a:solidFill>
                  <a:srgbClr val="FFFFFF"/>
                </a:solidFill>
                <a:latin typeface="Calibri" pitchFamily="34" charset="0"/>
                <a:ea typeface="Calibri" pitchFamily="34" charset="-122"/>
                <a:cs typeface="Calibri" pitchFamily="34" charset="-120"/>
              </a:rPr>
              <a:t>Delightsome Asolo</a:t>
            </a:r>
            <a:endParaRPr lang="en-US" sz="1500" dirty="0"/>
          </a:p>
          <a:p>
            <a:pPr indent="0" marL="0">
              <a:lnSpc>
                <a:spcPct val="115000"/>
              </a:lnSpc>
              <a:buNone/>
            </a:pPr>
            <a:r>
              <a:rPr lang="en-US" sz="1250" dirty="0">
                <a:solidFill>
                  <a:srgbClr val="CADCFC"/>
                </a:solidFill>
                <a:latin typeface="Calibri" pitchFamily="34" charset="0"/>
                <a:ea typeface="Calibri" pitchFamily="34" charset="-122"/>
                <a:cs typeface="Calibri" pitchFamily="34" charset="-120"/>
              </a:rPr>
              <a:t>Host · Moderator · Community &amp; Partnerships</a:t>
            </a:r>
            <a:endParaRPr lang="en-US" sz="1500" dirty="0"/>
          </a:p>
        </p:txBody>
      </p:sp>
      <p:sp>
        <p:nvSpPr>
          <p:cNvPr id="12" name="Text 9"/>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CADCFC"/>
                </a:solidFill>
                <a:latin typeface="Calibri" pitchFamily="34" charset="0"/>
                <a:ea typeface="Calibri" pitchFamily="34" charset="-122"/>
                <a:cs typeface="Calibri" pitchFamily="34" charset="-120"/>
              </a:rPr>
              <a:t>From User to Creator  •  Cloud Webinar</a:t>
            </a:r>
            <a:endParaRPr lang="en-US" sz="900" dirty="0"/>
          </a:p>
        </p:txBody>
      </p:sp>
      <p:sp>
        <p:nvSpPr>
          <p:cNvPr id="13" name="Text 10"/>
          <p:cNvSpPr/>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CADCFC"/>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User to Creator: Open-Source Tools That Matter in the Cloud</dc:title>
  <dc:subject>PptxGenJS Presentation</dc:subject>
  <dc:creator>Olamide Kosile &amp; Delightsome Asolo</dc:creator>
  <cp:lastModifiedBy>Olamide Kosile &amp; Delightsome Asolo</cp:lastModifiedBy>
  <cp:revision>1</cp:revision>
  <dcterms:created xsi:type="dcterms:W3CDTF">2026-06-23T10:07:51Z</dcterms:created>
  <dcterms:modified xsi:type="dcterms:W3CDTF">2026-06-23T10:07:51Z</dcterms:modified>
</cp:coreProperties>
</file>